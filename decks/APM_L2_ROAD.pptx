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536" r:id="rId2"/>
    <p:sldId id="537" r:id="rId3"/>
    <p:sldId id="547" r:id="rId4"/>
    <p:sldId id="548" r:id="rId5"/>
    <p:sldId id="488" r:id="rId6"/>
    <p:sldId id="561" r:id="rId7"/>
    <p:sldId id="539" r:id="rId8"/>
    <p:sldId id="551" r:id="rId9"/>
    <p:sldId id="552" r:id="rId10"/>
    <p:sldId id="553" r:id="rId11"/>
    <p:sldId id="554" r:id="rId12"/>
    <p:sldId id="555" r:id="rId13"/>
    <p:sldId id="558" r:id="rId14"/>
    <p:sldId id="556" r:id="rId15"/>
    <p:sldId id="562" r:id="rId16"/>
    <p:sldId id="543" r:id="rId17"/>
    <p:sldId id="544" r:id="rId18"/>
    <p:sldId id="546" r:id="rId1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1531" rtl="0" fontAlgn="auto" latinLnBrk="0" hangingPunct="0">
      <a:lnSpc>
        <a:spcPct val="100000"/>
      </a:lnSpc>
      <a:spcBef>
        <a:spcPts val="3300"/>
      </a:spcBef>
      <a:spcAft>
        <a:spcPts val="0"/>
      </a:spcAft>
      <a:buClrTx/>
      <a:buSzTx/>
      <a:buFontTx/>
      <a:buNone/>
      <a:tabLst/>
      <a:defRPr kumimoji="0" sz="28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1pPr>
    <a:lvl2pPr marL="0" marR="0" indent="0" algn="l" defTabSz="821531" rtl="0" fontAlgn="auto" latinLnBrk="0" hangingPunct="0">
      <a:lnSpc>
        <a:spcPct val="100000"/>
      </a:lnSpc>
      <a:spcBef>
        <a:spcPts val="3300"/>
      </a:spcBef>
      <a:spcAft>
        <a:spcPts val="0"/>
      </a:spcAft>
      <a:buClrTx/>
      <a:buSzTx/>
      <a:buFontTx/>
      <a:buNone/>
      <a:tabLst/>
      <a:defRPr kumimoji="0" sz="28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2pPr>
    <a:lvl3pPr marL="0" marR="0" indent="0" algn="l" defTabSz="821531" rtl="0" fontAlgn="auto" latinLnBrk="0" hangingPunct="0">
      <a:lnSpc>
        <a:spcPct val="100000"/>
      </a:lnSpc>
      <a:spcBef>
        <a:spcPts val="3300"/>
      </a:spcBef>
      <a:spcAft>
        <a:spcPts val="0"/>
      </a:spcAft>
      <a:buClrTx/>
      <a:buSzTx/>
      <a:buFontTx/>
      <a:buNone/>
      <a:tabLst/>
      <a:defRPr kumimoji="0" sz="28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3pPr>
    <a:lvl4pPr marL="0" marR="0" indent="0" algn="l" defTabSz="821531" rtl="0" fontAlgn="auto" latinLnBrk="0" hangingPunct="0">
      <a:lnSpc>
        <a:spcPct val="100000"/>
      </a:lnSpc>
      <a:spcBef>
        <a:spcPts val="3300"/>
      </a:spcBef>
      <a:spcAft>
        <a:spcPts val="0"/>
      </a:spcAft>
      <a:buClrTx/>
      <a:buSzTx/>
      <a:buFontTx/>
      <a:buNone/>
      <a:tabLst/>
      <a:defRPr kumimoji="0" sz="28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4pPr>
    <a:lvl5pPr marL="0" marR="0" indent="0" algn="l" defTabSz="821531" rtl="0" fontAlgn="auto" latinLnBrk="0" hangingPunct="0">
      <a:lnSpc>
        <a:spcPct val="100000"/>
      </a:lnSpc>
      <a:spcBef>
        <a:spcPts val="3300"/>
      </a:spcBef>
      <a:spcAft>
        <a:spcPts val="0"/>
      </a:spcAft>
      <a:buClrTx/>
      <a:buSzTx/>
      <a:buFontTx/>
      <a:buNone/>
      <a:tabLst/>
      <a:defRPr kumimoji="0" sz="28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5pPr>
    <a:lvl6pPr marL="0" marR="0" indent="0" algn="l" defTabSz="821531" rtl="0" fontAlgn="auto" latinLnBrk="0" hangingPunct="0">
      <a:lnSpc>
        <a:spcPct val="100000"/>
      </a:lnSpc>
      <a:spcBef>
        <a:spcPts val="3300"/>
      </a:spcBef>
      <a:spcAft>
        <a:spcPts val="0"/>
      </a:spcAft>
      <a:buClrTx/>
      <a:buSzTx/>
      <a:buFontTx/>
      <a:buNone/>
      <a:tabLst/>
      <a:defRPr kumimoji="0" sz="28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6pPr>
    <a:lvl7pPr marL="0" marR="0" indent="0" algn="l" defTabSz="821531" rtl="0" fontAlgn="auto" latinLnBrk="0" hangingPunct="0">
      <a:lnSpc>
        <a:spcPct val="100000"/>
      </a:lnSpc>
      <a:spcBef>
        <a:spcPts val="3300"/>
      </a:spcBef>
      <a:spcAft>
        <a:spcPts val="0"/>
      </a:spcAft>
      <a:buClrTx/>
      <a:buSzTx/>
      <a:buFontTx/>
      <a:buNone/>
      <a:tabLst/>
      <a:defRPr kumimoji="0" sz="28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7pPr>
    <a:lvl8pPr marL="0" marR="0" indent="0" algn="l" defTabSz="821531" rtl="0" fontAlgn="auto" latinLnBrk="0" hangingPunct="0">
      <a:lnSpc>
        <a:spcPct val="100000"/>
      </a:lnSpc>
      <a:spcBef>
        <a:spcPts val="3300"/>
      </a:spcBef>
      <a:spcAft>
        <a:spcPts val="0"/>
      </a:spcAft>
      <a:buClrTx/>
      <a:buSzTx/>
      <a:buFontTx/>
      <a:buNone/>
      <a:tabLst/>
      <a:defRPr kumimoji="0" sz="28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8pPr>
    <a:lvl9pPr marL="0" marR="0" indent="0" algn="l" defTabSz="821531" rtl="0" fontAlgn="auto" latinLnBrk="0" hangingPunct="0">
      <a:lnSpc>
        <a:spcPct val="100000"/>
      </a:lnSpc>
      <a:spcBef>
        <a:spcPts val="3300"/>
      </a:spcBef>
      <a:spcAft>
        <a:spcPts val="0"/>
      </a:spcAft>
      <a:buClrTx/>
      <a:buSzTx/>
      <a:buFontTx/>
      <a:buNone/>
      <a:tabLst/>
      <a:defRPr kumimoji="0" sz="28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9pPr>
  </p:defaultTextStyle>
  <p:extLst>
    <p:ext uri="{521415D9-36F7-43E2-AB2F-B90AF26B5E84}">
      <p14:sectionLst xmlns:p14="http://schemas.microsoft.com/office/powerpoint/2010/main">
        <p14:section name="Default Section" id="{4E33FC35-C932-0C4D-9B74-93D4362866B1}">
          <p14:sldIdLst>
            <p14:sldId id="536"/>
            <p14:sldId id="537"/>
            <p14:sldId id="547"/>
            <p14:sldId id="548"/>
            <p14:sldId id="488"/>
            <p14:sldId id="561"/>
            <p14:sldId id="539"/>
            <p14:sldId id="551"/>
            <p14:sldId id="552"/>
            <p14:sldId id="553"/>
            <p14:sldId id="554"/>
            <p14:sldId id="555"/>
            <p14:sldId id="558"/>
            <p14:sldId id="556"/>
            <p14:sldId id="562"/>
            <p14:sldId id="543"/>
            <p14:sldId id="544"/>
            <p14:sldId id="54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5A1FC7-F1F3-F3C6-D3D3-A018C1D81A42}" name="Matthew Hamilton Peroni" initials="MP" userId="S::mhp63@cornell.edu::ddba1bbb-f282-467a-a912-1b29d21b3132" providerId="AD"/>
  <p188:author id="{8548ACF8-1F30-BC51-DA98-441281C37DC0}" name="Vasiliki Stoumpou" initials="" userId="S::vasstou@mit.edu::4559e275-1434-42b7-a120-2f7c15ab609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7F7F7"/>
    <a:srgbClr val="48AAAF"/>
    <a:srgbClr val="C52060"/>
    <a:srgbClr val="838787"/>
    <a:srgbClr val="21173D"/>
    <a:srgbClr val="4144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venir Next Medium"/>
          <a:ea typeface="Avenir Next Medium"/>
          <a:cs typeface="Avenir Next Medium"/>
        </a:font>
        <a:schemeClr val="accent1"/>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chemeClr val="accent1">
              <a:hueOff val="178262"/>
              <a:satOff val="-8651"/>
              <a:lumOff val="-7254"/>
              <a:alpha val="29000"/>
            </a:scheme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88900" cap="flat">
              <a:solidFill>
                <a:srgbClr val="5F6568"/>
              </a:solidFill>
              <a:prstDash val="solid"/>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12700" cap="flat">
              <a:noFill/>
              <a:miter lim="400000"/>
            </a:ln>
          </a:top>
          <a:bottom>
            <a:ln w="889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Row>
  </a:tblStyle>
  <a:tblStyle styleId="{C7B018BB-80A7-4F77-B60F-C8B233D01FF8}"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6">
              <a:alpha val="25000"/>
            </a:schemeClr>
          </a:solidFill>
        </a:fill>
      </a:tcStyle>
    </a:band2H>
    <a:firstCol>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A01D73"/>
          </a:solid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81873"/>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81873"/>
          </a:solidFill>
        </a:fill>
      </a:tcStyle>
    </a:firstRow>
  </a:tblStyle>
  <a:tblStyle styleId="{EEE7283C-3CF3-47DC-8721-378D4A62B228}"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rgbClr val="DCDEE0">
              <a:alpha val="18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solidFill>
            <a:srgbClr val="838787"/>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solidFill>
            <a:schemeClr val="accent5">
              <a:hueOff val="-239254"/>
              <a:lumOff val="-1399"/>
            </a:schemeClr>
          </a:solidFill>
        </a:fill>
      </a:tcStyle>
    </a:firstRow>
  </a:tblStyle>
  <a:tblStyle styleId="{CF821DB8-F4EB-4A41-A1BA-3FCAFE7338EE}"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rgbClr val="D4EB9B">
              <a:alpha val="26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114300" cap="flat">
              <a:solidFill>
                <a:srgbClr val="5F6568"/>
              </a:solidFill>
              <a:prstDash val="solid"/>
              <a:miter lim="400000"/>
            </a:ln>
          </a:top>
          <a:bottom>
            <a:ln w="12700" cap="flat">
              <a:noFill/>
              <a:miter lim="400000"/>
            </a:ln>
          </a:bottom>
          <a:insideH>
            <a:ln w="25400" cap="flat">
              <a:solidFill>
                <a:srgbClr val="D4EB9B">
                  <a:alpha val="26000"/>
                </a:srgbClr>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88900" cap="flat">
              <a:solidFill>
                <a:srgbClr val="5F6568"/>
              </a:solidFill>
              <a:prstDash val="solid"/>
              <a:miter lim="400000"/>
            </a:ln>
          </a:bottom>
          <a:insideH>
            <a:ln w="25400" cap="flat">
              <a:solidFill>
                <a:srgbClr val="D4EB9B">
                  <a:alpha val="26000"/>
                </a:srgbClr>
              </a:solidFill>
              <a:prstDash val="solid"/>
              <a:miter lim="400000"/>
            </a:ln>
          </a:insideH>
          <a:insideV>
            <a:ln w="12700" cap="flat">
              <a:noFill/>
              <a:miter lim="400000"/>
            </a:ln>
          </a:insideV>
        </a:tcBdr>
        <a:fill>
          <a:solidFill>
            <a:srgbClr val="147882"/>
          </a:solidFill>
        </a:fill>
      </a:tcStyle>
    </a:firstRow>
  </a:tblStyle>
  <a:tblStyle styleId="{33BA23B1-9221-436E-865A-0063620EA4FD}" styleName="">
    <a:tblBg/>
    <a:wholeTbl>
      <a:tcTxStyle b="off" i="off">
        <a:font>
          <a:latin typeface="Avenir Next Medium"/>
          <a:ea typeface="Avenir Next Medium"/>
          <a:cs typeface="Avenir Next Medium"/>
        </a:font>
        <a:srgbClr val="FFFFFF"/>
      </a:tcTxStyle>
      <a:tcStyle>
        <a:tcBdr>
          <a:left>
            <a:ln w="12700" cap="flat">
              <a:noFill/>
              <a:miter lim="400000"/>
            </a:ln>
          </a:left>
          <a:right>
            <a:ln w="12700" cap="flat">
              <a:noFill/>
              <a:miter lim="400000"/>
            </a:ln>
          </a:right>
          <a:top>
            <a:ln w="25400" cap="flat">
              <a:solidFill>
                <a:srgbClr val="222222"/>
              </a:solidFill>
              <a:prstDash val="solid"/>
              <a:miter lim="400000"/>
            </a:ln>
          </a:top>
          <a:bottom>
            <a:ln w="254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838787">
              <a:alpha val="75000"/>
            </a:srgbClr>
          </a:solidFill>
        </a:fill>
      </a:tcStyle>
    </a:wholeTbl>
    <a:band2H>
      <a:tcTxStyle/>
      <a:tcStyle>
        <a:tcBdr/>
        <a:fill>
          <a:solidFill>
            <a:srgbClr val="686A6A">
              <a:alpha val="85000"/>
            </a:srgbClr>
          </a:solidFill>
        </a:fill>
      </a:tcStyle>
    </a:band2H>
    <a:firstCol>
      <a:tcTxStyle b="on" i="off">
        <a:font>
          <a:latin typeface="Avenir Next Demi Bold"/>
          <a:ea typeface="Avenir Next Demi Bold"/>
          <a:cs typeface="Avenir Next Demi Bold"/>
        </a:font>
        <a:srgbClr val="222222"/>
      </a:tcTxStyle>
      <a:tcStyle>
        <a:tcBdr>
          <a:left>
            <a:ln w="12700" cap="flat">
              <a:noFill/>
              <a:miter lim="400000"/>
            </a:ln>
          </a:left>
          <a:right>
            <a:ln w="88900" cap="flat">
              <a:solidFill>
                <a:srgbClr val="222222"/>
              </a:solidFill>
              <a:prstDash val="solid"/>
              <a:miter lim="400000"/>
            </a:ln>
          </a:right>
          <a:top>
            <a:ln w="25400" cap="flat">
              <a:solidFill>
                <a:srgbClr val="222222"/>
              </a:solidFill>
              <a:prstDash val="solid"/>
              <a:miter lim="400000"/>
            </a:ln>
          </a:top>
          <a:bottom>
            <a:ln w="254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686A6A">
              <a:alpha val="85000"/>
            </a:srgbClr>
          </a:solidFill>
        </a:fill>
      </a:tcStyle>
    </a:firstCol>
    <a:lastRow>
      <a:tcTxStyle b="on" i="off">
        <a:font>
          <a:latin typeface="Avenir Next Demi Bold"/>
          <a:ea typeface="Avenir Next Demi Bold"/>
          <a:cs typeface="Avenir Next Demi Bold"/>
        </a:font>
        <a:srgbClr val="3D3D3D"/>
      </a:tcTxStyle>
      <a:tcStyle>
        <a:tcBdr>
          <a:left>
            <a:ln w="12700" cap="flat">
              <a:noFill/>
              <a:miter lim="400000"/>
            </a:ln>
          </a:left>
          <a:right>
            <a:ln w="12700" cap="flat">
              <a:noFill/>
              <a:miter lim="400000"/>
            </a:ln>
          </a:right>
          <a:top>
            <a:ln w="88900" cap="flat">
              <a:solidFill>
                <a:srgbClr val="222222"/>
              </a:solidFill>
              <a:prstDash val="solid"/>
              <a:miter lim="400000"/>
            </a:ln>
          </a:top>
          <a:bottom>
            <a:ln w="12700" cap="flat">
              <a:noFill/>
              <a:miter lim="400000"/>
            </a:ln>
          </a:bottom>
          <a:insideH>
            <a:ln w="25400" cap="flat">
              <a:solidFill>
                <a:srgbClr val="222222"/>
              </a:solidFill>
              <a:prstDash val="solid"/>
              <a:miter lim="400000"/>
            </a:ln>
          </a:insideH>
          <a:insideV>
            <a:ln w="12700" cap="flat">
              <a:noFill/>
              <a:miter lim="400000"/>
            </a:ln>
          </a:insideV>
        </a:tcBdr>
        <a:fill>
          <a:solidFill>
            <a:srgbClr val="838787"/>
          </a:solidFill>
        </a:fill>
      </a:tcStyle>
    </a:lastRow>
    <a:firstRow>
      <a:tcTxStyle b="on" i="off">
        <a:font>
          <a:latin typeface="Avenir Next Demi Bold"/>
          <a:ea typeface="Avenir Next Demi Bold"/>
          <a:cs typeface="Avenir Next Demi Bold"/>
        </a:font>
        <a:srgbClr val="3D3D3D"/>
      </a:tcTxStyle>
      <a:tcStyle>
        <a:tcBdr>
          <a:left>
            <a:ln w="12700" cap="flat">
              <a:noFill/>
              <a:miter lim="400000"/>
            </a:ln>
          </a:left>
          <a:right>
            <a:ln w="12700" cap="flat">
              <a:noFill/>
              <a:miter lim="400000"/>
            </a:ln>
          </a:right>
          <a:top>
            <a:ln w="12700" cap="flat">
              <a:noFill/>
              <a:miter lim="400000"/>
            </a:ln>
          </a:top>
          <a:bottom>
            <a:ln w="889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838787"/>
          </a:solidFill>
        </a:fill>
      </a:tcStyle>
    </a:firstRow>
  </a:tblStyle>
  <a:tblStyle styleId="{2708684C-4D16-4618-839F-0558EEFCDFE6}" styleName="">
    <a:tblBg/>
    <a:wholeTbl>
      <a:tcTxStyle b="off" i="off">
        <a:font>
          <a:latin typeface="Avenir Next Medium"/>
          <a:ea typeface="Avenir Next Medium"/>
          <a:cs typeface="Avenir Next Medium"/>
        </a:font>
        <a:srgbClr val="838787"/>
      </a:tcTxStyle>
      <a:tcStyle>
        <a:tcBdr>
          <a:left>
            <a:ln w="25400" cap="flat">
              <a:solidFill>
                <a:srgbClr val="5F6568"/>
              </a:solidFill>
              <a:prstDash val="solid"/>
              <a:miter lim="400000"/>
            </a:ln>
          </a:left>
          <a:right>
            <a:ln w="25400" cap="flat">
              <a:solidFill>
                <a:srgbClr val="5F6568"/>
              </a:solidFill>
              <a:prstDash val="solid"/>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wholeTbl>
    <a:band2H>
      <a:tcTxStyle/>
      <a:tcStyle>
        <a:tcBdr/>
        <a:fill>
          <a:solidFill>
            <a:srgbClr val="DCDEE0">
              <a:alpha val="18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88900" cap="flat">
              <a:solidFill>
                <a:srgbClr val="5F6568"/>
              </a:solidFill>
              <a:prstDash val="solid"/>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88900" cap="flat">
              <a:solidFill>
                <a:srgbClr val="5F6568"/>
              </a:solidFill>
              <a:prstDash val="solid"/>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A6AAA9"/>
      </a:tcTxStyle>
      <a:tcStyle>
        <a:tcBdr>
          <a:left>
            <a:ln w="25400" cap="flat">
              <a:solidFill>
                <a:srgbClr val="5F6568"/>
              </a:solidFill>
              <a:prstDash val="solid"/>
              <a:miter lim="400000"/>
            </a:ln>
          </a:left>
          <a:right>
            <a:ln w="25400" cap="flat">
              <a:solidFill>
                <a:srgbClr val="5F6568"/>
              </a:solidFill>
              <a:prstDash val="solid"/>
              <a:miter lim="400000"/>
            </a:ln>
          </a:right>
          <a:top>
            <a:ln w="12700" cap="flat">
              <a:noFill/>
              <a:miter lim="400000"/>
            </a:ln>
          </a:top>
          <a:bottom>
            <a:ln w="889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307"/>
    <p:restoredTop sz="96255"/>
  </p:normalViewPr>
  <p:slideViewPr>
    <p:cSldViewPr snapToGrid="0">
      <p:cViewPr>
        <p:scale>
          <a:sx n="60" d="100"/>
          <a:sy n="60" d="100"/>
        </p:scale>
        <p:origin x="168" y="328"/>
      </p:cViewPr>
      <p:guideLst/>
    </p:cSldViewPr>
  </p:slideViewPr>
  <p:notesTextViewPr>
    <p:cViewPr>
      <p:scale>
        <a:sx n="125" d="100"/>
        <a:sy n="125"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Shape 34"/>
          <p:cNvSpPr>
            <a:spLocks noGrp="1" noRot="1" noChangeAspect="1"/>
          </p:cNvSpPr>
          <p:nvPr>
            <p:ph type="sldImg"/>
          </p:nvPr>
        </p:nvSpPr>
        <p:spPr>
          <a:xfrm>
            <a:off x="1143000" y="685800"/>
            <a:ext cx="4572000" cy="3429000"/>
          </a:xfrm>
          <a:prstGeom prst="rect">
            <a:avLst/>
          </a:prstGeom>
        </p:spPr>
        <p:txBody>
          <a:bodyPr/>
          <a:lstStyle/>
          <a:p>
            <a:endParaRPr/>
          </a:p>
        </p:txBody>
      </p:sp>
      <p:sp>
        <p:nvSpPr>
          <p:cNvPr id="35" name="Shape 3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a:defRPr>
    </a:lvl1pPr>
    <a:lvl2pPr indent="228600" defTabSz="457200" latinLnBrk="0">
      <a:lnSpc>
        <a:spcPct val="117999"/>
      </a:lnSpc>
      <a:defRPr sz="2200">
        <a:latin typeface="+mn-lt"/>
        <a:ea typeface="+mn-ea"/>
        <a:cs typeface="+mn-cs"/>
        <a:sym typeface="Helvetica"/>
      </a:defRPr>
    </a:lvl2pPr>
    <a:lvl3pPr indent="457200" defTabSz="457200" latinLnBrk="0">
      <a:lnSpc>
        <a:spcPct val="117999"/>
      </a:lnSpc>
      <a:defRPr sz="2200">
        <a:latin typeface="+mn-lt"/>
        <a:ea typeface="+mn-ea"/>
        <a:cs typeface="+mn-cs"/>
        <a:sym typeface="Helvetica"/>
      </a:defRPr>
    </a:lvl3pPr>
    <a:lvl4pPr indent="685800" defTabSz="457200" latinLnBrk="0">
      <a:lnSpc>
        <a:spcPct val="117999"/>
      </a:lnSpc>
      <a:defRPr sz="2200">
        <a:latin typeface="+mn-lt"/>
        <a:ea typeface="+mn-ea"/>
        <a:cs typeface="+mn-cs"/>
        <a:sym typeface="Helvetica"/>
      </a:defRPr>
    </a:lvl4pPr>
    <a:lvl5pPr indent="914400" defTabSz="457200" latinLnBrk="0">
      <a:lnSpc>
        <a:spcPct val="117999"/>
      </a:lnSpc>
      <a:defRPr sz="2200">
        <a:latin typeface="+mn-lt"/>
        <a:ea typeface="+mn-ea"/>
        <a:cs typeface="+mn-cs"/>
        <a:sym typeface="Helvetica"/>
      </a:defRPr>
    </a:lvl5pPr>
    <a:lvl6pPr indent="1143000" defTabSz="457200" latinLnBrk="0">
      <a:lnSpc>
        <a:spcPct val="117999"/>
      </a:lnSpc>
      <a:defRPr sz="2200">
        <a:latin typeface="+mn-lt"/>
        <a:ea typeface="+mn-ea"/>
        <a:cs typeface="+mn-cs"/>
        <a:sym typeface="Helvetica"/>
      </a:defRPr>
    </a:lvl6pPr>
    <a:lvl7pPr indent="1371600" defTabSz="457200" latinLnBrk="0">
      <a:lnSpc>
        <a:spcPct val="117999"/>
      </a:lnSpc>
      <a:defRPr sz="2200">
        <a:latin typeface="+mn-lt"/>
        <a:ea typeface="+mn-ea"/>
        <a:cs typeface="+mn-cs"/>
        <a:sym typeface="Helvetica"/>
      </a:defRPr>
    </a:lvl7pPr>
    <a:lvl8pPr indent="1600200" defTabSz="457200" latinLnBrk="0">
      <a:lnSpc>
        <a:spcPct val="117999"/>
      </a:lnSpc>
      <a:defRPr sz="2200">
        <a:latin typeface="+mn-lt"/>
        <a:ea typeface="+mn-ea"/>
        <a:cs typeface="+mn-cs"/>
        <a:sym typeface="Helvetica"/>
      </a:defRPr>
    </a:lvl8pPr>
    <a:lvl9pPr indent="1828800" defTabSz="457200" latinLnBrk="0">
      <a:lnSpc>
        <a:spcPct val="117999"/>
      </a:lnSpc>
      <a:defRPr sz="2200">
        <a:latin typeface="+mn-lt"/>
        <a:ea typeface="+mn-ea"/>
        <a:cs typeface="+mn-cs"/>
        <a:sym typeface="Helvetica"/>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29631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3200" dirty="0"/>
              <a:t>If you were to ask a data scientists in the 1990s or early 2000s (or whatever they were called back then) about the models they could use, you would likely get a short list of well understood techniques – linear regression, decision trees, support vector machines. Ask that same question of data scientists today, and you would get a massive list of established and bespoke techniques – every possible variant of linear regression and additive models, decision trees, boosted trees, random forests, neural networks, large language models, and beyond! The field has evolved to the point where practitioners are often overwhelmed by the scale of modeling choices available to them freely, in open-source packages, which are ready to run in minutes. There are now many models available that satisfy the requirements for almost every niche topic and application. Among the trove of options, data scientists must select a model that best suits their needs, which often comes down to three key factors – performance, efficiency, and interpretability. In this lecture, we will focus on selecting the best model based on performance, but we will also discuss how the methods discussed here can help us weigh factors such as efficiency and interpretability.</a:t>
            </a:r>
          </a:p>
        </p:txBody>
      </p:sp>
    </p:spTree>
    <p:extLst>
      <p:ext uri="{BB962C8B-B14F-4D97-AF65-F5344CB8AC3E}">
        <p14:creationId xmlns:p14="http://schemas.microsoft.com/office/powerpoint/2010/main" val="3317774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amp; Subtitle Alt">
    <p:spTree>
      <p:nvGrpSpPr>
        <p:cNvPr id="1" name=""/>
        <p:cNvGrpSpPr/>
        <p:nvPr/>
      </p:nvGrpSpPr>
      <p:grpSpPr>
        <a:xfrm>
          <a:off x="0" y="0"/>
          <a:ext cx="0" cy="0"/>
          <a:chOff x="0" y="0"/>
          <a:chExt cx="0" cy="0"/>
        </a:xfrm>
      </p:grpSpPr>
      <p:sp>
        <p:nvSpPr>
          <p:cNvPr id="15" name="Rectangle"/>
          <p:cNvSpPr/>
          <p:nvPr/>
        </p:nvSpPr>
        <p:spPr>
          <a:xfrm>
            <a:off x="3583432" y="92491"/>
            <a:ext cx="18282570" cy="1978057"/>
          </a:xfrm>
          <a:prstGeom prst="rect">
            <a:avLst/>
          </a:prstGeom>
          <a:solidFill>
            <a:srgbClr val="D6D6D6">
              <a:alpha val="3929"/>
            </a:srgbClr>
          </a:solidFill>
          <a:ln w="12700">
            <a:miter lim="400000"/>
          </a:ln>
        </p:spPr>
        <p:txBody>
          <a:bodyPr lIns="71437" tIns="71437" rIns="71437" bIns="71437" anchor="ctr"/>
          <a:lstStyle/>
          <a:p>
            <a:pPr algn="ctr">
              <a:lnSpc>
                <a:spcPct val="80000"/>
              </a:lnSpc>
              <a:spcBef>
                <a:spcPts val="0"/>
              </a:spcBef>
              <a:defRPr sz="3800" cap="all">
                <a:solidFill>
                  <a:srgbClr val="FFFFFF"/>
                </a:solidFill>
                <a:latin typeface="DIN Condensed Bold"/>
                <a:ea typeface="DIN Condensed Bold"/>
                <a:cs typeface="DIN Condensed Bold"/>
                <a:sym typeface="DIN Condensed Bold"/>
              </a:defRPr>
            </a:pPr>
            <a:endParaRPr/>
          </a:p>
        </p:txBody>
      </p:sp>
      <p:sp>
        <p:nvSpPr>
          <p:cNvPr id="16" name="Line"/>
          <p:cNvSpPr/>
          <p:nvPr/>
        </p:nvSpPr>
        <p:spPr>
          <a:xfrm flipV="1">
            <a:off x="2550836" y="11053690"/>
            <a:ext cx="6637598" cy="2"/>
          </a:xfrm>
          <a:prstGeom prst="line">
            <a:avLst/>
          </a:prstGeom>
          <a:ln w="38100">
            <a:solidFill>
              <a:srgbClr val="21163A"/>
            </a:solidFill>
            <a:miter lim="400000"/>
          </a:ln>
        </p:spPr>
        <p:txBody>
          <a:bodyPr lIns="71437" tIns="71437" rIns="71437" bIns="71437" anchor="ctr"/>
          <a:lstStyle/>
          <a:p>
            <a:pPr defTabSz="642937">
              <a:spcBef>
                <a:spcPts val="0"/>
              </a:spcBef>
              <a:defRPr sz="1600">
                <a:solidFill>
                  <a:srgbClr val="000000"/>
                </a:solidFill>
                <a:latin typeface="+mn-lt"/>
                <a:ea typeface="+mn-ea"/>
                <a:cs typeface="+mn-cs"/>
                <a:sym typeface="Helvetica"/>
              </a:defRPr>
            </a:pPr>
            <a:endParaRPr/>
          </a:p>
        </p:txBody>
      </p:sp>
      <p:sp>
        <p:nvSpPr>
          <p:cNvPr id="18" name="Slide Number"/>
          <p:cNvSpPr txBox="1">
            <a:spLocks noGrp="1"/>
          </p:cNvSpPr>
          <p:nvPr>
            <p:ph type="sldNum" sz="quarter" idx="2"/>
          </p:nvPr>
        </p:nvSpPr>
        <p:spPr>
          <a:xfrm>
            <a:off x="20082405" y="12948046"/>
            <a:ext cx="551111" cy="574676"/>
          </a:xfrm>
          <a:prstGeom prst="rect">
            <a:avLst/>
          </a:prstGeom>
        </p:spPr>
        <p:txBody>
          <a:bodyPr/>
          <a:lstStyle>
            <a:lvl1pPr>
              <a:defRPr sz="2800" b="0">
                <a:solidFill>
                  <a:srgbClr val="838787"/>
                </a:solidFill>
              </a:defRPr>
            </a:lvl1pPr>
          </a:lstStyle>
          <a:p>
            <a:fld id="{86CB4B4D-7CA3-9044-876B-883B54F8677D}" type="slidenum">
              <a:t>‹#›</a:t>
            </a:fld>
            <a:endParaRPr/>
          </a:p>
        </p:txBody>
      </p:sp>
      <p:pic>
        <p:nvPicPr>
          <p:cNvPr id="2" name="Picture 4">
            <a:extLst>
              <a:ext uri="{FF2B5EF4-FFF2-40B4-BE49-F238E27FC236}">
                <a16:creationId xmlns:a16="http://schemas.microsoft.com/office/drawing/2014/main" id="{33621823-D6EB-4063-C193-E8CC082BBD4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89396" y="1707606"/>
            <a:ext cx="1588071" cy="8213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mp; Bullets Alt">
    <p:spTree>
      <p:nvGrpSpPr>
        <p:cNvPr id="1" name=""/>
        <p:cNvGrpSpPr/>
        <p:nvPr/>
      </p:nvGrpSpPr>
      <p:grpSpPr>
        <a:xfrm>
          <a:off x="0" y="0"/>
          <a:ext cx="0" cy="0"/>
          <a:chOff x="0" y="0"/>
          <a:chExt cx="0" cy="0"/>
        </a:xfrm>
      </p:grpSpPr>
      <p:sp>
        <p:nvSpPr>
          <p:cNvPr id="25" name="Text"/>
          <p:cNvSpPr txBox="1">
            <a:spLocks noGrp="1"/>
          </p:cNvSpPr>
          <p:nvPr>
            <p:ph type="body" sz="quarter" idx="21"/>
          </p:nvPr>
        </p:nvSpPr>
        <p:spPr>
          <a:xfrm>
            <a:off x="1204727" y="559578"/>
            <a:ext cx="8539428" cy="688976"/>
          </a:xfrm>
          <a:prstGeom prst="rect">
            <a:avLst/>
          </a:prstGeom>
        </p:spPr>
        <p:txBody>
          <a:bodyPr anchor="b">
            <a:spAutoFit/>
          </a:bodyPr>
          <a:lstStyle>
            <a:lvl1pPr marL="0" indent="0" defTabSz="642937">
              <a:lnSpc>
                <a:spcPct val="80000"/>
              </a:lnSpc>
              <a:spcBef>
                <a:spcPts val="0"/>
              </a:spcBef>
              <a:buClrTx/>
              <a:buSzTx/>
              <a:buFontTx/>
              <a:buNone/>
              <a:defRPr sz="3600" b="1" spc="0">
                <a:solidFill>
                  <a:srgbClr val="222222"/>
                </a:solidFill>
              </a:defRPr>
            </a:lvl1pPr>
          </a:lstStyle>
          <a:p>
            <a:r>
              <a:t>Text</a:t>
            </a:r>
          </a:p>
        </p:txBody>
      </p:sp>
      <p:sp>
        <p:nvSpPr>
          <p:cNvPr id="26" name="Title Text"/>
          <p:cNvSpPr txBox="1">
            <a:spLocks noGrp="1"/>
          </p:cNvSpPr>
          <p:nvPr>
            <p:ph type="title"/>
          </p:nvPr>
        </p:nvSpPr>
        <p:spPr>
          <a:xfrm>
            <a:off x="1171654" y="2121311"/>
            <a:ext cx="17145001" cy="1017985"/>
          </a:xfrm>
          <a:prstGeom prst="rect">
            <a:avLst/>
          </a:prstGeom>
        </p:spPr>
        <p:txBody>
          <a:bodyPr/>
          <a:lstStyle/>
          <a:p>
            <a:r>
              <a:t>Title Text</a:t>
            </a:r>
          </a:p>
        </p:txBody>
      </p:sp>
      <p:sp>
        <p:nvSpPr>
          <p:cNvPr id="27" name="Body Level One…"/>
          <p:cNvSpPr txBox="1">
            <a:spLocks noGrp="1"/>
          </p:cNvSpPr>
          <p:nvPr>
            <p:ph type="body" idx="1" hasCustomPrompt="1"/>
          </p:nvPr>
        </p:nvSpPr>
        <p:spPr>
          <a:xfrm>
            <a:off x="1171654" y="3739091"/>
            <a:ext cx="17145001" cy="8590360"/>
          </a:xfrm>
          <a:prstGeom prst="rect">
            <a:avLst/>
          </a:prstGeom>
        </p:spPr>
        <p:txBody>
          <a:bodyPr/>
          <a:lstStyle>
            <a:lvl1pPr>
              <a:buClr>
                <a:schemeClr val="bg1"/>
              </a:buClr>
              <a:buSzPct val="101000"/>
              <a:defRPr/>
            </a:lvl1pPr>
            <a:lvl2pPr marL="862852" indent="-418352">
              <a:buClr>
                <a:schemeClr val="bg1"/>
              </a:buClr>
              <a:buSzPct val="101000"/>
              <a:buFont typeface="Arial" panose="020B0604020202020204" pitchFamily="34" charset="0"/>
              <a:buChar char="•"/>
              <a:defRPr b="0"/>
            </a:lvl2pPr>
            <a:lvl3pPr marL="889000" indent="0">
              <a:buNone/>
              <a:defRPr/>
            </a:lvl3pPr>
            <a:lvl4pPr marL="1333500" indent="0">
              <a:buNone/>
              <a:defRPr/>
            </a:lvl4pPr>
          </a:lstStyle>
          <a:p>
            <a:r>
              <a:rPr dirty="0"/>
              <a:t>Body Level One</a:t>
            </a:r>
            <a:endParaRPr lang="en-US" dirty="0"/>
          </a:p>
          <a:p>
            <a:pPr lvl="1"/>
            <a:r>
              <a:rPr lang="en-US" dirty="0"/>
              <a:t>Body Level Two</a:t>
            </a:r>
          </a:p>
        </p:txBody>
      </p:sp>
      <p:sp>
        <p:nvSpPr>
          <p:cNvPr id="28"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
        <p:nvSpPr>
          <p:cNvPr id="4" name="Rectangle 3">
            <a:extLst>
              <a:ext uri="{FF2B5EF4-FFF2-40B4-BE49-F238E27FC236}">
                <a16:creationId xmlns:a16="http://schemas.microsoft.com/office/drawing/2014/main" id="{638178A3-6ED2-114D-231A-C49324ED9703}"/>
              </a:ext>
            </a:extLst>
          </p:cNvPr>
          <p:cNvSpPr/>
          <p:nvPr userDrawn="1"/>
        </p:nvSpPr>
        <p:spPr>
          <a:xfrm>
            <a:off x="20482560" y="12844259"/>
            <a:ext cx="2743200" cy="600076"/>
          </a:xfrm>
          <a:prstGeom prst="rect">
            <a:avLst/>
          </a:prstGeom>
          <a:solidFill>
            <a:srgbClr val="F7F7F7"/>
          </a:solidFill>
          <a:ln w="12700" cap="flat">
            <a:solidFill>
              <a:srgbClr val="F7F7F7"/>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dirty="0">
              <a:ln>
                <a:noFill/>
              </a:ln>
              <a:solidFill>
                <a:srgbClr val="FFFFFF"/>
              </a:solidFill>
              <a:effectLst/>
              <a:uFillTx/>
              <a:latin typeface="DIN Condensed Bold"/>
              <a:ea typeface="DIN Condensed Bold"/>
              <a:cs typeface="DIN Condensed Bold"/>
              <a:sym typeface="DIN Condensed Bold"/>
            </a:endParaRPr>
          </a:p>
        </p:txBody>
      </p:sp>
    </p:spTree>
    <p:extLst>
      <p:ext uri="{BB962C8B-B14F-4D97-AF65-F5344CB8AC3E}">
        <p14:creationId xmlns:p14="http://schemas.microsoft.com/office/powerpoint/2010/main" val="2194833993"/>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Line"/>
          <p:cNvSpPr/>
          <p:nvPr/>
        </p:nvSpPr>
        <p:spPr>
          <a:xfrm flipV="1">
            <a:off x="1210952" y="1248588"/>
            <a:ext cx="22139896" cy="5"/>
          </a:xfrm>
          <a:prstGeom prst="line">
            <a:avLst/>
          </a:prstGeom>
          <a:ln w="12700">
            <a:solidFill>
              <a:srgbClr val="A6AAA9"/>
            </a:solidFill>
            <a:miter lim="400000"/>
          </a:ln>
        </p:spPr>
        <p:txBody>
          <a:bodyPr lIns="71437" tIns="71437" rIns="71437" bIns="71437" anchor="ctr"/>
          <a:lstStyle/>
          <a:p>
            <a:pPr defTabSz="642937">
              <a:spcBef>
                <a:spcPts val="0"/>
              </a:spcBef>
              <a:defRPr sz="1600">
                <a:solidFill>
                  <a:srgbClr val="000000"/>
                </a:solidFill>
                <a:latin typeface="+mn-lt"/>
                <a:ea typeface="+mn-ea"/>
                <a:cs typeface="+mn-cs"/>
                <a:sym typeface="Helvetica"/>
              </a:defRPr>
            </a:pPr>
            <a:endParaRPr/>
          </a:p>
        </p:txBody>
      </p:sp>
      <p:sp>
        <p:nvSpPr>
          <p:cNvPr id="3" name="Title Text"/>
          <p:cNvSpPr txBox="1">
            <a:spLocks noGrp="1"/>
          </p:cNvSpPr>
          <p:nvPr>
            <p:ph type="title"/>
          </p:nvPr>
        </p:nvSpPr>
        <p:spPr>
          <a:xfrm>
            <a:off x="1807633" y="2121311"/>
            <a:ext cx="17145001" cy="10179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ormAutofit/>
          </a:bodyPr>
          <a:lstStyle/>
          <a:p>
            <a:r>
              <a:t>Title Text</a:t>
            </a:r>
          </a:p>
        </p:txBody>
      </p:sp>
      <p:sp>
        <p:nvSpPr>
          <p:cNvPr id="4" name="Body Level One…"/>
          <p:cNvSpPr txBox="1">
            <a:spLocks noGrp="1"/>
          </p:cNvSpPr>
          <p:nvPr>
            <p:ph type="body" idx="1"/>
          </p:nvPr>
        </p:nvSpPr>
        <p:spPr>
          <a:xfrm>
            <a:off x="1807633" y="3739091"/>
            <a:ext cx="17145001" cy="85903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ormAutofit/>
          </a:bodyPr>
          <a:lstStyle>
            <a:lvl2pPr marL="862852" indent="-418352">
              <a:buClr>
                <a:srgbClr val="21173D"/>
              </a:buClr>
              <a:buSzPct val="120000"/>
              <a:buChar char="-"/>
              <a:defRPr b="1"/>
            </a:lvl2pPr>
            <a:lvl3pPr marL="1307352" indent="-418352"/>
            <a:lvl4pPr marL="1751852" indent="-418352"/>
            <a:lvl5pPr marL="2196352" indent="-418352"/>
          </a:lstStyle>
          <a:p>
            <a:r>
              <a:rPr lang="en-US" dirty="0"/>
              <a:t>Body Level One</a:t>
            </a:r>
          </a:p>
          <a:p>
            <a:pPr lvl="2"/>
            <a:r>
              <a:rPr lang="en-US" dirty="0"/>
              <a:t>Body Level Three</a:t>
            </a:r>
          </a:p>
        </p:txBody>
      </p:sp>
      <p:sp>
        <p:nvSpPr>
          <p:cNvPr id="5" name="Slide Number"/>
          <p:cNvSpPr txBox="1">
            <a:spLocks noGrp="1"/>
          </p:cNvSpPr>
          <p:nvPr>
            <p:ph type="sldNum" sz="quarter" idx="2"/>
          </p:nvPr>
        </p:nvSpPr>
        <p:spPr>
          <a:xfrm>
            <a:off x="23472111" y="12844259"/>
            <a:ext cx="579364" cy="600076"/>
          </a:xfrm>
          <a:prstGeom prst="rect">
            <a:avLst/>
          </a:prstGeom>
          <a:ln w="12700">
            <a:miter lim="400000"/>
          </a:ln>
        </p:spPr>
        <p:txBody>
          <a:bodyPr wrap="none" lIns="71437" tIns="71437" rIns="71437" bIns="71437">
            <a:spAutoFit/>
          </a:bodyPr>
          <a:lstStyle>
            <a:lvl1pPr algn="r">
              <a:lnSpc>
                <a:spcPct val="80000"/>
              </a:lnSpc>
              <a:spcBef>
                <a:spcPts val="0"/>
              </a:spcBef>
              <a:defRPr sz="3000" b="1">
                <a:solidFill>
                  <a:srgbClr val="ED2D59"/>
                </a:solidFill>
                <a:latin typeface="+mn-lt"/>
                <a:ea typeface="+mn-ea"/>
                <a:cs typeface="+mn-cs"/>
                <a:sym typeface="Helvetica"/>
              </a:defRPr>
            </a:lvl1pPr>
          </a:lstStyle>
          <a:p>
            <a:fld id="{86CB4B4D-7CA3-9044-876B-883B54F8677D}" type="slidenum">
              <a:t>‹#›</a:t>
            </a:fld>
            <a:endParaRPr/>
          </a:p>
        </p:txBody>
      </p:sp>
      <p:sp>
        <p:nvSpPr>
          <p:cNvPr id="8" name="Line"/>
          <p:cNvSpPr/>
          <p:nvPr/>
        </p:nvSpPr>
        <p:spPr>
          <a:xfrm flipV="1">
            <a:off x="23412791" y="12947446"/>
            <a:ext cx="1" cy="482601"/>
          </a:xfrm>
          <a:prstGeom prst="line">
            <a:avLst/>
          </a:prstGeom>
          <a:ln w="38100">
            <a:solidFill>
              <a:srgbClr val="ED2D59"/>
            </a:solidFill>
            <a:miter lim="400000"/>
          </a:ln>
        </p:spPr>
        <p:txBody>
          <a:bodyPr lIns="71437" tIns="71437" rIns="71437" bIns="71437" anchor="ctr"/>
          <a:lstStyle/>
          <a:p>
            <a:pPr algn="ctr">
              <a:lnSpc>
                <a:spcPct val="80000"/>
              </a:lnSpc>
              <a:spcBef>
                <a:spcPts val="0"/>
              </a:spcBef>
              <a:defRPr sz="3800" cap="all">
                <a:latin typeface="DIN Condensed Bold"/>
                <a:ea typeface="DIN Condensed Bold"/>
                <a:cs typeface="DIN Condensed Bold"/>
                <a:sym typeface="DIN Condensed Bold"/>
              </a:defRPr>
            </a:pPr>
            <a:endParaRPr/>
          </a:p>
        </p:txBody>
      </p:sp>
      <p:pic>
        <p:nvPicPr>
          <p:cNvPr id="7172" name="Picture 4">
            <a:extLst>
              <a:ext uri="{FF2B5EF4-FFF2-40B4-BE49-F238E27FC236}">
                <a16:creationId xmlns:a16="http://schemas.microsoft.com/office/drawing/2014/main" id="{2333D7B1-E360-86FE-A042-9025EDF39186}"/>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1726505" y="289079"/>
            <a:ext cx="1588071" cy="821330"/>
          </a:xfrm>
          <a:prstGeom prst="rect">
            <a:avLst/>
          </a:prstGeom>
          <a:noFill/>
          <a:extLst>
            <a:ext uri="{909E8E84-426E-40DD-AFC4-6F175D3DCCD1}">
              <a14:hiddenFill xmlns:a14="http://schemas.microsoft.com/office/drawing/2010/main">
                <a:solidFill>
                  <a:srgbClr val="FFFFFF"/>
                </a:solidFill>
              </a14:hiddenFill>
            </a:ext>
          </a:extLst>
        </p:spPr>
      </p:pic>
    </p:spTree>
  </p:cSld>
  <p:clrMap bg1="dk1" tx1="lt1" bg2="dk2" tx2="lt2" accent1="accent1" accent2="accent2" accent3="accent3" accent4="accent4" accent5="accent5" accent6="accent6" hlink="hlink" folHlink="folHlink"/>
  <p:sldLayoutIdLst>
    <p:sldLayoutId id="2147483649" r:id="rId1"/>
    <p:sldLayoutId id="2147483661" r:id="rId2"/>
  </p:sldLayoutIdLst>
  <p:transition spd="med"/>
  <p:hf sldNum="0" hdr="0" ftr="0" dt="0"/>
  <p:txStyles>
    <p:titleStyle>
      <a:lvl1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1pPr>
      <a:lvl2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2pPr>
      <a:lvl3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3pPr>
      <a:lvl4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4pPr>
      <a:lvl5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5pPr>
      <a:lvl6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6pPr>
      <a:lvl7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7pPr>
      <a:lvl8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8pPr>
      <a:lvl9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9pPr>
    </p:titleStyle>
    <p:bodyStyle>
      <a:lvl1pPr marL="418352" marR="0" indent="-418352"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1pPr>
      <a:lvl2pPr marL="444500" marR="0" indent="0" algn="l" defTabSz="821531" rtl="0" latinLnBrk="0">
        <a:lnSpc>
          <a:spcPct val="120000"/>
        </a:lnSpc>
        <a:spcBef>
          <a:spcPts val="200"/>
        </a:spcBef>
        <a:spcAft>
          <a:spcPts val="0"/>
        </a:spcAft>
        <a:buClr>
          <a:srgbClr val="28CCFE"/>
        </a:buClr>
        <a:buSzPct val="104999"/>
        <a:buFont typeface="Avenir Next Regular"/>
        <a:buNone/>
        <a:tabLst/>
        <a:defRPr sz="3000" b="0" i="0" u="none" strike="noStrike" cap="none" spc="0" baseline="0">
          <a:solidFill>
            <a:srgbClr val="21173D"/>
          </a:solidFill>
          <a:uFillTx/>
          <a:latin typeface="+mn-lt"/>
          <a:ea typeface="+mn-ea"/>
          <a:cs typeface="+mn-cs"/>
          <a:sym typeface="Helvetica"/>
        </a:defRPr>
      </a:lvl2pPr>
      <a:lvl3pPr marL="1281205" marR="0" indent="-392205"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3pPr>
      <a:lvl4pPr marL="1725705" marR="0" indent="-392205"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4pPr>
      <a:lvl5pPr marL="2170205" marR="0" indent="-392205"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5pPr>
      <a:lvl6pPr marL="2614705" marR="0" indent="-392205"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6pPr>
      <a:lvl7pPr marL="3059205" marR="0" indent="-392205"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7pPr>
      <a:lvl8pPr marL="3503705" marR="0" indent="-392205"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8pPr>
      <a:lvl9pPr marL="3948205" marR="0" indent="-392205"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9pPr>
    </p:bodyStyle>
    <p:otherStyle>
      <a:lvl1pPr marL="0" marR="0" indent="0" algn="r" defTabSz="821531" latinLnBrk="0">
        <a:lnSpc>
          <a:spcPct val="80000"/>
        </a:lnSpc>
        <a:spcBef>
          <a:spcPts val="0"/>
        </a:spcBef>
        <a:spcAft>
          <a:spcPts val="0"/>
        </a:spcAft>
        <a:buClrTx/>
        <a:buSzTx/>
        <a:buFontTx/>
        <a:buNone/>
        <a:tabLst/>
        <a:defRPr sz="3000" b="1" i="0" u="none" strike="noStrike" cap="none" spc="0" baseline="0">
          <a:solidFill>
            <a:schemeClr val="tx1"/>
          </a:solidFill>
          <a:uFillTx/>
          <a:latin typeface="+mn-lt"/>
          <a:ea typeface="+mn-ea"/>
          <a:cs typeface="+mn-cs"/>
          <a:sym typeface="Helvetica"/>
        </a:defRPr>
      </a:lvl1pPr>
      <a:lvl2pPr marL="0" marR="0" indent="228600" algn="r" defTabSz="821531" latinLnBrk="0">
        <a:lnSpc>
          <a:spcPct val="80000"/>
        </a:lnSpc>
        <a:spcBef>
          <a:spcPts val="0"/>
        </a:spcBef>
        <a:spcAft>
          <a:spcPts val="0"/>
        </a:spcAft>
        <a:buClrTx/>
        <a:buSzTx/>
        <a:buFontTx/>
        <a:buNone/>
        <a:tabLst/>
        <a:defRPr sz="3000" b="1" i="0" u="none" strike="noStrike" cap="none" spc="0" baseline="0">
          <a:solidFill>
            <a:schemeClr val="tx1"/>
          </a:solidFill>
          <a:uFillTx/>
          <a:latin typeface="+mn-lt"/>
          <a:ea typeface="+mn-ea"/>
          <a:cs typeface="+mn-cs"/>
          <a:sym typeface="Helvetica"/>
        </a:defRPr>
      </a:lvl2pPr>
      <a:lvl3pPr marL="0" marR="0" indent="457200" algn="r" defTabSz="821531" latinLnBrk="0">
        <a:lnSpc>
          <a:spcPct val="80000"/>
        </a:lnSpc>
        <a:spcBef>
          <a:spcPts val="0"/>
        </a:spcBef>
        <a:spcAft>
          <a:spcPts val="0"/>
        </a:spcAft>
        <a:buClrTx/>
        <a:buSzTx/>
        <a:buFontTx/>
        <a:buNone/>
        <a:tabLst/>
        <a:defRPr sz="3000" b="1" i="0" u="none" strike="noStrike" cap="none" spc="0" baseline="0">
          <a:solidFill>
            <a:schemeClr val="tx1"/>
          </a:solidFill>
          <a:uFillTx/>
          <a:latin typeface="+mn-lt"/>
          <a:ea typeface="+mn-ea"/>
          <a:cs typeface="+mn-cs"/>
          <a:sym typeface="Helvetica"/>
        </a:defRPr>
      </a:lvl3pPr>
      <a:lvl4pPr marL="0" marR="0" indent="685800" algn="r" defTabSz="821531" latinLnBrk="0">
        <a:lnSpc>
          <a:spcPct val="80000"/>
        </a:lnSpc>
        <a:spcBef>
          <a:spcPts val="0"/>
        </a:spcBef>
        <a:spcAft>
          <a:spcPts val="0"/>
        </a:spcAft>
        <a:buClrTx/>
        <a:buSzTx/>
        <a:buFontTx/>
        <a:buNone/>
        <a:tabLst/>
        <a:defRPr sz="3000" b="1" i="0" u="none" strike="noStrike" cap="none" spc="0" baseline="0">
          <a:solidFill>
            <a:schemeClr val="tx1"/>
          </a:solidFill>
          <a:uFillTx/>
          <a:latin typeface="+mn-lt"/>
          <a:ea typeface="+mn-ea"/>
          <a:cs typeface="+mn-cs"/>
          <a:sym typeface="Helvetica"/>
        </a:defRPr>
      </a:lvl4pPr>
      <a:lvl5pPr marL="0" marR="0" indent="914400" algn="r" defTabSz="821531" latinLnBrk="0">
        <a:lnSpc>
          <a:spcPct val="80000"/>
        </a:lnSpc>
        <a:spcBef>
          <a:spcPts val="0"/>
        </a:spcBef>
        <a:spcAft>
          <a:spcPts val="0"/>
        </a:spcAft>
        <a:buClrTx/>
        <a:buSzTx/>
        <a:buFontTx/>
        <a:buNone/>
        <a:tabLst/>
        <a:defRPr sz="3000" b="1" i="0" u="none" strike="noStrike" cap="none" spc="0" baseline="0">
          <a:solidFill>
            <a:schemeClr val="tx1"/>
          </a:solidFill>
          <a:uFillTx/>
          <a:latin typeface="+mn-lt"/>
          <a:ea typeface="+mn-ea"/>
          <a:cs typeface="+mn-cs"/>
          <a:sym typeface="Helvetica"/>
        </a:defRPr>
      </a:lvl5pPr>
      <a:lvl6pPr marL="0" marR="0" indent="1143000" algn="r" defTabSz="821531" latinLnBrk="0">
        <a:lnSpc>
          <a:spcPct val="80000"/>
        </a:lnSpc>
        <a:spcBef>
          <a:spcPts val="0"/>
        </a:spcBef>
        <a:spcAft>
          <a:spcPts val="0"/>
        </a:spcAft>
        <a:buClrTx/>
        <a:buSzTx/>
        <a:buFontTx/>
        <a:buNone/>
        <a:tabLst/>
        <a:defRPr sz="3000" b="1" i="0" u="none" strike="noStrike" cap="none" spc="0" baseline="0">
          <a:solidFill>
            <a:schemeClr val="tx1"/>
          </a:solidFill>
          <a:uFillTx/>
          <a:latin typeface="+mn-lt"/>
          <a:ea typeface="+mn-ea"/>
          <a:cs typeface="+mn-cs"/>
          <a:sym typeface="Helvetica"/>
        </a:defRPr>
      </a:lvl6pPr>
      <a:lvl7pPr marL="0" marR="0" indent="1371600" algn="r" defTabSz="821531" latinLnBrk="0">
        <a:lnSpc>
          <a:spcPct val="80000"/>
        </a:lnSpc>
        <a:spcBef>
          <a:spcPts val="0"/>
        </a:spcBef>
        <a:spcAft>
          <a:spcPts val="0"/>
        </a:spcAft>
        <a:buClrTx/>
        <a:buSzTx/>
        <a:buFontTx/>
        <a:buNone/>
        <a:tabLst/>
        <a:defRPr sz="3000" b="1" i="0" u="none" strike="noStrike" cap="none" spc="0" baseline="0">
          <a:solidFill>
            <a:schemeClr val="tx1"/>
          </a:solidFill>
          <a:uFillTx/>
          <a:latin typeface="+mn-lt"/>
          <a:ea typeface="+mn-ea"/>
          <a:cs typeface="+mn-cs"/>
          <a:sym typeface="Helvetica"/>
        </a:defRPr>
      </a:lvl7pPr>
      <a:lvl8pPr marL="0" marR="0" indent="1600200" algn="r" defTabSz="821531" latinLnBrk="0">
        <a:lnSpc>
          <a:spcPct val="80000"/>
        </a:lnSpc>
        <a:spcBef>
          <a:spcPts val="0"/>
        </a:spcBef>
        <a:spcAft>
          <a:spcPts val="0"/>
        </a:spcAft>
        <a:buClrTx/>
        <a:buSzTx/>
        <a:buFontTx/>
        <a:buNone/>
        <a:tabLst/>
        <a:defRPr sz="3000" b="1" i="0" u="none" strike="noStrike" cap="none" spc="0" baseline="0">
          <a:solidFill>
            <a:schemeClr val="tx1"/>
          </a:solidFill>
          <a:uFillTx/>
          <a:latin typeface="+mn-lt"/>
          <a:ea typeface="+mn-ea"/>
          <a:cs typeface="+mn-cs"/>
          <a:sym typeface="Helvetica"/>
        </a:defRPr>
      </a:lvl8pPr>
      <a:lvl9pPr marL="0" marR="0" indent="1828800" algn="r" defTabSz="821531" latinLnBrk="0">
        <a:lnSpc>
          <a:spcPct val="80000"/>
        </a:lnSpc>
        <a:spcBef>
          <a:spcPts val="0"/>
        </a:spcBef>
        <a:spcAft>
          <a:spcPts val="0"/>
        </a:spcAft>
        <a:buClrTx/>
        <a:buSzTx/>
        <a:buFontTx/>
        <a:buNone/>
        <a:tabLst/>
        <a:defRPr sz="3000" b="1" i="0" u="none" strike="noStrike" cap="none" spc="0" baseline="0">
          <a:solidFill>
            <a:schemeClr val="tx1"/>
          </a:solidFill>
          <a:uFillTx/>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3.png"/><Relationship Id="rId7"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web data, knowledge and AI"/>
          <p:cNvSpPr txBox="1"/>
          <p:nvPr/>
        </p:nvSpPr>
        <p:spPr>
          <a:xfrm>
            <a:off x="2318533" y="3529800"/>
            <a:ext cx="21521182" cy="45795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ormAutofit/>
          </a:bodyPr>
          <a:lstStyle>
            <a:lvl1pPr>
              <a:lnSpc>
                <a:spcPct val="90000"/>
              </a:lnSpc>
              <a:spcBef>
                <a:spcPts val="0"/>
              </a:spcBef>
              <a:defRPr sz="11000" b="1">
                <a:solidFill>
                  <a:srgbClr val="21163A"/>
                </a:solidFill>
                <a:latin typeface="+mn-lt"/>
                <a:ea typeface="+mn-ea"/>
                <a:cs typeface="+mn-cs"/>
                <a:sym typeface="Helvetica"/>
              </a:defRPr>
            </a:lvl1pPr>
          </a:lstStyle>
          <a:p>
            <a:pPr>
              <a:lnSpc>
                <a:spcPct val="90000"/>
              </a:lnSpc>
              <a:spcBef>
                <a:spcPts val="0"/>
              </a:spcBef>
            </a:pPr>
            <a:r>
              <a:rPr lang="en-US" sz="8800" dirty="0">
                <a:solidFill>
                  <a:srgbClr val="21163A"/>
                </a:solidFill>
              </a:rPr>
              <a:t>ROAD 3</a:t>
            </a:r>
          </a:p>
          <a:p>
            <a:pPr>
              <a:lnSpc>
                <a:spcPct val="90000"/>
              </a:lnSpc>
              <a:spcBef>
                <a:spcPts val="0"/>
              </a:spcBef>
            </a:pPr>
            <a:r>
              <a:rPr lang="en-US" sz="8800" dirty="0">
                <a:solidFill>
                  <a:srgbClr val="21163A"/>
                </a:solidFill>
              </a:rPr>
              <a:t>Mitigating </a:t>
            </a:r>
            <a:r>
              <a:rPr lang="en-US" sz="8800" dirty="0"/>
              <a:t>O</a:t>
            </a:r>
            <a:r>
              <a:rPr lang="en-US" sz="8800" dirty="0">
                <a:solidFill>
                  <a:srgbClr val="21163A"/>
                </a:solidFill>
              </a:rPr>
              <a:t>bserved and </a:t>
            </a:r>
            <a:r>
              <a:rPr lang="en-US" sz="8800" dirty="0"/>
              <a:t>U</a:t>
            </a:r>
            <a:r>
              <a:rPr lang="en-US" sz="8800" dirty="0">
                <a:solidFill>
                  <a:srgbClr val="21163A"/>
                </a:solidFill>
              </a:rPr>
              <a:t>nobser</a:t>
            </a:r>
            <a:r>
              <a:rPr lang="en-US" sz="8800" dirty="0"/>
              <a:t>ved Confounding in Observational Data</a:t>
            </a:r>
            <a:endParaRPr lang="en-US" sz="8800" dirty="0">
              <a:solidFill>
                <a:srgbClr val="21163A"/>
              </a:solidFill>
            </a:endParaRPr>
          </a:p>
        </p:txBody>
      </p:sp>
      <p:pic>
        <p:nvPicPr>
          <p:cNvPr id="3" name="Picture 2" descr="A pink oval with a black arrow&#10;&#10;Description automatically generated">
            <a:extLst>
              <a:ext uri="{FF2B5EF4-FFF2-40B4-BE49-F238E27FC236}">
                <a16:creationId xmlns:a16="http://schemas.microsoft.com/office/drawing/2014/main" id="{30846140-E3C3-B524-ACBC-8CD5FDD53F54}"/>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colorTemperature colorTemp="5900"/>
                    </a14:imgEffect>
                  </a14:imgLayer>
                </a14:imgProps>
              </a:ext>
              <a:ext uri="{28A0092B-C50C-407E-A947-70E740481C1C}">
                <a14:useLocalDpi xmlns:a14="http://schemas.microsoft.com/office/drawing/2010/main" val="0"/>
              </a:ext>
            </a:extLst>
          </a:blip>
          <a:stretch>
            <a:fillRect/>
          </a:stretch>
        </p:blipFill>
        <p:spPr>
          <a:xfrm>
            <a:off x="20518603" y="9602987"/>
            <a:ext cx="3069342" cy="2923038"/>
          </a:xfrm>
          <a:prstGeom prst="rect">
            <a:avLst/>
          </a:prstGeom>
        </p:spPr>
      </p:pic>
      <p:sp>
        <p:nvSpPr>
          <p:cNvPr id="4" name="Text Placeholder 3">
            <a:extLst>
              <a:ext uri="{FF2B5EF4-FFF2-40B4-BE49-F238E27FC236}">
                <a16:creationId xmlns:a16="http://schemas.microsoft.com/office/drawing/2014/main" id="{5BB047E0-0770-6219-5197-A812863D0F53}"/>
              </a:ext>
            </a:extLst>
          </p:cNvPr>
          <p:cNvSpPr txBox="1">
            <a:spLocks/>
          </p:cNvSpPr>
          <p:nvPr/>
        </p:nvSpPr>
        <p:spPr>
          <a:xfrm>
            <a:off x="2465223" y="8917674"/>
            <a:ext cx="17548324" cy="1268526"/>
          </a:xfrm>
          <a:prstGeom prst="rect">
            <a:avLst/>
          </a:prstGeom>
        </p:spPr>
        <p:txBody>
          <a:bodyPr/>
          <a:lstStyle>
            <a:lvl1pPr marL="418352" marR="0" indent="-418352"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1pPr>
            <a:lvl2pPr marL="836705" marR="0" indent="-392205"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2pPr>
            <a:lvl3pPr marL="1281205" marR="0" indent="-392205"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3pPr>
            <a:lvl4pPr marL="1725705" marR="0" indent="-392205"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4pPr>
            <a:lvl5pPr marL="2170205" marR="0" indent="-392205"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5pPr>
            <a:lvl6pPr marL="2614705" marR="0" indent="-392205"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6pPr>
            <a:lvl7pPr marL="3059205" marR="0" indent="-392205"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7pPr>
            <a:lvl8pPr marL="3503705" marR="0" indent="-392205"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8pPr>
            <a:lvl9pPr marL="3948205" marR="0" indent="-392205" algn="l" defTabSz="821531" rtl="0" latinLnBrk="0">
              <a:lnSpc>
                <a:spcPct val="120000"/>
              </a:lnSpc>
              <a:spcBef>
                <a:spcPts val="200"/>
              </a:spcBef>
              <a:spcAft>
                <a:spcPts val="0"/>
              </a:spcAft>
              <a:buClr>
                <a:srgbClr val="28CCFE"/>
              </a:buClr>
              <a:buSzPct val="104999"/>
              <a:buFont typeface="Avenir Next Regular"/>
              <a:buChar char="▸"/>
              <a:tabLst/>
              <a:defRPr sz="3000" b="0" i="0" u="none" strike="noStrike" cap="none" spc="0" baseline="0">
                <a:solidFill>
                  <a:srgbClr val="21173D"/>
                </a:solidFill>
                <a:uFillTx/>
                <a:latin typeface="+mn-lt"/>
                <a:ea typeface="+mn-ea"/>
                <a:cs typeface="+mn-cs"/>
                <a:sym typeface="Helvetica"/>
              </a:defRPr>
            </a:lvl9pPr>
          </a:lstStyle>
          <a:p>
            <a:pPr marL="0" indent="0" hangingPunct="1">
              <a:buNone/>
            </a:pPr>
            <a:r>
              <a:rPr lang="en-US" sz="5000" dirty="0">
                <a:solidFill>
                  <a:srgbClr val="21163A"/>
                </a:solidFill>
              </a:rPr>
              <a:t>Dimitris Bertsimas, Georgios Antonios </a:t>
            </a:r>
            <a:r>
              <a:rPr lang="en-US" sz="5000" dirty="0" err="1">
                <a:solidFill>
                  <a:srgbClr val="21163A"/>
                </a:solidFill>
              </a:rPr>
              <a:t>Margonis</a:t>
            </a:r>
            <a:r>
              <a:rPr lang="en-US" sz="5000" dirty="0">
                <a:solidFill>
                  <a:srgbClr val="21163A"/>
                </a:solidFill>
              </a:rPr>
              <a:t>, </a:t>
            </a:r>
          </a:p>
          <a:p>
            <a:pPr marL="0" indent="0" hangingPunct="1">
              <a:buNone/>
            </a:pPr>
            <a:r>
              <a:rPr lang="en-US" sz="5000" dirty="0">
                <a:solidFill>
                  <a:srgbClr val="21163A"/>
                </a:solidFill>
              </a:rPr>
              <a:t>Vasiliki Stoumpou</a:t>
            </a:r>
          </a:p>
        </p:txBody>
      </p:sp>
      <p:sp>
        <p:nvSpPr>
          <p:cNvPr id="2" name="TextBox 1">
            <a:extLst>
              <a:ext uri="{FF2B5EF4-FFF2-40B4-BE49-F238E27FC236}">
                <a16:creationId xmlns:a16="http://schemas.microsoft.com/office/drawing/2014/main" id="{409001E3-C52E-3B29-47F3-42E8C6DB6B6C}"/>
              </a:ext>
            </a:extLst>
          </p:cNvPr>
          <p:cNvSpPr txBox="1"/>
          <p:nvPr/>
        </p:nvSpPr>
        <p:spPr>
          <a:xfrm>
            <a:off x="16341213" y="7110994"/>
            <a:ext cx="144334" cy="9983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l" defTabSz="821531" rtl="0" fontAlgn="auto" latinLnBrk="0" hangingPunct="0">
              <a:lnSpc>
                <a:spcPct val="100000"/>
              </a:lnSpc>
              <a:spcBef>
                <a:spcPts val="3300"/>
              </a:spcBef>
              <a:spcAft>
                <a:spcPts val="0"/>
              </a:spcAft>
              <a:buClrTx/>
              <a:buSzTx/>
              <a:buFontTx/>
              <a:buNone/>
              <a:tabLst/>
            </a:pPr>
            <a:endParaRPr kumimoji="0" lang="en-US" sz="2800" b="0" i="0" u="none" strike="noStrike" cap="none" spc="0" normalizeH="0" baseline="0" dirty="0">
              <a:ln>
                <a:noFill/>
              </a:ln>
              <a:solidFill>
                <a:srgbClr val="838787"/>
              </a:solidFill>
              <a:effectLst/>
              <a:uFillTx/>
              <a:latin typeface="Avenir Next Medium"/>
              <a:ea typeface="Avenir Next Medium"/>
              <a:cs typeface="Avenir Next Medium"/>
              <a:sym typeface="Avenir Next Medium"/>
            </a:endParaRPr>
          </a:p>
        </p:txBody>
      </p:sp>
      <p:sp>
        <p:nvSpPr>
          <p:cNvPr id="8" name="TextBox 7">
            <a:extLst>
              <a:ext uri="{FF2B5EF4-FFF2-40B4-BE49-F238E27FC236}">
                <a16:creationId xmlns:a16="http://schemas.microsoft.com/office/drawing/2014/main" id="{B0EB438F-C57E-158B-BD2D-680B08C9FE14}"/>
              </a:ext>
            </a:extLst>
          </p:cNvPr>
          <p:cNvSpPr txBox="1"/>
          <p:nvPr/>
        </p:nvSpPr>
        <p:spPr>
          <a:xfrm>
            <a:off x="6096000" y="6596390"/>
            <a:ext cx="12192000"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effectLst/>
              </a:rPr>
              <a:t> </a:t>
            </a:r>
            <a:endParaRPr lang="en-US" dirty="0"/>
          </a:p>
        </p:txBody>
      </p:sp>
      <p:sp>
        <p:nvSpPr>
          <p:cNvPr id="10" name="TextBox 9">
            <a:extLst>
              <a:ext uri="{FF2B5EF4-FFF2-40B4-BE49-F238E27FC236}">
                <a16:creationId xmlns:a16="http://schemas.microsoft.com/office/drawing/2014/main" id="{DB055327-A724-BBD6-9006-ED0B16162723}"/>
              </a:ext>
            </a:extLst>
          </p:cNvPr>
          <p:cNvSpPr txBox="1"/>
          <p:nvPr/>
        </p:nvSpPr>
        <p:spPr>
          <a:xfrm>
            <a:off x="6096000" y="6596390"/>
            <a:ext cx="12192000"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effectLst/>
              </a:rPr>
              <a:t> </a:t>
            </a:r>
            <a:endParaRPr lang="en-US" dirty="0"/>
          </a:p>
        </p:txBody>
      </p:sp>
    </p:spTree>
    <p:extLst>
      <p:ext uri="{BB962C8B-B14F-4D97-AF65-F5344CB8AC3E}">
        <p14:creationId xmlns:p14="http://schemas.microsoft.com/office/powerpoint/2010/main" val="2059143061"/>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036C8D-6793-26B7-20F2-31DB688201CE}"/>
              </a:ext>
            </a:extLst>
          </p:cNvPr>
          <p:cNvSpPr>
            <a:spLocks noGrp="1"/>
          </p:cNvSpPr>
          <p:nvPr>
            <p:ph type="title"/>
          </p:nvPr>
        </p:nvSpPr>
        <p:spPr>
          <a:xfrm>
            <a:off x="1204727" y="1779036"/>
            <a:ext cx="17145001" cy="1017985"/>
          </a:xfrm>
        </p:spPr>
        <p:txBody>
          <a:bodyPr>
            <a:normAutofit fontScale="90000"/>
          </a:bodyPr>
          <a:lstStyle/>
          <a:p>
            <a:r>
              <a:rPr lang="en-US" sz="5400" dirty="0">
                <a:solidFill>
                  <a:srgbClr val="C00000"/>
                </a:solidFill>
              </a:rPr>
              <a:t>Motivation</a:t>
            </a:r>
          </a:p>
        </p:txBody>
      </p:sp>
      <p:sp>
        <p:nvSpPr>
          <p:cNvPr id="5" name="Rounded Rectangle 4">
            <a:extLst>
              <a:ext uri="{FF2B5EF4-FFF2-40B4-BE49-F238E27FC236}">
                <a16:creationId xmlns:a16="http://schemas.microsoft.com/office/drawing/2014/main" id="{ED4AD7CF-86A9-B692-8C4A-21970C109207}"/>
              </a:ext>
            </a:extLst>
          </p:cNvPr>
          <p:cNvSpPr/>
          <p:nvPr/>
        </p:nvSpPr>
        <p:spPr>
          <a:xfrm>
            <a:off x="1204727" y="3139296"/>
            <a:ext cx="7474226" cy="1194794"/>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kumimoji="0" lang="en-US" sz="3800" b="0" i="0" u="none" strike="noStrike" spc="0" normalizeH="0" baseline="0" dirty="0">
                <a:ln>
                  <a:noFill/>
                </a:ln>
                <a:solidFill>
                  <a:srgbClr val="FFFFFF"/>
                </a:solidFill>
                <a:effectLst/>
                <a:uFillTx/>
                <a:latin typeface="+mn-lt"/>
                <a:ea typeface="DIN Condensed Bold"/>
                <a:cs typeface="DIN Condensed Bold"/>
                <a:sym typeface="DIN Condensed Bold"/>
              </a:rPr>
              <a:t>GIST</a:t>
            </a:r>
          </a:p>
          <a:p>
            <a:pPr marL="0" marR="0" indent="0" algn="ctr" defTabSz="821531" rtl="0" fontAlgn="auto" latinLnBrk="0" hangingPunct="0">
              <a:lnSpc>
                <a:spcPct val="80000"/>
              </a:lnSpc>
              <a:spcBef>
                <a:spcPts val="0"/>
              </a:spcBef>
              <a:spcAft>
                <a:spcPts val="0"/>
              </a:spcAft>
              <a:buClrTx/>
              <a:buSzTx/>
              <a:buFontTx/>
              <a:buNone/>
              <a:tabLst/>
            </a:pPr>
            <a:r>
              <a:rPr lang="en-US" sz="3800" dirty="0">
                <a:solidFill>
                  <a:srgbClr val="FFFFFF"/>
                </a:solidFill>
                <a:latin typeface="+mn-lt"/>
                <a:ea typeface="DIN Condensed Bold"/>
                <a:cs typeface="DIN Condensed Bold"/>
                <a:sym typeface="DIN Condensed Bold"/>
              </a:rPr>
              <a:t>Gastrointestinal Stromal Tumor</a:t>
            </a:r>
            <a:endParaRPr kumimoji="0" lang="en-US" sz="3800" b="0" i="0" u="none" strike="noStrike" spc="0" normalizeH="0" baseline="0" dirty="0">
              <a:ln>
                <a:noFill/>
              </a:ln>
              <a:solidFill>
                <a:srgbClr val="FFFFFF"/>
              </a:solidFill>
              <a:effectLst/>
              <a:uFillTx/>
              <a:latin typeface="+mn-lt"/>
              <a:ea typeface="DIN Condensed Bold"/>
              <a:cs typeface="DIN Condensed Bold"/>
              <a:sym typeface="DIN Condensed Bold"/>
            </a:endParaRPr>
          </a:p>
        </p:txBody>
      </p:sp>
      <p:sp>
        <p:nvSpPr>
          <p:cNvPr id="6" name="Rounded Rectangle 5">
            <a:extLst>
              <a:ext uri="{FF2B5EF4-FFF2-40B4-BE49-F238E27FC236}">
                <a16:creationId xmlns:a16="http://schemas.microsoft.com/office/drawing/2014/main" id="{9B091DA0-4BC7-D9B4-F2A6-B510C39569B7}"/>
              </a:ext>
            </a:extLst>
          </p:cNvPr>
          <p:cNvSpPr/>
          <p:nvPr/>
        </p:nvSpPr>
        <p:spPr>
          <a:xfrm>
            <a:off x="1204727" y="4793031"/>
            <a:ext cx="7474226" cy="1194794"/>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kumimoji="0" lang="en-US" sz="3800" b="0" i="0" u="none" strike="noStrike" spc="0" normalizeH="0" baseline="0" dirty="0">
                <a:ln>
                  <a:noFill/>
                </a:ln>
                <a:solidFill>
                  <a:srgbClr val="FFFFFF"/>
                </a:solidFill>
                <a:effectLst/>
                <a:uFillTx/>
                <a:latin typeface="+mn-lt"/>
                <a:ea typeface="DIN Condensed Bold"/>
                <a:cs typeface="DIN Condensed Bold"/>
                <a:sym typeface="DIN Condensed Bold"/>
              </a:rPr>
              <a:t>Type of cancer in the digestive tract</a:t>
            </a:r>
          </a:p>
        </p:txBody>
      </p:sp>
      <p:sp>
        <p:nvSpPr>
          <p:cNvPr id="7" name="Rounded Rectangle 6">
            <a:extLst>
              <a:ext uri="{FF2B5EF4-FFF2-40B4-BE49-F238E27FC236}">
                <a16:creationId xmlns:a16="http://schemas.microsoft.com/office/drawing/2014/main" id="{77E03D17-6736-7388-BE72-48B4CEE04C7E}"/>
              </a:ext>
            </a:extLst>
          </p:cNvPr>
          <p:cNvSpPr/>
          <p:nvPr/>
        </p:nvSpPr>
        <p:spPr>
          <a:xfrm>
            <a:off x="1204727" y="6446767"/>
            <a:ext cx="7474226" cy="1712383"/>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kumimoji="0" lang="en-US" sz="3800" b="0" i="0" u="none" strike="noStrike" spc="0" normalizeH="0" baseline="0" dirty="0">
                <a:ln>
                  <a:noFill/>
                </a:ln>
                <a:solidFill>
                  <a:srgbClr val="FFFFFF"/>
                </a:solidFill>
                <a:effectLst/>
                <a:uFillTx/>
                <a:latin typeface="+mn-lt"/>
                <a:ea typeface="DIN Condensed Bold"/>
                <a:cs typeface="DIN Condensed Bold"/>
                <a:sym typeface="DIN Condensed Bold"/>
              </a:rPr>
              <a:t>Usually treated with Imatinib</a:t>
            </a:r>
          </a:p>
          <a:p>
            <a:pPr marL="0" marR="0" indent="0" algn="ctr" defTabSz="821531" rtl="0" fontAlgn="auto" latinLnBrk="0" hangingPunct="0">
              <a:lnSpc>
                <a:spcPct val="80000"/>
              </a:lnSpc>
              <a:spcBef>
                <a:spcPts val="0"/>
              </a:spcBef>
              <a:spcAft>
                <a:spcPts val="0"/>
              </a:spcAft>
              <a:buClrTx/>
              <a:buSzTx/>
              <a:buFontTx/>
              <a:buNone/>
              <a:tabLst/>
            </a:pPr>
            <a:r>
              <a:rPr lang="en-US" sz="3800" dirty="0">
                <a:solidFill>
                  <a:srgbClr val="FFFFFF"/>
                </a:solidFill>
                <a:latin typeface="+mn-lt"/>
                <a:ea typeface="DIN Condensed Bold"/>
                <a:cs typeface="DIN Condensed Bold"/>
                <a:sym typeface="DIN Condensed Bold"/>
              </a:rPr>
              <a:t>(blocks enzymes that promote cancer growth)</a:t>
            </a:r>
            <a:endParaRPr kumimoji="0" lang="en-US" sz="3800" b="0" i="0" u="none" strike="noStrike" spc="0" normalizeH="0" baseline="0" dirty="0">
              <a:ln>
                <a:noFill/>
              </a:ln>
              <a:solidFill>
                <a:srgbClr val="FFFFFF"/>
              </a:solidFill>
              <a:effectLst/>
              <a:uFillTx/>
              <a:latin typeface="+mn-lt"/>
              <a:ea typeface="DIN Condensed Bold"/>
              <a:cs typeface="DIN Condensed Bold"/>
              <a:sym typeface="DIN Condensed Bold"/>
            </a:endParaRPr>
          </a:p>
        </p:txBody>
      </p:sp>
      <p:sp>
        <p:nvSpPr>
          <p:cNvPr id="8" name="Rounded Rectangle 7">
            <a:extLst>
              <a:ext uri="{FF2B5EF4-FFF2-40B4-BE49-F238E27FC236}">
                <a16:creationId xmlns:a16="http://schemas.microsoft.com/office/drawing/2014/main" id="{E6E0D742-C93A-E12D-A832-DC5020743C72}"/>
              </a:ext>
            </a:extLst>
          </p:cNvPr>
          <p:cNvSpPr/>
          <p:nvPr/>
        </p:nvSpPr>
        <p:spPr>
          <a:xfrm>
            <a:off x="1171654" y="8618092"/>
            <a:ext cx="7474226" cy="1712383"/>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kumimoji="0" lang="en-US" sz="3800" b="0" i="0" u="none" strike="noStrike" spc="0" normalizeH="0" baseline="0" dirty="0">
                <a:ln>
                  <a:noFill/>
                </a:ln>
                <a:solidFill>
                  <a:srgbClr val="FFFFFF"/>
                </a:solidFill>
                <a:effectLst/>
                <a:uFillTx/>
                <a:latin typeface="+mn-lt"/>
                <a:ea typeface="DIN Condensed Bold"/>
                <a:cs typeface="DIN Condensed Bold"/>
                <a:sym typeface="DIN Condensed Bold"/>
              </a:rPr>
              <a:t>Imatinib is a highly effective drug </a:t>
            </a:r>
          </a:p>
          <a:p>
            <a:pPr marL="0" marR="0" indent="0" algn="ctr" defTabSz="821531" rtl="0" fontAlgn="auto" latinLnBrk="0" hangingPunct="0">
              <a:lnSpc>
                <a:spcPct val="80000"/>
              </a:lnSpc>
              <a:spcBef>
                <a:spcPts val="0"/>
              </a:spcBef>
              <a:spcAft>
                <a:spcPts val="0"/>
              </a:spcAft>
              <a:buClrTx/>
              <a:buSzTx/>
              <a:buFontTx/>
              <a:buNone/>
              <a:tabLst/>
            </a:pPr>
            <a:r>
              <a:rPr lang="en-US" sz="3800" dirty="0">
                <a:solidFill>
                  <a:srgbClr val="FFFFFF"/>
                </a:solidFill>
                <a:latin typeface="+mn-lt"/>
                <a:ea typeface="DIN Condensed Bold"/>
                <a:cs typeface="DIN Condensed Bold"/>
                <a:sym typeface="DIN Condensed Bold"/>
              </a:rPr>
              <a:t>HR = 0.46 &lt; 1 </a:t>
            </a:r>
          </a:p>
          <a:p>
            <a:pPr marL="0" marR="0" indent="0" algn="ctr" defTabSz="821531" rtl="0" fontAlgn="auto" latinLnBrk="0" hangingPunct="0">
              <a:lnSpc>
                <a:spcPct val="80000"/>
              </a:lnSpc>
              <a:spcBef>
                <a:spcPts val="0"/>
              </a:spcBef>
              <a:spcAft>
                <a:spcPts val="0"/>
              </a:spcAft>
              <a:buClrTx/>
              <a:buSzTx/>
              <a:buFontTx/>
              <a:buNone/>
              <a:tabLst/>
            </a:pPr>
            <a:r>
              <a:rPr lang="en-US" sz="3800" dirty="0">
                <a:solidFill>
                  <a:srgbClr val="FFFFFF"/>
                </a:solidFill>
                <a:latin typeface="+mn-lt"/>
                <a:ea typeface="DIN Condensed Bold"/>
                <a:cs typeface="DIN Condensed Bold"/>
                <a:sym typeface="DIN Condensed Bold"/>
              </a:rPr>
              <a:t>(according to RCT data)</a:t>
            </a:r>
            <a:endParaRPr kumimoji="0" lang="en-US" sz="3800" b="0" i="0" u="none" strike="noStrike" spc="0" normalizeH="0" baseline="0" dirty="0">
              <a:ln>
                <a:noFill/>
              </a:ln>
              <a:solidFill>
                <a:srgbClr val="FFFFFF"/>
              </a:solidFill>
              <a:effectLst/>
              <a:uFillTx/>
              <a:latin typeface="+mn-lt"/>
              <a:ea typeface="DIN Condensed Bold"/>
              <a:cs typeface="DIN Condensed Bold"/>
              <a:sym typeface="DIN Condensed Bold"/>
            </a:endParaRPr>
          </a:p>
        </p:txBody>
      </p:sp>
      <p:pic>
        <p:nvPicPr>
          <p:cNvPr id="12" name="Picture 11">
            <a:extLst>
              <a:ext uri="{FF2B5EF4-FFF2-40B4-BE49-F238E27FC236}">
                <a16:creationId xmlns:a16="http://schemas.microsoft.com/office/drawing/2014/main" id="{B621D7F7-48A1-B240-8295-A708F732031C}"/>
              </a:ext>
            </a:extLst>
          </p:cNvPr>
          <p:cNvPicPr>
            <a:picLocks noChangeAspect="1"/>
          </p:cNvPicPr>
          <p:nvPr/>
        </p:nvPicPr>
        <p:blipFill>
          <a:blip r:embed="rId2"/>
          <a:stretch>
            <a:fillRect/>
          </a:stretch>
        </p:blipFill>
        <p:spPr>
          <a:xfrm>
            <a:off x="9939889" y="2518898"/>
            <a:ext cx="12820719" cy="9601251"/>
          </a:xfrm>
          <a:prstGeom prst="rect">
            <a:avLst/>
          </a:prstGeom>
        </p:spPr>
      </p:pic>
      <p:sp>
        <p:nvSpPr>
          <p:cNvPr id="13" name="Oval 12">
            <a:extLst>
              <a:ext uri="{FF2B5EF4-FFF2-40B4-BE49-F238E27FC236}">
                <a16:creationId xmlns:a16="http://schemas.microsoft.com/office/drawing/2014/main" id="{FA270DA8-C801-3108-1439-8AB77121A74D}"/>
              </a:ext>
            </a:extLst>
          </p:cNvPr>
          <p:cNvSpPr/>
          <p:nvPr/>
        </p:nvSpPr>
        <p:spPr>
          <a:xfrm>
            <a:off x="9906816" y="7244334"/>
            <a:ext cx="3133323" cy="2738877"/>
          </a:xfrm>
          <a:prstGeom prst="ellipse">
            <a:avLst/>
          </a:prstGeom>
          <a:noFill/>
          <a:ln w="57150"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a:ln>
                <a:noFill/>
              </a:ln>
              <a:solidFill>
                <a:srgbClr val="FFFFFF"/>
              </a:solidFill>
              <a:effectLst/>
              <a:uFillTx/>
              <a:latin typeface="DIN Condensed Bold"/>
              <a:ea typeface="DIN Condensed Bold"/>
              <a:cs typeface="DIN Condensed Bold"/>
              <a:sym typeface="DIN Condensed Bold"/>
            </a:endParaRPr>
          </a:p>
        </p:txBody>
      </p:sp>
      <p:sp>
        <p:nvSpPr>
          <p:cNvPr id="15" name="Oval 14">
            <a:extLst>
              <a:ext uri="{FF2B5EF4-FFF2-40B4-BE49-F238E27FC236}">
                <a16:creationId xmlns:a16="http://schemas.microsoft.com/office/drawing/2014/main" id="{A043EE78-0D74-7044-04B0-1FF2650CADFF}"/>
              </a:ext>
            </a:extLst>
          </p:cNvPr>
          <p:cNvSpPr/>
          <p:nvPr/>
        </p:nvSpPr>
        <p:spPr>
          <a:xfrm>
            <a:off x="14783586" y="9723547"/>
            <a:ext cx="3133323" cy="2738877"/>
          </a:xfrm>
          <a:prstGeom prst="ellipse">
            <a:avLst/>
          </a:prstGeom>
          <a:noFill/>
          <a:ln w="57150"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a:ln>
                <a:noFill/>
              </a:ln>
              <a:solidFill>
                <a:srgbClr val="FFFFFF"/>
              </a:solidFill>
              <a:effectLst/>
              <a:uFillTx/>
              <a:latin typeface="DIN Condensed Bold"/>
              <a:ea typeface="DIN Condensed Bold"/>
              <a:cs typeface="DIN Condensed Bold"/>
              <a:sym typeface="DIN Condensed Bold"/>
            </a:endParaRPr>
          </a:p>
        </p:txBody>
      </p:sp>
      <p:sp>
        <p:nvSpPr>
          <p:cNvPr id="16" name="Rounded Rectangle 15">
            <a:extLst>
              <a:ext uri="{FF2B5EF4-FFF2-40B4-BE49-F238E27FC236}">
                <a16:creationId xmlns:a16="http://schemas.microsoft.com/office/drawing/2014/main" id="{70F8ED63-282F-2B72-E7E8-217B77724131}"/>
              </a:ext>
            </a:extLst>
          </p:cNvPr>
          <p:cNvSpPr/>
          <p:nvPr/>
        </p:nvSpPr>
        <p:spPr>
          <a:xfrm>
            <a:off x="1150399" y="10789417"/>
            <a:ext cx="7474226" cy="1194794"/>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kumimoji="0" lang="en-US" sz="3800" b="0" i="0" u="none" strike="noStrike" spc="0" normalizeH="0" baseline="0" dirty="0">
                <a:ln>
                  <a:noFill/>
                </a:ln>
                <a:solidFill>
                  <a:srgbClr val="FFFFFF"/>
                </a:solidFill>
                <a:effectLst/>
                <a:uFillTx/>
                <a:latin typeface="+mn-lt"/>
                <a:ea typeface="DIN Condensed Bold"/>
                <a:cs typeface="DIN Condensed Bold"/>
                <a:sym typeface="DIN Condensed Bold"/>
              </a:rPr>
              <a:t>We trained an OPT on observational data…</a:t>
            </a:r>
          </a:p>
        </p:txBody>
      </p:sp>
      <p:sp>
        <p:nvSpPr>
          <p:cNvPr id="17" name="Rectangle 16">
            <a:extLst>
              <a:ext uri="{FF2B5EF4-FFF2-40B4-BE49-F238E27FC236}">
                <a16:creationId xmlns:a16="http://schemas.microsoft.com/office/drawing/2014/main" id="{D5C24D7A-FDA2-D77F-A344-34AC1DF7D782}"/>
              </a:ext>
            </a:extLst>
          </p:cNvPr>
          <p:cNvSpPr/>
          <p:nvPr/>
        </p:nvSpPr>
        <p:spPr>
          <a:xfrm>
            <a:off x="23561040" y="12891795"/>
            <a:ext cx="457200" cy="610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kumimoji="0" lang="en-US" sz="3800" b="0" i="0" u="none" strike="noStrike" cap="all" spc="0" normalizeH="0" baseline="0" dirty="0">
                <a:ln>
                  <a:noFill/>
                </a:ln>
                <a:solidFill>
                  <a:srgbClr val="C00000"/>
                </a:solidFill>
                <a:effectLst/>
                <a:uFillTx/>
                <a:latin typeface="+mj-lt"/>
                <a:ea typeface="DIN Condensed Bold"/>
                <a:cs typeface="DIN Condensed Bold"/>
                <a:sym typeface="DIN Condensed Bold"/>
              </a:rPr>
              <a:t>1</a:t>
            </a:r>
          </a:p>
        </p:txBody>
      </p:sp>
    </p:spTree>
    <p:extLst>
      <p:ext uri="{BB962C8B-B14F-4D97-AF65-F5344CB8AC3E}">
        <p14:creationId xmlns:p14="http://schemas.microsoft.com/office/powerpoint/2010/main" val="5036774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3" grpId="0" animBg="1"/>
      <p:bldP spid="15"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CF034-593B-B82E-32E8-5AAC014E79D4}"/>
            </a:ext>
          </a:extLst>
        </p:cNvPr>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229EC32-65F8-BB53-3FB9-5C16C5D3AA8B}"/>
              </a:ext>
            </a:extLst>
          </p:cNvPr>
          <p:cNvSpPr/>
          <p:nvPr/>
        </p:nvSpPr>
        <p:spPr>
          <a:xfrm>
            <a:off x="715617" y="4002794"/>
            <a:ext cx="4627367" cy="3926705"/>
          </a:xfrm>
          <a:prstGeom prst="roundRect">
            <a:avLst/>
          </a:prstGeom>
          <a:solidFill>
            <a:srgbClr val="48AAA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a:ln>
                <a:noFill/>
              </a:ln>
              <a:solidFill>
                <a:srgbClr val="FFFFFF"/>
              </a:solidFill>
              <a:effectLst/>
              <a:uFillTx/>
              <a:latin typeface="DIN Condensed Bold"/>
              <a:ea typeface="DIN Condensed Bold"/>
              <a:cs typeface="DIN Condensed Bold"/>
              <a:sym typeface="DIN Condensed Bold"/>
            </a:endParaRPr>
          </a:p>
        </p:txBody>
      </p:sp>
      <p:graphicFrame>
        <p:nvGraphicFramePr>
          <p:cNvPr id="11" name="Table 10">
            <a:extLst>
              <a:ext uri="{FF2B5EF4-FFF2-40B4-BE49-F238E27FC236}">
                <a16:creationId xmlns:a16="http://schemas.microsoft.com/office/drawing/2014/main" id="{2C819511-F026-6EE2-0610-B3EFA7EA29FE}"/>
              </a:ext>
            </a:extLst>
          </p:cNvPr>
          <p:cNvGraphicFramePr>
            <a:graphicFrameLocks noGrp="1"/>
          </p:cNvGraphicFramePr>
          <p:nvPr>
            <p:extLst>
              <p:ext uri="{D42A27DB-BD31-4B8C-83A1-F6EECF244321}">
                <p14:modId xmlns:p14="http://schemas.microsoft.com/office/powerpoint/2010/main" val="1124165555"/>
              </p:ext>
            </p:extLst>
          </p:nvPr>
        </p:nvGraphicFramePr>
        <p:xfrm>
          <a:off x="5900530" y="2797021"/>
          <a:ext cx="12582940" cy="5546483"/>
        </p:xfrm>
        <a:graphic>
          <a:graphicData uri="http://schemas.openxmlformats.org/drawingml/2006/table">
            <a:tbl>
              <a:tblPr firstRow="1" bandRow="1">
                <a:tableStyleId>{5940675A-B579-460E-94D1-54222C63F5DA}</a:tableStyleId>
              </a:tblPr>
              <a:tblGrid>
                <a:gridCol w="6291470">
                  <a:extLst>
                    <a:ext uri="{9D8B030D-6E8A-4147-A177-3AD203B41FA5}">
                      <a16:colId xmlns:a16="http://schemas.microsoft.com/office/drawing/2014/main" val="3836168296"/>
                    </a:ext>
                  </a:extLst>
                </a:gridCol>
                <a:gridCol w="6291470">
                  <a:extLst>
                    <a:ext uri="{9D8B030D-6E8A-4147-A177-3AD203B41FA5}">
                      <a16:colId xmlns:a16="http://schemas.microsoft.com/office/drawing/2014/main" val="3399294042"/>
                    </a:ext>
                  </a:extLst>
                </a:gridCol>
              </a:tblGrid>
              <a:tr h="2210090">
                <a:tc>
                  <a:txBody>
                    <a:bodyPr/>
                    <a:lstStyle/>
                    <a:p>
                      <a:endParaRPr lang="en-US" dirty="0">
                        <a:solidFill>
                          <a:schemeClr val="bg1"/>
                        </a:solidFill>
                      </a:endParaRPr>
                    </a:p>
                  </a:txBody>
                  <a:tcPr>
                    <a:solidFill>
                      <a:schemeClr val="tx1">
                        <a:lumMod val="20000"/>
                        <a:lumOff val="80000"/>
                      </a:schemeClr>
                    </a:solidFill>
                  </a:tcPr>
                </a:tc>
                <a:tc>
                  <a:txBody>
                    <a:bodyPr/>
                    <a:lstStyle/>
                    <a:p>
                      <a:endParaRPr lang="en-US" dirty="0">
                        <a:solidFill>
                          <a:schemeClr val="bg1"/>
                        </a:solidFill>
                      </a:endParaRPr>
                    </a:p>
                  </a:txBody>
                  <a:tcPr>
                    <a:solidFill>
                      <a:schemeClr val="tx1">
                        <a:lumMod val="20000"/>
                        <a:lumOff val="80000"/>
                      </a:schemeClr>
                    </a:solidFill>
                  </a:tcPr>
                </a:tc>
                <a:extLst>
                  <a:ext uri="{0D108BD9-81ED-4DB2-BD59-A6C34878D82A}">
                    <a16:rowId xmlns:a16="http://schemas.microsoft.com/office/drawing/2014/main" val="2676565202"/>
                  </a:ext>
                </a:extLst>
              </a:tr>
              <a:tr h="3336393">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74986606"/>
                  </a:ext>
                </a:extLst>
              </a:tr>
            </a:tbl>
          </a:graphicData>
        </a:graphic>
      </p:graphicFrame>
      <p:sp>
        <p:nvSpPr>
          <p:cNvPr id="3" name="Title 2">
            <a:extLst>
              <a:ext uri="{FF2B5EF4-FFF2-40B4-BE49-F238E27FC236}">
                <a16:creationId xmlns:a16="http://schemas.microsoft.com/office/drawing/2014/main" id="{BFA62DFC-D529-547E-23A3-7B2D6D490798}"/>
              </a:ext>
            </a:extLst>
          </p:cNvPr>
          <p:cNvSpPr>
            <a:spLocks noGrp="1"/>
          </p:cNvSpPr>
          <p:nvPr>
            <p:ph type="title"/>
          </p:nvPr>
        </p:nvSpPr>
        <p:spPr>
          <a:xfrm>
            <a:off x="1204727" y="1779036"/>
            <a:ext cx="17145001" cy="1017985"/>
          </a:xfrm>
        </p:spPr>
        <p:txBody>
          <a:bodyPr>
            <a:normAutofit fontScale="90000"/>
          </a:bodyPr>
          <a:lstStyle/>
          <a:p>
            <a:r>
              <a:rPr lang="en-US" sz="5400" dirty="0">
                <a:solidFill>
                  <a:srgbClr val="C00000"/>
                </a:solidFill>
              </a:rPr>
              <a:t>Why? </a:t>
            </a:r>
          </a:p>
        </p:txBody>
      </p:sp>
      <p:pic>
        <p:nvPicPr>
          <p:cNvPr id="9" name="Picture 8">
            <a:extLst>
              <a:ext uri="{FF2B5EF4-FFF2-40B4-BE49-F238E27FC236}">
                <a16:creationId xmlns:a16="http://schemas.microsoft.com/office/drawing/2014/main" id="{2F04E1C9-4481-3307-2134-576B3ABD0D57}"/>
              </a:ext>
            </a:extLst>
          </p:cNvPr>
          <p:cNvPicPr>
            <a:picLocks noChangeAspect="1"/>
          </p:cNvPicPr>
          <p:nvPr/>
        </p:nvPicPr>
        <p:blipFill>
          <a:blip r:embed="rId2"/>
          <a:stretch>
            <a:fillRect/>
          </a:stretch>
        </p:blipFill>
        <p:spPr>
          <a:xfrm>
            <a:off x="14387594" y="3027774"/>
            <a:ext cx="1950431" cy="1950431"/>
          </a:xfrm>
          <a:prstGeom prst="rect">
            <a:avLst/>
          </a:prstGeom>
        </p:spPr>
      </p:pic>
      <p:pic>
        <p:nvPicPr>
          <p:cNvPr id="10" name="Picture 9">
            <a:extLst>
              <a:ext uri="{FF2B5EF4-FFF2-40B4-BE49-F238E27FC236}">
                <a16:creationId xmlns:a16="http://schemas.microsoft.com/office/drawing/2014/main" id="{ED7F11B8-EF49-77F7-6501-EB7A8F17FE44}"/>
              </a:ext>
            </a:extLst>
          </p:cNvPr>
          <p:cNvPicPr>
            <a:picLocks noChangeAspect="1"/>
          </p:cNvPicPr>
          <p:nvPr/>
        </p:nvPicPr>
        <p:blipFill>
          <a:blip r:embed="rId3"/>
          <a:stretch>
            <a:fillRect/>
          </a:stretch>
        </p:blipFill>
        <p:spPr>
          <a:xfrm>
            <a:off x="8326052" y="3050541"/>
            <a:ext cx="1904507" cy="1904507"/>
          </a:xfrm>
          <a:prstGeom prst="rect">
            <a:avLst/>
          </a:prstGeom>
        </p:spPr>
      </p:pic>
      <p:pic>
        <p:nvPicPr>
          <p:cNvPr id="14" name="Picture 13">
            <a:extLst>
              <a:ext uri="{FF2B5EF4-FFF2-40B4-BE49-F238E27FC236}">
                <a16:creationId xmlns:a16="http://schemas.microsoft.com/office/drawing/2014/main" id="{B47C830D-6450-D914-18E9-B7F516939C8C}"/>
              </a:ext>
            </a:extLst>
          </p:cNvPr>
          <p:cNvPicPr>
            <a:picLocks noChangeAspect="1"/>
          </p:cNvPicPr>
          <p:nvPr/>
        </p:nvPicPr>
        <p:blipFill>
          <a:blip r:embed="rId4"/>
          <a:stretch>
            <a:fillRect/>
          </a:stretch>
        </p:blipFill>
        <p:spPr>
          <a:xfrm>
            <a:off x="7761143" y="7093924"/>
            <a:ext cx="843722" cy="843722"/>
          </a:xfrm>
          <a:prstGeom prst="rect">
            <a:avLst/>
          </a:prstGeom>
        </p:spPr>
      </p:pic>
      <p:pic>
        <p:nvPicPr>
          <p:cNvPr id="17" name="Picture 16">
            <a:extLst>
              <a:ext uri="{FF2B5EF4-FFF2-40B4-BE49-F238E27FC236}">
                <a16:creationId xmlns:a16="http://schemas.microsoft.com/office/drawing/2014/main" id="{3F5B7F52-EB16-860A-564B-43E313D92E53}"/>
              </a:ext>
            </a:extLst>
          </p:cNvPr>
          <p:cNvPicPr>
            <a:picLocks noChangeAspect="1"/>
          </p:cNvPicPr>
          <p:nvPr/>
        </p:nvPicPr>
        <p:blipFill>
          <a:blip r:embed="rId4"/>
          <a:stretch>
            <a:fillRect/>
          </a:stretch>
        </p:blipFill>
        <p:spPr>
          <a:xfrm>
            <a:off x="7904191" y="5508402"/>
            <a:ext cx="843722" cy="843722"/>
          </a:xfrm>
          <a:prstGeom prst="rect">
            <a:avLst/>
          </a:prstGeom>
        </p:spPr>
      </p:pic>
      <p:pic>
        <p:nvPicPr>
          <p:cNvPr id="19" name="Picture 18">
            <a:extLst>
              <a:ext uri="{FF2B5EF4-FFF2-40B4-BE49-F238E27FC236}">
                <a16:creationId xmlns:a16="http://schemas.microsoft.com/office/drawing/2014/main" id="{45DCD6EF-B0D0-1B59-F9F0-BA0CC0C0183F}"/>
              </a:ext>
            </a:extLst>
          </p:cNvPr>
          <p:cNvPicPr>
            <a:picLocks noChangeAspect="1"/>
          </p:cNvPicPr>
          <p:nvPr/>
        </p:nvPicPr>
        <p:blipFill>
          <a:blip r:embed="rId4"/>
          <a:stretch>
            <a:fillRect/>
          </a:stretch>
        </p:blipFill>
        <p:spPr>
          <a:xfrm>
            <a:off x="7335357" y="6192828"/>
            <a:ext cx="843722" cy="843722"/>
          </a:xfrm>
          <a:prstGeom prst="rect">
            <a:avLst/>
          </a:prstGeom>
        </p:spPr>
      </p:pic>
      <p:pic>
        <p:nvPicPr>
          <p:cNvPr id="21" name="Picture 20">
            <a:extLst>
              <a:ext uri="{FF2B5EF4-FFF2-40B4-BE49-F238E27FC236}">
                <a16:creationId xmlns:a16="http://schemas.microsoft.com/office/drawing/2014/main" id="{C65D8D25-8C82-AF92-E62D-482E914BAF21}"/>
              </a:ext>
            </a:extLst>
          </p:cNvPr>
          <p:cNvPicPr>
            <a:picLocks noChangeAspect="1"/>
          </p:cNvPicPr>
          <p:nvPr/>
        </p:nvPicPr>
        <p:blipFill>
          <a:blip r:embed="rId4"/>
          <a:stretch>
            <a:fillRect/>
          </a:stretch>
        </p:blipFill>
        <p:spPr>
          <a:xfrm>
            <a:off x="10028047" y="6101001"/>
            <a:ext cx="843722" cy="843722"/>
          </a:xfrm>
          <a:prstGeom prst="rect">
            <a:avLst/>
          </a:prstGeom>
        </p:spPr>
      </p:pic>
      <p:pic>
        <p:nvPicPr>
          <p:cNvPr id="22" name="Picture 21">
            <a:extLst>
              <a:ext uri="{FF2B5EF4-FFF2-40B4-BE49-F238E27FC236}">
                <a16:creationId xmlns:a16="http://schemas.microsoft.com/office/drawing/2014/main" id="{4A79548D-C449-4864-1E90-84040CAF41DD}"/>
              </a:ext>
            </a:extLst>
          </p:cNvPr>
          <p:cNvPicPr>
            <a:picLocks noChangeAspect="1"/>
          </p:cNvPicPr>
          <p:nvPr/>
        </p:nvPicPr>
        <p:blipFill>
          <a:blip r:embed="rId4"/>
          <a:stretch>
            <a:fillRect/>
          </a:stretch>
        </p:blipFill>
        <p:spPr>
          <a:xfrm>
            <a:off x="8162609" y="6466873"/>
            <a:ext cx="843722" cy="843722"/>
          </a:xfrm>
          <a:prstGeom prst="rect">
            <a:avLst/>
          </a:prstGeom>
        </p:spPr>
      </p:pic>
      <p:pic>
        <p:nvPicPr>
          <p:cNvPr id="24" name="Picture 23">
            <a:extLst>
              <a:ext uri="{FF2B5EF4-FFF2-40B4-BE49-F238E27FC236}">
                <a16:creationId xmlns:a16="http://schemas.microsoft.com/office/drawing/2014/main" id="{B516E334-7056-B146-9B60-C738F7ED7EB2}"/>
              </a:ext>
            </a:extLst>
          </p:cNvPr>
          <p:cNvPicPr>
            <a:picLocks noChangeAspect="1"/>
          </p:cNvPicPr>
          <p:nvPr/>
        </p:nvPicPr>
        <p:blipFill>
          <a:blip r:embed="rId4"/>
          <a:stretch>
            <a:fillRect/>
          </a:stretch>
        </p:blipFill>
        <p:spPr>
          <a:xfrm>
            <a:off x="9689271" y="7093924"/>
            <a:ext cx="843722" cy="843722"/>
          </a:xfrm>
          <a:prstGeom prst="rect">
            <a:avLst/>
          </a:prstGeom>
        </p:spPr>
      </p:pic>
      <p:pic>
        <p:nvPicPr>
          <p:cNvPr id="26" name="Picture 25">
            <a:extLst>
              <a:ext uri="{FF2B5EF4-FFF2-40B4-BE49-F238E27FC236}">
                <a16:creationId xmlns:a16="http://schemas.microsoft.com/office/drawing/2014/main" id="{D61C9EF2-2C81-D739-AC03-5E78F76A3C8C}"/>
              </a:ext>
            </a:extLst>
          </p:cNvPr>
          <p:cNvPicPr>
            <a:picLocks noChangeAspect="1"/>
          </p:cNvPicPr>
          <p:nvPr/>
        </p:nvPicPr>
        <p:blipFill>
          <a:blip r:embed="rId4"/>
          <a:stretch>
            <a:fillRect/>
          </a:stretch>
        </p:blipFill>
        <p:spPr>
          <a:xfrm>
            <a:off x="9382183" y="5579080"/>
            <a:ext cx="843722" cy="843722"/>
          </a:xfrm>
          <a:prstGeom prst="rect">
            <a:avLst/>
          </a:prstGeom>
        </p:spPr>
      </p:pic>
      <p:pic>
        <p:nvPicPr>
          <p:cNvPr id="29" name="Picture 28">
            <a:extLst>
              <a:ext uri="{FF2B5EF4-FFF2-40B4-BE49-F238E27FC236}">
                <a16:creationId xmlns:a16="http://schemas.microsoft.com/office/drawing/2014/main" id="{902AEA30-73D1-9232-A12C-80C5EC5D8EB9}"/>
              </a:ext>
            </a:extLst>
          </p:cNvPr>
          <p:cNvPicPr>
            <a:picLocks noChangeAspect="1"/>
          </p:cNvPicPr>
          <p:nvPr/>
        </p:nvPicPr>
        <p:blipFill>
          <a:blip r:embed="rId5"/>
          <a:stretch>
            <a:fillRect/>
          </a:stretch>
        </p:blipFill>
        <p:spPr>
          <a:xfrm>
            <a:off x="9097532" y="6535741"/>
            <a:ext cx="830570" cy="830570"/>
          </a:xfrm>
          <a:prstGeom prst="rect">
            <a:avLst/>
          </a:prstGeom>
        </p:spPr>
      </p:pic>
      <p:pic>
        <p:nvPicPr>
          <p:cNvPr id="30" name="Picture 29">
            <a:extLst>
              <a:ext uri="{FF2B5EF4-FFF2-40B4-BE49-F238E27FC236}">
                <a16:creationId xmlns:a16="http://schemas.microsoft.com/office/drawing/2014/main" id="{33480CED-ACCD-412F-898B-78AB6BA16CCD}"/>
              </a:ext>
            </a:extLst>
          </p:cNvPr>
          <p:cNvPicPr>
            <a:picLocks noChangeAspect="1"/>
          </p:cNvPicPr>
          <p:nvPr/>
        </p:nvPicPr>
        <p:blipFill>
          <a:blip r:embed="rId5"/>
          <a:stretch>
            <a:fillRect/>
          </a:stretch>
        </p:blipFill>
        <p:spPr>
          <a:xfrm>
            <a:off x="8688278" y="5508402"/>
            <a:ext cx="830570" cy="830570"/>
          </a:xfrm>
          <a:prstGeom prst="rect">
            <a:avLst/>
          </a:prstGeom>
        </p:spPr>
      </p:pic>
      <p:pic>
        <p:nvPicPr>
          <p:cNvPr id="31" name="Picture 30">
            <a:extLst>
              <a:ext uri="{FF2B5EF4-FFF2-40B4-BE49-F238E27FC236}">
                <a16:creationId xmlns:a16="http://schemas.microsoft.com/office/drawing/2014/main" id="{CA4291A8-2D85-98A8-C43A-9BA05C013D52}"/>
              </a:ext>
            </a:extLst>
          </p:cNvPr>
          <p:cNvPicPr>
            <a:picLocks noChangeAspect="1"/>
          </p:cNvPicPr>
          <p:nvPr/>
        </p:nvPicPr>
        <p:blipFill>
          <a:blip r:embed="rId5"/>
          <a:stretch>
            <a:fillRect/>
          </a:stretch>
        </p:blipFill>
        <p:spPr>
          <a:xfrm>
            <a:off x="8711010" y="7205043"/>
            <a:ext cx="773044" cy="773044"/>
          </a:xfrm>
          <a:prstGeom prst="rect">
            <a:avLst/>
          </a:prstGeom>
        </p:spPr>
      </p:pic>
      <p:pic>
        <p:nvPicPr>
          <p:cNvPr id="32" name="Picture 31">
            <a:extLst>
              <a:ext uri="{FF2B5EF4-FFF2-40B4-BE49-F238E27FC236}">
                <a16:creationId xmlns:a16="http://schemas.microsoft.com/office/drawing/2014/main" id="{4B9A3CA5-74AC-057F-9701-894195BD3F4F}"/>
              </a:ext>
            </a:extLst>
          </p:cNvPr>
          <p:cNvPicPr>
            <a:picLocks noChangeAspect="1"/>
          </p:cNvPicPr>
          <p:nvPr/>
        </p:nvPicPr>
        <p:blipFill>
          <a:blip r:embed="rId5"/>
          <a:stretch>
            <a:fillRect/>
          </a:stretch>
        </p:blipFill>
        <p:spPr>
          <a:xfrm>
            <a:off x="7010304" y="6982637"/>
            <a:ext cx="830570" cy="830570"/>
          </a:xfrm>
          <a:prstGeom prst="rect">
            <a:avLst/>
          </a:prstGeom>
        </p:spPr>
      </p:pic>
      <p:sp>
        <p:nvSpPr>
          <p:cNvPr id="39" name="TextBox 38">
            <a:extLst>
              <a:ext uri="{FF2B5EF4-FFF2-40B4-BE49-F238E27FC236}">
                <a16:creationId xmlns:a16="http://schemas.microsoft.com/office/drawing/2014/main" id="{FCFB358C-17DF-A705-9600-C1C6C2FB9AE1}"/>
              </a:ext>
            </a:extLst>
          </p:cNvPr>
          <p:cNvSpPr txBox="1"/>
          <p:nvPr/>
        </p:nvSpPr>
        <p:spPr>
          <a:xfrm>
            <a:off x="1078948" y="4406977"/>
            <a:ext cx="3756991" cy="2837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3300"/>
              </a:spcBef>
              <a:spcAft>
                <a:spcPts val="0"/>
              </a:spcAft>
              <a:buClrTx/>
              <a:buSzTx/>
              <a:buFontTx/>
              <a:buNone/>
              <a:tabLst/>
            </a:pPr>
            <a:r>
              <a:rPr kumimoji="0" lang="en-US" sz="4000" b="0" i="0" u="none" strike="noStrike" cap="none" spc="0" normalizeH="0" baseline="0" dirty="0">
                <a:ln>
                  <a:noFill/>
                </a:ln>
                <a:solidFill>
                  <a:srgbClr val="F7F7F7"/>
                </a:solidFill>
                <a:effectLst/>
                <a:uFillTx/>
                <a:latin typeface="+mn-lt"/>
                <a:ea typeface="Avenir Next Medium"/>
                <a:cs typeface="Avenir Next Medium"/>
                <a:sym typeface="Avenir Next Medium"/>
              </a:rPr>
              <a:t>Randomized Clinical Trial </a:t>
            </a:r>
          </a:p>
          <a:p>
            <a:pPr marL="0" marR="0" indent="0" algn="ctr" defTabSz="821531" rtl="0" fontAlgn="auto" latinLnBrk="0" hangingPunct="0">
              <a:lnSpc>
                <a:spcPct val="100000"/>
              </a:lnSpc>
              <a:spcBef>
                <a:spcPts val="3300"/>
              </a:spcBef>
              <a:spcAft>
                <a:spcPts val="0"/>
              </a:spcAft>
              <a:buClrTx/>
              <a:buSzTx/>
              <a:buFontTx/>
              <a:buNone/>
              <a:tabLst/>
            </a:pPr>
            <a:r>
              <a:rPr lang="en-US" sz="4000" dirty="0">
                <a:solidFill>
                  <a:srgbClr val="F7F7F7"/>
                </a:solidFill>
                <a:latin typeface="+mn-lt"/>
              </a:rPr>
              <a:t>(RCT)</a:t>
            </a:r>
            <a:endParaRPr kumimoji="0" lang="en-US" sz="4000" b="0" i="0" u="none" strike="noStrike" cap="none" spc="0" normalizeH="0" baseline="0" dirty="0">
              <a:ln>
                <a:noFill/>
              </a:ln>
              <a:solidFill>
                <a:srgbClr val="F7F7F7"/>
              </a:solidFill>
              <a:effectLst/>
              <a:uFillTx/>
              <a:latin typeface="+mn-lt"/>
              <a:ea typeface="Avenir Next Medium"/>
              <a:cs typeface="Avenir Next Medium"/>
              <a:sym typeface="Avenir Next Medium"/>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6B77215-EAC1-50D5-88AB-592AC75FBA5F}"/>
                  </a:ext>
                </a:extLst>
              </p:cNvPr>
              <p:cNvSpPr txBox="1"/>
              <p:nvPr/>
            </p:nvSpPr>
            <p:spPr>
              <a:xfrm>
                <a:off x="10836114" y="5117467"/>
                <a:ext cx="2643808" cy="26988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l" defTabSz="821531" rtl="0" fontAlgn="auto" latinLnBrk="0" hangingPunct="0">
                  <a:lnSpc>
                    <a:spcPct val="100000"/>
                  </a:lnSpc>
                  <a:spcBef>
                    <a:spcPts val="330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16600" b="0" i="1" u="none" strike="noStrike" cap="none" spc="0" normalizeH="0" baseline="0" dirty="0" smtClean="0">
                          <a:ln>
                            <a:noFill/>
                          </a:ln>
                          <a:solidFill>
                            <a:schemeClr val="bg1"/>
                          </a:solidFill>
                          <a:effectLst/>
                          <a:uFillTx/>
                          <a:latin typeface="Cambria Math" panose="02040503050406030204" pitchFamily="18" charset="0"/>
                          <a:ea typeface="Cambria Math" panose="02040503050406030204" pitchFamily="18" charset="0"/>
                          <a:sym typeface="Avenir Next Medium"/>
                        </a:rPr>
                        <m:t>≈</m:t>
                      </m:r>
                    </m:oMath>
                  </m:oMathPara>
                </a14:m>
                <a:endParaRPr kumimoji="0" lang="en-US" sz="16600" b="0" i="0" u="none" strike="noStrike" cap="none" spc="0" normalizeH="0" baseline="0" dirty="0">
                  <a:ln>
                    <a:noFill/>
                  </a:ln>
                  <a:solidFill>
                    <a:schemeClr val="bg1"/>
                  </a:solidFill>
                  <a:effectLst/>
                  <a:uFillTx/>
                  <a:latin typeface="+mn-lt"/>
                  <a:sym typeface="Avenir Next Medium"/>
                </a:endParaRPr>
              </a:p>
            </p:txBody>
          </p:sp>
        </mc:Choice>
        <mc:Fallback xmlns="">
          <p:sp>
            <p:nvSpPr>
              <p:cNvPr id="40" name="TextBox 39">
                <a:extLst>
                  <a:ext uri="{FF2B5EF4-FFF2-40B4-BE49-F238E27FC236}">
                    <a16:creationId xmlns:a16="http://schemas.microsoft.com/office/drawing/2014/main" id="{A6B77215-EAC1-50D5-88AB-592AC75FBA5F}"/>
                  </a:ext>
                </a:extLst>
              </p:cNvPr>
              <p:cNvSpPr txBox="1">
                <a:spLocks noRot="1" noChangeAspect="1" noMove="1" noResize="1" noEditPoints="1" noAdjustHandles="1" noChangeArrowheads="1" noChangeShapeType="1" noTextEdit="1"/>
              </p:cNvSpPr>
              <p:nvPr/>
            </p:nvSpPr>
            <p:spPr>
              <a:xfrm>
                <a:off x="10836114" y="5117467"/>
                <a:ext cx="2643808" cy="2698815"/>
              </a:xfrm>
              <a:prstGeom prst="rect">
                <a:avLst/>
              </a:prstGeom>
              <a:blipFill>
                <a:blip r:embed="rId6"/>
                <a:stretch>
                  <a:fillRect/>
                </a:stretch>
              </a:blipFill>
              <a:ln w="12700" cap="flat">
                <a:noFill/>
                <a:miter lim="400000"/>
              </a:ln>
              <a:effectLst/>
            </p:spPr>
            <p:txBody>
              <a:bodyPr/>
              <a:lstStyle/>
              <a:p>
                <a:r>
                  <a:rPr lang="en-US">
                    <a:noFill/>
                  </a:rPr>
                  <a:t> </a:t>
                </a:r>
              </a:p>
            </p:txBody>
          </p:sp>
        </mc:Fallback>
      </mc:AlternateContent>
      <p:sp>
        <p:nvSpPr>
          <p:cNvPr id="42" name="Rectangle 41">
            <a:extLst>
              <a:ext uri="{FF2B5EF4-FFF2-40B4-BE49-F238E27FC236}">
                <a16:creationId xmlns:a16="http://schemas.microsoft.com/office/drawing/2014/main" id="{1727448C-5E2A-1758-1243-00932266B16E}"/>
              </a:ext>
            </a:extLst>
          </p:cNvPr>
          <p:cNvSpPr/>
          <p:nvPr/>
        </p:nvSpPr>
        <p:spPr>
          <a:xfrm>
            <a:off x="23561040" y="12891795"/>
            <a:ext cx="457200" cy="610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lang="en-US" sz="3800" cap="all" dirty="0">
                <a:solidFill>
                  <a:srgbClr val="C00000"/>
                </a:solidFill>
                <a:latin typeface="+mj-lt"/>
                <a:ea typeface="DIN Condensed Bold"/>
                <a:cs typeface="DIN Condensed Bold"/>
                <a:sym typeface="DIN Condensed Bold"/>
              </a:rPr>
              <a:t>2</a:t>
            </a:r>
            <a:endParaRPr kumimoji="0" lang="en-US" sz="3800" b="0" i="0" u="none" strike="noStrike" cap="all" spc="0" normalizeH="0" baseline="0" dirty="0">
              <a:ln>
                <a:noFill/>
              </a:ln>
              <a:solidFill>
                <a:srgbClr val="C00000"/>
              </a:solidFill>
              <a:effectLst/>
              <a:uFillTx/>
              <a:latin typeface="+mj-lt"/>
              <a:ea typeface="DIN Condensed Bold"/>
              <a:cs typeface="DIN Condensed Bold"/>
              <a:sym typeface="DIN Condensed Bold"/>
            </a:endParaRPr>
          </a:p>
        </p:txBody>
      </p:sp>
      <p:pic>
        <p:nvPicPr>
          <p:cNvPr id="43" name="Picture 42">
            <a:extLst>
              <a:ext uri="{FF2B5EF4-FFF2-40B4-BE49-F238E27FC236}">
                <a16:creationId xmlns:a16="http://schemas.microsoft.com/office/drawing/2014/main" id="{3CD0ADDA-1600-05EC-ABDC-8C6F008C171A}"/>
              </a:ext>
            </a:extLst>
          </p:cNvPr>
          <p:cNvPicPr>
            <a:picLocks noChangeAspect="1"/>
          </p:cNvPicPr>
          <p:nvPr/>
        </p:nvPicPr>
        <p:blipFill>
          <a:blip r:embed="rId4"/>
          <a:stretch>
            <a:fillRect/>
          </a:stretch>
        </p:blipFill>
        <p:spPr>
          <a:xfrm>
            <a:off x="15678011" y="7085777"/>
            <a:ext cx="843722" cy="843722"/>
          </a:xfrm>
          <a:prstGeom prst="rect">
            <a:avLst/>
          </a:prstGeom>
        </p:spPr>
      </p:pic>
      <p:pic>
        <p:nvPicPr>
          <p:cNvPr id="44" name="Picture 43">
            <a:extLst>
              <a:ext uri="{FF2B5EF4-FFF2-40B4-BE49-F238E27FC236}">
                <a16:creationId xmlns:a16="http://schemas.microsoft.com/office/drawing/2014/main" id="{7BE19BF0-AA78-9F93-BC67-699352F27900}"/>
              </a:ext>
            </a:extLst>
          </p:cNvPr>
          <p:cNvPicPr>
            <a:picLocks noChangeAspect="1"/>
          </p:cNvPicPr>
          <p:nvPr/>
        </p:nvPicPr>
        <p:blipFill>
          <a:blip r:embed="rId4"/>
          <a:stretch>
            <a:fillRect/>
          </a:stretch>
        </p:blipFill>
        <p:spPr>
          <a:xfrm>
            <a:off x="14290652" y="7100217"/>
            <a:ext cx="843722" cy="843722"/>
          </a:xfrm>
          <a:prstGeom prst="rect">
            <a:avLst/>
          </a:prstGeom>
        </p:spPr>
      </p:pic>
      <p:pic>
        <p:nvPicPr>
          <p:cNvPr id="45" name="Picture 44">
            <a:extLst>
              <a:ext uri="{FF2B5EF4-FFF2-40B4-BE49-F238E27FC236}">
                <a16:creationId xmlns:a16="http://schemas.microsoft.com/office/drawing/2014/main" id="{5B2DCBE1-D9C2-FD17-6DDD-3A7BB8E4146B}"/>
              </a:ext>
            </a:extLst>
          </p:cNvPr>
          <p:cNvPicPr>
            <a:picLocks noChangeAspect="1"/>
          </p:cNvPicPr>
          <p:nvPr/>
        </p:nvPicPr>
        <p:blipFill>
          <a:blip r:embed="rId4"/>
          <a:stretch>
            <a:fillRect/>
          </a:stretch>
        </p:blipFill>
        <p:spPr>
          <a:xfrm>
            <a:off x="14903624" y="5468202"/>
            <a:ext cx="843722" cy="843722"/>
          </a:xfrm>
          <a:prstGeom prst="rect">
            <a:avLst/>
          </a:prstGeom>
        </p:spPr>
      </p:pic>
      <p:pic>
        <p:nvPicPr>
          <p:cNvPr id="46" name="Picture 45">
            <a:extLst>
              <a:ext uri="{FF2B5EF4-FFF2-40B4-BE49-F238E27FC236}">
                <a16:creationId xmlns:a16="http://schemas.microsoft.com/office/drawing/2014/main" id="{77F6549E-278A-A388-D049-CAD4FB359672}"/>
              </a:ext>
            </a:extLst>
          </p:cNvPr>
          <p:cNvPicPr>
            <a:picLocks noChangeAspect="1"/>
          </p:cNvPicPr>
          <p:nvPr/>
        </p:nvPicPr>
        <p:blipFill>
          <a:blip r:embed="rId4"/>
          <a:stretch>
            <a:fillRect/>
          </a:stretch>
        </p:blipFill>
        <p:spPr>
          <a:xfrm>
            <a:off x="15642155" y="5890063"/>
            <a:ext cx="843722" cy="843722"/>
          </a:xfrm>
          <a:prstGeom prst="rect">
            <a:avLst/>
          </a:prstGeom>
        </p:spPr>
      </p:pic>
      <p:pic>
        <p:nvPicPr>
          <p:cNvPr id="47" name="Picture 46">
            <a:extLst>
              <a:ext uri="{FF2B5EF4-FFF2-40B4-BE49-F238E27FC236}">
                <a16:creationId xmlns:a16="http://schemas.microsoft.com/office/drawing/2014/main" id="{6E52C7B9-5F28-141D-3A1C-A2AB467E0A86}"/>
              </a:ext>
            </a:extLst>
          </p:cNvPr>
          <p:cNvPicPr>
            <a:picLocks noChangeAspect="1"/>
          </p:cNvPicPr>
          <p:nvPr/>
        </p:nvPicPr>
        <p:blipFill>
          <a:blip r:embed="rId5"/>
          <a:stretch>
            <a:fillRect/>
          </a:stretch>
        </p:blipFill>
        <p:spPr>
          <a:xfrm>
            <a:off x="14001072" y="5439112"/>
            <a:ext cx="773044" cy="773044"/>
          </a:xfrm>
          <a:prstGeom prst="rect">
            <a:avLst/>
          </a:prstGeom>
        </p:spPr>
      </p:pic>
      <p:pic>
        <p:nvPicPr>
          <p:cNvPr id="48" name="Picture 47">
            <a:extLst>
              <a:ext uri="{FF2B5EF4-FFF2-40B4-BE49-F238E27FC236}">
                <a16:creationId xmlns:a16="http://schemas.microsoft.com/office/drawing/2014/main" id="{5A95AFCF-2D51-0943-CC6B-4C0FE5558CA5}"/>
              </a:ext>
            </a:extLst>
          </p:cNvPr>
          <p:cNvPicPr>
            <a:picLocks noChangeAspect="1"/>
          </p:cNvPicPr>
          <p:nvPr/>
        </p:nvPicPr>
        <p:blipFill>
          <a:blip r:embed="rId5"/>
          <a:stretch>
            <a:fillRect/>
          </a:stretch>
        </p:blipFill>
        <p:spPr>
          <a:xfrm>
            <a:off x="15147588" y="7032103"/>
            <a:ext cx="773044" cy="773044"/>
          </a:xfrm>
          <a:prstGeom prst="rect">
            <a:avLst/>
          </a:prstGeom>
        </p:spPr>
      </p:pic>
      <p:pic>
        <p:nvPicPr>
          <p:cNvPr id="49" name="Picture 48">
            <a:extLst>
              <a:ext uri="{FF2B5EF4-FFF2-40B4-BE49-F238E27FC236}">
                <a16:creationId xmlns:a16="http://schemas.microsoft.com/office/drawing/2014/main" id="{5A1B8216-5262-48F0-D6AC-6DCCD1EB48F2}"/>
              </a:ext>
            </a:extLst>
          </p:cNvPr>
          <p:cNvPicPr>
            <a:picLocks noChangeAspect="1"/>
          </p:cNvPicPr>
          <p:nvPr/>
        </p:nvPicPr>
        <p:blipFill>
          <a:blip r:embed="rId4"/>
          <a:stretch>
            <a:fillRect/>
          </a:stretch>
        </p:blipFill>
        <p:spPr>
          <a:xfrm>
            <a:off x="16363825" y="5728901"/>
            <a:ext cx="843722" cy="843722"/>
          </a:xfrm>
          <a:prstGeom prst="rect">
            <a:avLst/>
          </a:prstGeom>
        </p:spPr>
      </p:pic>
      <p:pic>
        <p:nvPicPr>
          <p:cNvPr id="50" name="Picture 49">
            <a:extLst>
              <a:ext uri="{FF2B5EF4-FFF2-40B4-BE49-F238E27FC236}">
                <a16:creationId xmlns:a16="http://schemas.microsoft.com/office/drawing/2014/main" id="{379AE9B0-8E48-1419-2DBC-C9081DA85B63}"/>
              </a:ext>
            </a:extLst>
          </p:cNvPr>
          <p:cNvPicPr>
            <a:picLocks noChangeAspect="1"/>
          </p:cNvPicPr>
          <p:nvPr/>
        </p:nvPicPr>
        <p:blipFill>
          <a:blip r:embed="rId4"/>
          <a:stretch>
            <a:fillRect/>
          </a:stretch>
        </p:blipFill>
        <p:spPr>
          <a:xfrm>
            <a:off x="16259586" y="7376076"/>
            <a:ext cx="843722" cy="843722"/>
          </a:xfrm>
          <a:prstGeom prst="rect">
            <a:avLst/>
          </a:prstGeom>
        </p:spPr>
      </p:pic>
      <p:pic>
        <p:nvPicPr>
          <p:cNvPr id="51" name="Picture 50">
            <a:extLst>
              <a:ext uri="{FF2B5EF4-FFF2-40B4-BE49-F238E27FC236}">
                <a16:creationId xmlns:a16="http://schemas.microsoft.com/office/drawing/2014/main" id="{870BE307-3EF0-1F09-31B7-C271D4F5C11D}"/>
              </a:ext>
            </a:extLst>
          </p:cNvPr>
          <p:cNvPicPr>
            <a:picLocks noChangeAspect="1"/>
          </p:cNvPicPr>
          <p:nvPr/>
        </p:nvPicPr>
        <p:blipFill>
          <a:blip r:embed="rId4"/>
          <a:stretch>
            <a:fillRect/>
          </a:stretch>
        </p:blipFill>
        <p:spPr>
          <a:xfrm>
            <a:off x="16334713" y="6725023"/>
            <a:ext cx="843722" cy="843722"/>
          </a:xfrm>
          <a:prstGeom prst="rect">
            <a:avLst/>
          </a:prstGeom>
        </p:spPr>
      </p:pic>
      <p:pic>
        <p:nvPicPr>
          <p:cNvPr id="52" name="Picture 51">
            <a:extLst>
              <a:ext uri="{FF2B5EF4-FFF2-40B4-BE49-F238E27FC236}">
                <a16:creationId xmlns:a16="http://schemas.microsoft.com/office/drawing/2014/main" id="{19C10B76-07D9-C329-146C-8B5E103DC022}"/>
              </a:ext>
            </a:extLst>
          </p:cNvPr>
          <p:cNvPicPr>
            <a:picLocks noChangeAspect="1"/>
          </p:cNvPicPr>
          <p:nvPr/>
        </p:nvPicPr>
        <p:blipFill>
          <a:blip r:embed="rId4"/>
          <a:stretch>
            <a:fillRect/>
          </a:stretch>
        </p:blipFill>
        <p:spPr>
          <a:xfrm>
            <a:off x="13803956" y="6169364"/>
            <a:ext cx="843722" cy="843722"/>
          </a:xfrm>
          <a:prstGeom prst="rect">
            <a:avLst/>
          </a:prstGeom>
        </p:spPr>
      </p:pic>
      <p:pic>
        <p:nvPicPr>
          <p:cNvPr id="53" name="Picture 52">
            <a:extLst>
              <a:ext uri="{FF2B5EF4-FFF2-40B4-BE49-F238E27FC236}">
                <a16:creationId xmlns:a16="http://schemas.microsoft.com/office/drawing/2014/main" id="{BB7B6C47-8C8E-8B54-EE37-6F89B7DE9B7B}"/>
              </a:ext>
            </a:extLst>
          </p:cNvPr>
          <p:cNvPicPr>
            <a:picLocks noChangeAspect="1"/>
          </p:cNvPicPr>
          <p:nvPr/>
        </p:nvPicPr>
        <p:blipFill>
          <a:blip r:embed="rId5"/>
          <a:stretch>
            <a:fillRect/>
          </a:stretch>
        </p:blipFill>
        <p:spPr>
          <a:xfrm>
            <a:off x="14733216" y="6399055"/>
            <a:ext cx="773044" cy="773044"/>
          </a:xfrm>
          <a:prstGeom prst="rect">
            <a:avLst/>
          </a:prstGeom>
        </p:spPr>
      </p:pic>
      <p:pic>
        <p:nvPicPr>
          <p:cNvPr id="54" name="Picture 53">
            <a:extLst>
              <a:ext uri="{FF2B5EF4-FFF2-40B4-BE49-F238E27FC236}">
                <a16:creationId xmlns:a16="http://schemas.microsoft.com/office/drawing/2014/main" id="{D81EFA76-CAD6-FFA8-850D-C8CF1515DF97}"/>
              </a:ext>
            </a:extLst>
          </p:cNvPr>
          <p:cNvPicPr>
            <a:picLocks noChangeAspect="1"/>
          </p:cNvPicPr>
          <p:nvPr/>
        </p:nvPicPr>
        <p:blipFill>
          <a:blip r:embed="rId5"/>
          <a:stretch>
            <a:fillRect/>
          </a:stretch>
        </p:blipFill>
        <p:spPr>
          <a:xfrm>
            <a:off x="13567467" y="7182223"/>
            <a:ext cx="773044" cy="773044"/>
          </a:xfrm>
          <a:prstGeom prst="rect">
            <a:avLst/>
          </a:prstGeom>
        </p:spPr>
      </p:pic>
    </p:spTree>
    <p:extLst>
      <p:ext uri="{BB962C8B-B14F-4D97-AF65-F5344CB8AC3E}">
        <p14:creationId xmlns:p14="http://schemas.microsoft.com/office/powerpoint/2010/main" val="145007985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D5960-6185-C49E-D008-4CF29A0A552D}"/>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03E407A5-5E86-39AE-9E55-0D258554D517}"/>
              </a:ext>
            </a:extLst>
          </p:cNvPr>
          <p:cNvGraphicFramePr>
            <a:graphicFrameLocks noGrp="1"/>
          </p:cNvGraphicFramePr>
          <p:nvPr/>
        </p:nvGraphicFramePr>
        <p:xfrm>
          <a:off x="5900530" y="2797021"/>
          <a:ext cx="12582940" cy="5546483"/>
        </p:xfrm>
        <a:graphic>
          <a:graphicData uri="http://schemas.openxmlformats.org/drawingml/2006/table">
            <a:tbl>
              <a:tblPr firstRow="1" bandRow="1">
                <a:tableStyleId>{5940675A-B579-460E-94D1-54222C63F5DA}</a:tableStyleId>
              </a:tblPr>
              <a:tblGrid>
                <a:gridCol w="6291470">
                  <a:extLst>
                    <a:ext uri="{9D8B030D-6E8A-4147-A177-3AD203B41FA5}">
                      <a16:colId xmlns:a16="http://schemas.microsoft.com/office/drawing/2014/main" val="3836168296"/>
                    </a:ext>
                  </a:extLst>
                </a:gridCol>
                <a:gridCol w="6291470">
                  <a:extLst>
                    <a:ext uri="{9D8B030D-6E8A-4147-A177-3AD203B41FA5}">
                      <a16:colId xmlns:a16="http://schemas.microsoft.com/office/drawing/2014/main" val="3399294042"/>
                    </a:ext>
                  </a:extLst>
                </a:gridCol>
              </a:tblGrid>
              <a:tr h="2210090">
                <a:tc>
                  <a:txBody>
                    <a:bodyPr/>
                    <a:lstStyle/>
                    <a:p>
                      <a:endParaRPr lang="en-US" dirty="0">
                        <a:solidFill>
                          <a:schemeClr val="bg1"/>
                        </a:solidFill>
                      </a:endParaRPr>
                    </a:p>
                  </a:txBody>
                  <a:tcPr>
                    <a:solidFill>
                      <a:schemeClr val="tx1">
                        <a:lumMod val="20000"/>
                        <a:lumOff val="80000"/>
                      </a:schemeClr>
                    </a:solidFill>
                  </a:tcPr>
                </a:tc>
                <a:tc>
                  <a:txBody>
                    <a:bodyPr/>
                    <a:lstStyle/>
                    <a:p>
                      <a:endParaRPr lang="en-US" dirty="0">
                        <a:solidFill>
                          <a:schemeClr val="bg1"/>
                        </a:solidFill>
                      </a:endParaRPr>
                    </a:p>
                  </a:txBody>
                  <a:tcPr>
                    <a:solidFill>
                      <a:schemeClr val="tx1">
                        <a:lumMod val="20000"/>
                        <a:lumOff val="80000"/>
                      </a:schemeClr>
                    </a:solidFill>
                  </a:tcPr>
                </a:tc>
                <a:extLst>
                  <a:ext uri="{0D108BD9-81ED-4DB2-BD59-A6C34878D82A}">
                    <a16:rowId xmlns:a16="http://schemas.microsoft.com/office/drawing/2014/main" val="2676565202"/>
                  </a:ext>
                </a:extLst>
              </a:tr>
              <a:tr h="3336393">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74986606"/>
                  </a:ext>
                </a:extLst>
              </a:tr>
            </a:tbl>
          </a:graphicData>
        </a:graphic>
      </p:graphicFrame>
      <p:sp>
        <p:nvSpPr>
          <p:cNvPr id="3" name="Title 2">
            <a:extLst>
              <a:ext uri="{FF2B5EF4-FFF2-40B4-BE49-F238E27FC236}">
                <a16:creationId xmlns:a16="http://schemas.microsoft.com/office/drawing/2014/main" id="{B8EAC0E9-9228-6417-39F8-FD2EEBC4FD45}"/>
              </a:ext>
            </a:extLst>
          </p:cNvPr>
          <p:cNvSpPr>
            <a:spLocks noGrp="1"/>
          </p:cNvSpPr>
          <p:nvPr>
            <p:ph type="title"/>
          </p:nvPr>
        </p:nvSpPr>
        <p:spPr>
          <a:xfrm>
            <a:off x="1204727" y="1779036"/>
            <a:ext cx="17145001" cy="1017985"/>
          </a:xfrm>
        </p:spPr>
        <p:txBody>
          <a:bodyPr>
            <a:normAutofit fontScale="90000"/>
          </a:bodyPr>
          <a:lstStyle/>
          <a:p>
            <a:r>
              <a:rPr lang="en-US" sz="5400" dirty="0">
                <a:solidFill>
                  <a:srgbClr val="C00000"/>
                </a:solidFill>
              </a:rPr>
              <a:t>Why? </a:t>
            </a:r>
          </a:p>
        </p:txBody>
      </p:sp>
      <p:pic>
        <p:nvPicPr>
          <p:cNvPr id="9" name="Picture 8">
            <a:extLst>
              <a:ext uri="{FF2B5EF4-FFF2-40B4-BE49-F238E27FC236}">
                <a16:creationId xmlns:a16="http://schemas.microsoft.com/office/drawing/2014/main" id="{A5E3DE57-C99C-E4CF-4EE0-7173C800A44D}"/>
              </a:ext>
            </a:extLst>
          </p:cNvPr>
          <p:cNvPicPr>
            <a:picLocks noChangeAspect="1"/>
          </p:cNvPicPr>
          <p:nvPr/>
        </p:nvPicPr>
        <p:blipFill>
          <a:blip r:embed="rId2"/>
          <a:stretch>
            <a:fillRect/>
          </a:stretch>
        </p:blipFill>
        <p:spPr>
          <a:xfrm>
            <a:off x="14387594" y="3027774"/>
            <a:ext cx="1950431" cy="1950431"/>
          </a:xfrm>
          <a:prstGeom prst="rect">
            <a:avLst/>
          </a:prstGeom>
        </p:spPr>
      </p:pic>
      <p:pic>
        <p:nvPicPr>
          <p:cNvPr id="10" name="Picture 9">
            <a:extLst>
              <a:ext uri="{FF2B5EF4-FFF2-40B4-BE49-F238E27FC236}">
                <a16:creationId xmlns:a16="http://schemas.microsoft.com/office/drawing/2014/main" id="{5542C15D-4CBA-04CC-4BA9-91DCAA9B8D75}"/>
              </a:ext>
            </a:extLst>
          </p:cNvPr>
          <p:cNvPicPr>
            <a:picLocks noChangeAspect="1"/>
          </p:cNvPicPr>
          <p:nvPr/>
        </p:nvPicPr>
        <p:blipFill>
          <a:blip r:embed="rId3"/>
          <a:stretch>
            <a:fillRect/>
          </a:stretch>
        </p:blipFill>
        <p:spPr>
          <a:xfrm>
            <a:off x="8326052" y="3050541"/>
            <a:ext cx="1904507" cy="1904507"/>
          </a:xfrm>
          <a:prstGeom prst="rect">
            <a:avLst/>
          </a:prstGeom>
        </p:spPr>
      </p:pic>
      <p:pic>
        <p:nvPicPr>
          <p:cNvPr id="14" name="Picture 13">
            <a:extLst>
              <a:ext uri="{FF2B5EF4-FFF2-40B4-BE49-F238E27FC236}">
                <a16:creationId xmlns:a16="http://schemas.microsoft.com/office/drawing/2014/main" id="{8F61CC99-1985-7613-8E66-0366998A2CA6}"/>
              </a:ext>
            </a:extLst>
          </p:cNvPr>
          <p:cNvPicPr>
            <a:picLocks noChangeAspect="1"/>
          </p:cNvPicPr>
          <p:nvPr/>
        </p:nvPicPr>
        <p:blipFill>
          <a:blip r:embed="rId4"/>
          <a:stretch>
            <a:fillRect/>
          </a:stretch>
        </p:blipFill>
        <p:spPr>
          <a:xfrm>
            <a:off x="7761143" y="7093924"/>
            <a:ext cx="843722" cy="843722"/>
          </a:xfrm>
          <a:prstGeom prst="rect">
            <a:avLst/>
          </a:prstGeom>
        </p:spPr>
      </p:pic>
      <p:pic>
        <p:nvPicPr>
          <p:cNvPr id="17" name="Picture 16">
            <a:extLst>
              <a:ext uri="{FF2B5EF4-FFF2-40B4-BE49-F238E27FC236}">
                <a16:creationId xmlns:a16="http://schemas.microsoft.com/office/drawing/2014/main" id="{A3DD8889-2E57-D3D4-73BF-9727920531AB}"/>
              </a:ext>
            </a:extLst>
          </p:cNvPr>
          <p:cNvPicPr>
            <a:picLocks noChangeAspect="1"/>
          </p:cNvPicPr>
          <p:nvPr/>
        </p:nvPicPr>
        <p:blipFill>
          <a:blip r:embed="rId4"/>
          <a:stretch>
            <a:fillRect/>
          </a:stretch>
        </p:blipFill>
        <p:spPr>
          <a:xfrm>
            <a:off x="7904191" y="5508402"/>
            <a:ext cx="843722" cy="843722"/>
          </a:xfrm>
          <a:prstGeom prst="rect">
            <a:avLst/>
          </a:prstGeom>
        </p:spPr>
      </p:pic>
      <p:pic>
        <p:nvPicPr>
          <p:cNvPr id="18" name="Picture 17">
            <a:extLst>
              <a:ext uri="{FF2B5EF4-FFF2-40B4-BE49-F238E27FC236}">
                <a16:creationId xmlns:a16="http://schemas.microsoft.com/office/drawing/2014/main" id="{CCCF624E-4CE4-DB65-CAF6-7365968662F7}"/>
              </a:ext>
            </a:extLst>
          </p:cNvPr>
          <p:cNvPicPr>
            <a:picLocks noChangeAspect="1"/>
          </p:cNvPicPr>
          <p:nvPr/>
        </p:nvPicPr>
        <p:blipFill>
          <a:blip r:embed="rId4"/>
          <a:stretch>
            <a:fillRect/>
          </a:stretch>
        </p:blipFill>
        <p:spPr>
          <a:xfrm>
            <a:off x="15678011" y="7085777"/>
            <a:ext cx="843722" cy="843722"/>
          </a:xfrm>
          <a:prstGeom prst="rect">
            <a:avLst/>
          </a:prstGeom>
        </p:spPr>
      </p:pic>
      <p:pic>
        <p:nvPicPr>
          <p:cNvPr id="19" name="Picture 18">
            <a:extLst>
              <a:ext uri="{FF2B5EF4-FFF2-40B4-BE49-F238E27FC236}">
                <a16:creationId xmlns:a16="http://schemas.microsoft.com/office/drawing/2014/main" id="{BC96F55B-9D34-13FB-6833-589E4B69D2AB}"/>
              </a:ext>
            </a:extLst>
          </p:cNvPr>
          <p:cNvPicPr>
            <a:picLocks noChangeAspect="1"/>
          </p:cNvPicPr>
          <p:nvPr/>
        </p:nvPicPr>
        <p:blipFill>
          <a:blip r:embed="rId4"/>
          <a:stretch>
            <a:fillRect/>
          </a:stretch>
        </p:blipFill>
        <p:spPr>
          <a:xfrm>
            <a:off x="7335357" y="6192828"/>
            <a:ext cx="843722" cy="843722"/>
          </a:xfrm>
          <a:prstGeom prst="rect">
            <a:avLst/>
          </a:prstGeom>
        </p:spPr>
      </p:pic>
      <p:pic>
        <p:nvPicPr>
          <p:cNvPr id="20" name="Picture 19">
            <a:extLst>
              <a:ext uri="{FF2B5EF4-FFF2-40B4-BE49-F238E27FC236}">
                <a16:creationId xmlns:a16="http://schemas.microsoft.com/office/drawing/2014/main" id="{D313C217-09BB-0D95-9A0A-0C540C980817}"/>
              </a:ext>
            </a:extLst>
          </p:cNvPr>
          <p:cNvPicPr>
            <a:picLocks noChangeAspect="1"/>
          </p:cNvPicPr>
          <p:nvPr/>
        </p:nvPicPr>
        <p:blipFill>
          <a:blip r:embed="rId4"/>
          <a:stretch>
            <a:fillRect/>
          </a:stretch>
        </p:blipFill>
        <p:spPr>
          <a:xfrm>
            <a:off x="14290652" y="7100217"/>
            <a:ext cx="843722" cy="843722"/>
          </a:xfrm>
          <a:prstGeom prst="rect">
            <a:avLst/>
          </a:prstGeom>
        </p:spPr>
      </p:pic>
      <p:pic>
        <p:nvPicPr>
          <p:cNvPr id="21" name="Picture 20">
            <a:extLst>
              <a:ext uri="{FF2B5EF4-FFF2-40B4-BE49-F238E27FC236}">
                <a16:creationId xmlns:a16="http://schemas.microsoft.com/office/drawing/2014/main" id="{999DC44E-1683-3A52-E317-22D2B0767195}"/>
              </a:ext>
            </a:extLst>
          </p:cNvPr>
          <p:cNvPicPr>
            <a:picLocks noChangeAspect="1"/>
          </p:cNvPicPr>
          <p:nvPr/>
        </p:nvPicPr>
        <p:blipFill>
          <a:blip r:embed="rId4"/>
          <a:stretch>
            <a:fillRect/>
          </a:stretch>
        </p:blipFill>
        <p:spPr>
          <a:xfrm>
            <a:off x="10028047" y="6101001"/>
            <a:ext cx="843722" cy="843722"/>
          </a:xfrm>
          <a:prstGeom prst="rect">
            <a:avLst/>
          </a:prstGeom>
        </p:spPr>
      </p:pic>
      <p:pic>
        <p:nvPicPr>
          <p:cNvPr id="22" name="Picture 21">
            <a:extLst>
              <a:ext uri="{FF2B5EF4-FFF2-40B4-BE49-F238E27FC236}">
                <a16:creationId xmlns:a16="http://schemas.microsoft.com/office/drawing/2014/main" id="{EBAB1D85-77BE-72A0-7DCB-E657C79CD430}"/>
              </a:ext>
            </a:extLst>
          </p:cNvPr>
          <p:cNvPicPr>
            <a:picLocks noChangeAspect="1"/>
          </p:cNvPicPr>
          <p:nvPr/>
        </p:nvPicPr>
        <p:blipFill>
          <a:blip r:embed="rId4"/>
          <a:stretch>
            <a:fillRect/>
          </a:stretch>
        </p:blipFill>
        <p:spPr>
          <a:xfrm>
            <a:off x="8162609" y="6466873"/>
            <a:ext cx="843722" cy="843722"/>
          </a:xfrm>
          <a:prstGeom prst="rect">
            <a:avLst/>
          </a:prstGeom>
        </p:spPr>
      </p:pic>
      <p:pic>
        <p:nvPicPr>
          <p:cNvPr id="23" name="Picture 22">
            <a:extLst>
              <a:ext uri="{FF2B5EF4-FFF2-40B4-BE49-F238E27FC236}">
                <a16:creationId xmlns:a16="http://schemas.microsoft.com/office/drawing/2014/main" id="{55CD1AA3-4214-3881-8C61-06996333260E}"/>
              </a:ext>
            </a:extLst>
          </p:cNvPr>
          <p:cNvPicPr>
            <a:picLocks noChangeAspect="1"/>
          </p:cNvPicPr>
          <p:nvPr/>
        </p:nvPicPr>
        <p:blipFill>
          <a:blip r:embed="rId4"/>
          <a:stretch>
            <a:fillRect/>
          </a:stretch>
        </p:blipFill>
        <p:spPr>
          <a:xfrm>
            <a:off x="14903624" y="5468202"/>
            <a:ext cx="843722" cy="843722"/>
          </a:xfrm>
          <a:prstGeom prst="rect">
            <a:avLst/>
          </a:prstGeom>
        </p:spPr>
      </p:pic>
      <p:pic>
        <p:nvPicPr>
          <p:cNvPr id="24" name="Picture 23">
            <a:extLst>
              <a:ext uri="{FF2B5EF4-FFF2-40B4-BE49-F238E27FC236}">
                <a16:creationId xmlns:a16="http://schemas.microsoft.com/office/drawing/2014/main" id="{174297EB-0441-8CD9-8CD7-0D6A52B862FE}"/>
              </a:ext>
            </a:extLst>
          </p:cNvPr>
          <p:cNvPicPr>
            <a:picLocks noChangeAspect="1"/>
          </p:cNvPicPr>
          <p:nvPr/>
        </p:nvPicPr>
        <p:blipFill>
          <a:blip r:embed="rId4"/>
          <a:stretch>
            <a:fillRect/>
          </a:stretch>
        </p:blipFill>
        <p:spPr>
          <a:xfrm>
            <a:off x="9689271" y="7093924"/>
            <a:ext cx="843722" cy="843722"/>
          </a:xfrm>
          <a:prstGeom prst="rect">
            <a:avLst/>
          </a:prstGeom>
        </p:spPr>
      </p:pic>
      <p:pic>
        <p:nvPicPr>
          <p:cNvPr id="25" name="Picture 24">
            <a:extLst>
              <a:ext uri="{FF2B5EF4-FFF2-40B4-BE49-F238E27FC236}">
                <a16:creationId xmlns:a16="http://schemas.microsoft.com/office/drawing/2014/main" id="{0C98D6C1-C2AE-FE08-6386-43DBBB5159F3}"/>
              </a:ext>
            </a:extLst>
          </p:cNvPr>
          <p:cNvPicPr>
            <a:picLocks noChangeAspect="1"/>
          </p:cNvPicPr>
          <p:nvPr/>
        </p:nvPicPr>
        <p:blipFill>
          <a:blip r:embed="rId4"/>
          <a:stretch>
            <a:fillRect/>
          </a:stretch>
        </p:blipFill>
        <p:spPr>
          <a:xfrm>
            <a:off x="15642155" y="5890063"/>
            <a:ext cx="843722" cy="843722"/>
          </a:xfrm>
          <a:prstGeom prst="rect">
            <a:avLst/>
          </a:prstGeom>
        </p:spPr>
      </p:pic>
      <p:pic>
        <p:nvPicPr>
          <p:cNvPr id="26" name="Picture 25">
            <a:extLst>
              <a:ext uri="{FF2B5EF4-FFF2-40B4-BE49-F238E27FC236}">
                <a16:creationId xmlns:a16="http://schemas.microsoft.com/office/drawing/2014/main" id="{BE1D3505-DFCD-81FD-CFEC-F75C4DE50DDB}"/>
              </a:ext>
            </a:extLst>
          </p:cNvPr>
          <p:cNvPicPr>
            <a:picLocks noChangeAspect="1"/>
          </p:cNvPicPr>
          <p:nvPr/>
        </p:nvPicPr>
        <p:blipFill>
          <a:blip r:embed="rId4"/>
          <a:stretch>
            <a:fillRect/>
          </a:stretch>
        </p:blipFill>
        <p:spPr>
          <a:xfrm>
            <a:off x="9382183" y="5579080"/>
            <a:ext cx="843722" cy="843722"/>
          </a:xfrm>
          <a:prstGeom prst="rect">
            <a:avLst/>
          </a:prstGeom>
        </p:spPr>
      </p:pic>
      <p:pic>
        <p:nvPicPr>
          <p:cNvPr id="27" name="Picture 26">
            <a:extLst>
              <a:ext uri="{FF2B5EF4-FFF2-40B4-BE49-F238E27FC236}">
                <a16:creationId xmlns:a16="http://schemas.microsoft.com/office/drawing/2014/main" id="{160C3A2C-D8CF-D22C-3680-E4FC567643A5}"/>
              </a:ext>
            </a:extLst>
          </p:cNvPr>
          <p:cNvPicPr>
            <a:picLocks noChangeAspect="1"/>
          </p:cNvPicPr>
          <p:nvPr/>
        </p:nvPicPr>
        <p:blipFill>
          <a:blip r:embed="rId5"/>
          <a:stretch>
            <a:fillRect/>
          </a:stretch>
        </p:blipFill>
        <p:spPr>
          <a:xfrm>
            <a:off x="14001072" y="5439112"/>
            <a:ext cx="773044" cy="773044"/>
          </a:xfrm>
          <a:prstGeom prst="rect">
            <a:avLst/>
          </a:prstGeom>
        </p:spPr>
      </p:pic>
      <p:pic>
        <p:nvPicPr>
          <p:cNvPr id="28" name="Picture 27">
            <a:extLst>
              <a:ext uri="{FF2B5EF4-FFF2-40B4-BE49-F238E27FC236}">
                <a16:creationId xmlns:a16="http://schemas.microsoft.com/office/drawing/2014/main" id="{9B000DF4-0255-CE33-74B7-DD9466B15903}"/>
              </a:ext>
            </a:extLst>
          </p:cNvPr>
          <p:cNvPicPr>
            <a:picLocks noChangeAspect="1"/>
          </p:cNvPicPr>
          <p:nvPr/>
        </p:nvPicPr>
        <p:blipFill>
          <a:blip r:embed="rId5"/>
          <a:stretch>
            <a:fillRect/>
          </a:stretch>
        </p:blipFill>
        <p:spPr>
          <a:xfrm>
            <a:off x="15147588" y="7032103"/>
            <a:ext cx="773044" cy="773044"/>
          </a:xfrm>
          <a:prstGeom prst="rect">
            <a:avLst/>
          </a:prstGeom>
        </p:spPr>
      </p:pic>
      <p:pic>
        <p:nvPicPr>
          <p:cNvPr id="29" name="Picture 28">
            <a:extLst>
              <a:ext uri="{FF2B5EF4-FFF2-40B4-BE49-F238E27FC236}">
                <a16:creationId xmlns:a16="http://schemas.microsoft.com/office/drawing/2014/main" id="{3BD1F79F-4663-5838-C3C5-694E965B3A70}"/>
              </a:ext>
            </a:extLst>
          </p:cNvPr>
          <p:cNvPicPr>
            <a:picLocks noChangeAspect="1"/>
          </p:cNvPicPr>
          <p:nvPr/>
        </p:nvPicPr>
        <p:blipFill>
          <a:blip r:embed="rId5"/>
          <a:stretch>
            <a:fillRect/>
          </a:stretch>
        </p:blipFill>
        <p:spPr>
          <a:xfrm>
            <a:off x="9097532" y="6535741"/>
            <a:ext cx="830570" cy="830570"/>
          </a:xfrm>
          <a:prstGeom prst="rect">
            <a:avLst/>
          </a:prstGeom>
        </p:spPr>
      </p:pic>
      <p:pic>
        <p:nvPicPr>
          <p:cNvPr id="30" name="Picture 29">
            <a:extLst>
              <a:ext uri="{FF2B5EF4-FFF2-40B4-BE49-F238E27FC236}">
                <a16:creationId xmlns:a16="http://schemas.microsoft.com/office/drawing/2014/main" id="{38921090-C28E-A7EF-E584-D5AC28E538F1}"/>
              </a:ext>
            </a:extLst>
          </p:cNvPr>
          <p:cNvPicPr>
            <a:picLocks noChangeAspect="1"/>
          </p:cNvPicPr>
          <p:nvPr/>
        </p:nvPicPr>
        <p:blipFill>
          <a:blip r:embed="rId5"/>
          <a:stretch>
            <a:fillRect/>
          </a:stretch>
        </p:blipFill>
        <p:spPr>
          <a:xfrm>
            <a:off x="8688278" y="5508402"/>
            <a:ext cx="830570" cy="830570"/>
          </a:xfrm>
          <a:prstGeom prst="rect">
            <a:avLst/>
          </a:prstGeom>
        </p:spPr>
      </p:pic>
      <p:pic>
        <p:nvPicPr>
          <p:cNvPr id="31" name="Picture 30">
            <a:extLst>
              <a:ext uri="{FF2B5EF4-FFF2-40B4-BE49-F238E27FC236}">
                <a16:creationId xmlns:a16="http://schemas.microsoft.com/office/drawing/2014/main" id="{9721A510-63CA-AEAF-547C-6A241EDF7A98}"/>
              </a:ext>
            </a:extLst>
          </p:cNvPr>
          <p:cNvPicPr>
            <a:picLocks noChangeAspect="1"/>
          </p:cNvPicPr>
          <p:nvPr/>
        </p:nvPicPr>
        <p:blipFill>
          <a:blip r:embed="rId5"/>
          <a:stretch>
            <a:fillRect/>
          </a:stretch>
        </p:blipFill>
        <p:spPr>
          <a:xfrm>
            <a:off x="8711010" y="7205043"/>
            <a:ext cx="773044" cy="773044"/>
          </a:xfrm>
          <a:prstGeom prst="rect">
            <a:avLst/>
          </a:prstGeom>
        </p:spPr>
      </p:pic>
      <p:pic>
        <p:nvPicPr>
          <p:cNvPr id="32" name="Picture 31">
            <a:extLst>
              <a:ext uri="{FF2B5EF4-FFF2-40B4-BE49-F238E27FC236}">
                <a16:creationId xmlns:a16="http://schemas.microsoft.com/office/drawing/2014/main" id="{74DF4A97-9397-C46D-8BE6-A02EBB744BE2}"/>
              </a:ext>
            </a:extLst>
          </p:cNvPr>
          <p:cNvPicPr>
            <a:picLocks noChangeAspect="1"/>
          </p:cNvPicPr>
          <p:nvPr/>
        </p:nvPicPr>
        <p:blipFill>
          <a:blip r:embed="rId5"/>
          <a:stretch>
            <a:fillRect/>
          </a:stretch>
        </p:blipFill>
        <p:spPr>
          <a:xfrm>
            <a:off x="7010304" y="6982637"/>
            <a:ext cx="830570" cy="830570"/>
          </a:xfrm>
          <a:prstGeom prst="rect">
            <a:avLst/>
          </a:prstGeom>
        </p:spPr>
      </p:pic>
      <p:pic>
        <p:nvPicPr>
          <p:cNvPr id="33" name="Picture 32">
            <a:extLst>
              <a:ext uri="{FF2B5EF4-FFF2-40B4-BE49-F238E27FC236}">
                <a16:creationId xmlns:a16="http://schemas.microsoft.com/office/drawing/2014/main" id="{D7083DF4-FFDA-B762-DFDD-AA76D0D8DB5E}"/>
              </a:ext>
            </a:extLst>
          </p:cNvPr>
          <p:cNvPicPr>
            <a:picLocks noChangeAspect="1"/>
          </p:cNvPicPr>
          <p:nvPr/>
        </p:nvPicPr>
        <p:blipFill>
          <a:blip r:embed="rId4"/>
          <a:stretch>
            <a:fillRect/>
          </a:stretch>
        </p:blipFill>
        <p:spPr>
          <a:xfrm>
            <a:off x="16363825" y="5728901"/>
            <a:ext cx="843722" cy="843722"/>
          </a:xfrm>
          <a:prstGeom prst="rect">
            <a:avLst/>
          </a:prstGeom>
        </p:spPr>
      </p:pic>
      <p:pic>
        <p:nvPicPr>
          <p:cNvPr id="34" name="Picture 33">
            <a:extLst>
              <a:ext uri="{FF2B5EF4-FFF2-40B4-BE49-F238E27FC236}">
                <a16:creationId xmlns:a16="http://schemas.microsoft.com/office/drawing/2014/main" id="{C4CA2BE2-B272-EB7A-2301-188BE9194D34}"/>
              </a:ext>
            </a:extLst>
          </p:cNvPr>
          <p:cNvPicPr>
            <a:picLocks noChangeAspect="1"/>
          </p:cNvPicPr>
          <p:nvPr/>
        </p:nvPicPr>
        <p:blipFill>
          <a:blip r:embed="rId4"/>
          <a:stretch>
            <a:fillRect/>
          </a:stretch>
        </p:blipFill>
        <p:spPr>
          <a:xfrm>
            <a:off x="16259586" y="7376076"/>
            <a:ext cx="843722" cy="843722"/>
          </a:xfrm>
          <a:prstGeom prst="rect">
            <a:avLst/>
          </a:prstGeom>
        </p:spPr>
      </p:pic>
      <p:pic>
        <p:nvPicPr>
          <p:cNvPr id="35" name="Picture 34">
            <a:extLst>
              <a:ext uri="{FF2B5EF4-FFF2-40B4-BE49-F238E27FC236}">
                <a16:creationId xmlns:a16="http://schemas.microsoft.com/office/drawing/2014/main" id="{F7001ADB-6C57-9162-2319-CF916D062CCA}"/>
              </a:ext>
            </a:extLst>
          </p:cNvPr>
          <p:cNvPicPr>
            <a:picLocks noChangeAspect="1"/>
          </p:cNvPicPr>
          <p:nvPr/>
        </p:nvPicPr>
        <p:blipFill>
          <a:blip r:embed="rId4"/>
          <a:stretch>
            <a:fillRect/>
          </a:stretch>
        </p:blipFill>
        <p:spPr>
          <a:xfrm>
            <a:off x="16334713" y="6725023"/>
            <a:ext cx="843722" cy="843722"/>
          </a:xfrm>
          <a:prstGeom prst="rect">
            <a:avLst/>
          </a:prstGeom>
        </p:spPr>
      </p:pic>
      <p:pic>
        <p:nvPicPr>
          <p:cNvPr id="36" name="Picture 35">
            <a:extLst>
              <a:ext uri="{FF2B5EF4-FFF2-40B4-BE49-F238E27FC236}">
                <a16:creationId xmlns:a16="http://schemas.microsoft.com/office/drawing/2014/main" id="{D5179BF1-B018-5E6A-05E1-AE34D061CDFE}"/>
              </a:ext>
            </a:extLst>
          </p:cNvPr>
          <p:cNvPicPr>
            <a:picLocks noChangeAspect="1"/>
          </p:cNvPicPr>
          <p:nvPr/>
        </p:nvPicPr>
        <p:blipFill>
          <a:blip r:embed="rId4"/>
          <a:stretch>
            <a:fillRect/>
          </a:stretch>
        </p:blipFill>
        <p:spPr>
          <a:xfrm>
            <a:off x="13803956" y="6169364"/>
            <a:ext cx="843722" cy="843722"/>
          </a:xfrm>
          <a:prstGeom prst="rect">
            <a:avLst/>
          </a:prstGeom>
        </p:spPr>
      </p:pic>
      <p:pic>
        <p:nvPicPr>
          <p:cNvPr id="37" name="Picture 36">
            <a:extLst>
              <a:ext uri="{FF2B5EF4-FFF2-40B4-BE49-F238E27FC236}">
                <a16:creationId xmlns:a16="http://schemas.microsoft.com/office/drawing/2014/main" id="{7783BE5C-16C8-A2A2-9B31-C7F1E220955C}"/>
              </a:ext>
            </a:extLst>
          </p:cNvPr>
          <p:cNvPicPr>
            <a:picLocks noChangeAspect="1"/>
          </p:cNvPicPr>
          <p:nvPr/>
        </p:nvPicPr>
        <p:blipFill>
          <a:blip r:embed="rId5"/>
          <a:stretch>
            <a:fillRect/>
          </a:stretch>
        </p:blipFill>
        <p:spPr>
          <a:xfrm>
            <a:off x="14733216" y="6399055"/>
            <a:ext cx="773044" cy="773044"/>
          </a:xfrm>
          <a:prstGeom prst="rect">
            <a:avLst/>
          </a:prstGeom>
        </p:spPr>
      </p:pic>
      <p:pic>
        <p:nvPicPr>
          <p:cNvPr id="38" name="Picture 37">
            <a:extLst>
              <a:ext uri="{FF2B5EF4-FFF2-40B4-BE49-F238E27FC236}">
                <a16:creationId xmlns:a16="http://schemas.microsoft.com/office/drawing/2014/main" id="{D4AC85DF-6D79-19C6-218A-BB77C5878687}"/>
              </a:ext>
            </a:extLst>
          </p:cNvPr>
          <p:cNvPicPr>
            <a:picLocks noChangeAspect="1"/>
          </p:cNvPicPr>
          <p:nvPr/>
        </p:nvPicPr>
        <p:blipFill>
          <a:blip r:embed="rId5"/>
          <a:stretch>
            <a:fillRect/>
          </a:stretch>
        </p:blipFill>
        <p:spPr>
          <a:xfrm>
            <a:off x="13567467" y="7182223"/>
            <a:ext cx="773044" cy="773044"/>
          </a:xfrm>
          <a:prstGeom prst="rect">
            <a:avLst/>
          </a:prstGeom>
        </p:spPr>
      </p:pic>
      <p:sp>
        <p:nvSpPr>
          <p:cNvPr id="4" name="Rounded Rectangle 3">
            <a:extLst>
              <a:ext uri="{FF2B5EF4-FFF2-40B4-BE49-F238E27FC236}">
                <a16:creationId xmlns:a16="http://schemas.microsoft.com/office/drawing/2014/main" id="{FB286596-F98F-2A1E-8A1F-D46F26213840}"/>
              </a:ext>
            </a:extLst>
          </p:cNvPr>
          <p:cNvSpPr/>
          <p:nvPr/>
        </p:nvSpPr>
        <p:spPr>
          <a:xfrm>
            <a:off x="715617" y="4002794"/>
            <a:ext cx="4627367" cy="3926705"/>
          </a:xfrm>
          <a:prstGeom prst="roundRect">
            <a:avLst/>
          </a:prstGeom>
          <a:solidFill>
            <a:srgbClr val="48AAA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a:ln>
                <a:noFill/>
              </a:ln>
              <a:solidFill>
                <a:srgbClr val="FFFFFF"/>
              </a:solidFill>
              <a:effectLst/>
              <a:uFillTx/>
              <a:latin typeface="DIN Condensed Bold"/>
              <a:ea typeface="DIN Condensed Bold"/>
              <a:cs typeface="DIN Condensed Bold"/>
              <a:sym typeface="DIN Condensed Bold"/>
            </a:endParaRPr>
          </a:p>
        </p:txBody>
      </p:sp>
      <p:sp>
        <p:nvSpPr>
          <p:cNvPr id="6" name="TextBox 5">
            <a:extLst>
              <a:ext uri="{FF2B5EF4-FFF2-40B4-BE49-F238E27FC236}">
                <a16:creationId xmlns:a16="http://schemas.microsoft.com/office/drawing/2014/main" id="{A9348174-CC66-7EA4-64B7-69E2DB03AEAF}"/>
              </a:ext>
            </a:extLst>
          </p:cNvPr>
          <p:cNvSpPr txBox="1"/>
          <p:nvPr/>
        </p:nvSpPr>
        <p:spPr>
          <a:xfrm>
            <a:off x="1078948" y="4926350"/>
            <a:ext cx="3756991" cy="17985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3300"/>
              </a:spcBef>
              <a:spcAft>
                <a:spcPts val="0"/>
              </a:spcAft>
              <a:buClrTx/>
              <a:buSzTx/>
              <a:buFontTx/>
              <a:buNone/>
              <a:tabLst/>
            </a:pPr>
            <a:r>
              <a:rPr kumimoji="0" lang="en-US" sz="4000" b="0" i="0" u="none" strike="noStrike" cap="none" spc="0" normalizeH="0" baseline="0" dirty="0">
                <a:ln>
                  <a:noFill/>
                </a:ln>
                <a:solidFill>
                  <a:srgbClr val="F7F7F7"/>
                </a:solidFill>
                <a:effectLst/>
                <a:uFillTx/>
                <a:latin typeface="+mn-lt"/>
                <a:ea typeface="Avenir Next Medium"/>
                <a:cs typeface="Avenir Next Medium"/>
                <a:sym typeface="Avenir Next Medium"/>
              </a:rPr>
              <a:t>Observational data</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162E836-62BB-2735-FC67-8DA8BA4166A5}"/>
                  </a:ext>
                </a:extLst>
              </p:cNvPr>
              <p:cNvSpPr txBox="1"/>
              <p:nvPr/>
            </p:nvSpPr>
            <p:spPr>
              <a:xfrm>
                <a:off x="11120016" y="5189600"/>
                <a:ext cx="2122376" cy="25545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l" defTabSz="821531" rtl="0" fontAlgn="auto" latinLnBrk="0" hangingPunct="0">
                  <a:lnSpc>
                    <a:spcPct val="100000"/>
                  </a:lnSpc>
                  <a:spcBef>
                    <a:spcPts val="330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16600" b="0" i="1" u="none" strike="noStrike" cap="none" spc="0" normalizeH="0" baseline="0" smtClean="0">
                          <a:ln>
                            <a:noFill/>
                          </a:ln>
                          <a:solidFill>
                            <a:schemeClr val="bg1"/>
                          </a:solidFill>
                          <a:effectLst/>
                          <a:uFillTx/>
                          <a:latin typeface="Cambria Math" panose="02040503050406030204" pitchFamily="18" charset="0"/>
                          <a:ea typeface="Cambria Math" panose="02040503050406030204" pitchFamily="18" charset="0"/>
                          <a:sym typeface="Avenir Next Medium"/>
                        </a:rPr>
                        <m:t>≠</m:t>
                      </m:r>
                    </m:oMath>
                  </m:oMathPara>
                </a14:m>
                <a:endParaRPr kumimoji="0" lang="en-US" sz="16600" b="0" i="0" u="none" strike="noStrike" cap="none" spc="0" normalizeH="0" baseline="0" dirty="0">
                  <a:ln>
                    <a:noFill/>
                  </a:ln>
                  <a:solidFill>
                    <a:schemeClr val="bg1"/>
                  </a:solidFill>
                  <a:effectLst/>
                  <a:uFillTx/>
                  <a:sym typeface="Avenir Next Medium"/>
                </a:endParaRPr>
              </a:p>
            </p:txBody>
          </p:sp>
        </mc:Choice>
        <mc:Fallback xmlns="">
          <p:sp>
            <p:nvSpPr>
              <p:cNvPr id="7" name="TextBox 6">
                <a:extLst>
                  <a:ext uri="{FF2B5EF4-FFF2-40B4-BE49-F238E27FC236}">
                    <a16:creationId xmlns:a16="http://schemas.microsoft.com/office/drawing/2014/main" id="{4162E836-62BB-2735-FC67-8DA8BA4166A5}"/>
                  </a:ext>
                </a:extLst>
              </p:cNvPr>
              <p:cNvSpPr txBox="1">
                <a:spLocks noRot="1" noChangeAspect="1" noMove="1" noResize="1" noEditPoints="1" noAdjustHandles="1" noChangeArrowheads="1" noChangeShapeType="1" noTextEdit="1"/>
              </p:cNvSpPr>
              <p:nvPr/>
            </p:nvSpPr>
            <p:spPr>
              <a:xfrm>
                <a:off x="11120016" y="5189600"/>
                <a:ext cx="2122376" cy="2554545"/>
              </a:xfrm>
              <a:prstGeom prst="rect">
                <a:avLst/>
              </a:prstGeom>
              <a:blipFill>
                <a:blip r:embed="rId6"/>
                <a:stretch>
                  <a:fillRect l="-16667" r="-16667" b="-990"/>
                </a:stretch>
              </a:blipFill>
              <a:ln w="12700" cap="flat">
                <a:noFill/>
                <a:miter lim="400000"/>
              </a:ln>
              <a:effectLst/>
            </p:spPr>
            <p:txBody>
              <a:bodyPr/>
              <a:lstStyle/>
              <a:p>
                <a:r>
                  <a:rPr lang="en-US">
                    <a:noFill/>
                  </a:rPr>
                  <a:t> </a:t>
                </a:r>
              </a:p>
            </p:txBody>
          </p:sp>
        </mc:Fallback>
      </mc:AlternateContent>
      <p:graphicFrame>
        <p:nvGraphicFramePr>
          <p:cNvPr id="8" name="Table 7">
            <a:extLst>
              <a:ext uri="{FF2B5EF4-FFF2-40B4-BE49-F238E27FC236}">
                <a16:creationId xmlns:a16="http://schemas.microsoft.com/office/drawing/2014/main" id="{887C79B7-A98A-844E-9DAD-CD290EF3C37D}"/>
              </a:ext>
            </a:extLst>
          </p:cNvPr>
          <p:cNvGraphicFramePr>
            <a:graphicFrameLocks noGrp="1"/>
          </p:cNvGraphicFramePr>
          <p:nvPr>
            <p:extLst>
              <p:ext uri="{D42A27DB-BD31-4B8C-83A1-F6EECF244321}">
                <p14:modId xmlns:p14="http://schemas.microsoft.com/office/powerpoint/2010/main" val="475177247"/>
              </p:ext>
            </p:extLst>
          </p:nvPr>
        </p:nvGraphicFramePr>
        <p:xfrm>
          <a:off x="4123633" y="8976552"/>
          <a:ext cx="16609392" cy="4083518"/>
        </p:xfrm>
        <a:graphic>
          <a:graphicData uri="http://schemas.openxmlformats.org/drawingml/2006/table">
            <a:tbl>
              <a:tblPr firstRow="1" bandRow="1">
                <a:tableStyleId>{5940675A-B579-460E-94D1-54222C63F5DA}</a:tableStyleId>
              </a:tblPr>
              <a:tblGrid>
                <a:gridCol w="4152348">
                  <a:extLst>
                    <a:ext uri="{9D8B030D-6E8A-4147-A177-3AD203B41FA5}">
                      <a16:colId xmlns:a16="http://schemas.microsoft.com/office/drawing/2014/main" val="3257784515"/>
                    </a:ext>
                  </a:extLst>
                </a:gridCol>
                <a:gridCol w="4152348">
                  <a:extLst>
                    <a:ext uri="{9D8B030D-6E8A-4147-A177-3AD203B41FA5}">
                      <a16:colId xmlns:a16="http://schemas.microsoft.com/office/drawing/2014/main" val="1766768459"/>
                    </a:ext>
                  </a:extLst>
                </a:gridCol>
                <a:gridCol w="4152348">
                  <a:extLst>
                    <a:ext uri="{9D8B030D-6E8A-4147-A177-3AD203B41FA5}">
                      <a16:colId xmlns:a16="http://schemas.microsoft.com/office/drawing/2014/main" val="2735647125"/>
                    </a:ext>
                  </a:extLst>
                </a:gridCol>
                <a:gridCol w="4152348">
                  <a:extLst>
                    <a:ext uri="{9D8B030D-6E8A-4147-A177-3AD203B41FA5}">
                      <a16:colId xmlns:a16="http://schemas.microsoft.com/office/drawing/2014/main" val="3269278325"/>
                    </a:ext>
                  </a:extLst>
                </a:gridCol>
              </a:tblGrid>
              <a:tr h="763111">
                <a:tc>
                  <a:txBody>
                    <a:bodyPr/>
                    <a:lstStyle/>
                    <a:p>
                      <a:pPr algn="ctr"/>
                      <a:r>
                        <a:rPr lang="en-US" dirty="0">
                          <a:solidFill>
                            <a:srgbClr val="F7F7F7"/>
                          </a:solidFill>
                        </a:rPr>
                        <a:t>Type of confounding</a:t>
                      </a:r>
                    </a:p>
                  </a:txBody>
                  <a:tcPr anchor="ctr">
                    <a:solidFill>
                      <a:srgbClr val="48AAAF"/>
                    </a:solidFill>
                  </a:tcPr>
                </a:tc>
                <a:tc>
                  <a:txBody>
                    <a:bodyPr/>
                    <a:lstStyle/>
                    <a:p>
                      <a:pPr algn="ctr"/>
                      <a:r>
                        <a:rPr lang="en-US" dirty="0">
                          <a:solidFill>
                            <a:srgbClr val="F7F7F7"/>
                          </a:solidFill>
                        </a:rPr>
                        <a:t>What is it?</a:t>
                      </a:r>
                    </a:p>
                  </a:txBody>
                  <a:tcPr anchor="ctr">
                    <a:solidFill>
                      <a:srgbClr val="48AAAF"/>
                    </a:solidFill>
                  </a:tcPr>
                </a:tc>
                <a:tc>
                  <a:txBody>
                    <a:bodyPr/>
                    <a:lstStyle/>
                    <a:p>
                      <a:pPr algn="ctr"/>
                      <a:r>
                        <a:rPr lang="en-US" dirty="0">
                          <a:solidFill>
                            <a:srgbClr val="F7F7F7"/>
                          </a:solidFill>
                        </a:rPr>
                        <a:t>Examples</a:t>
                      </a:r>
                    </a:p>
                  </a:txBody>
                  <a:tcPr anchor="ctr">
                    <a:solidFill>
                      <a:srgbClr val="48AAAF"/>
                    </a:solidFill>
                  </a:tcPr>
                </a:tc>
                <a:tc>
                  <a:txBody>
                    <a:bodyPr/>
                    <a:lstStyle/>
                    <a:p>
                      <a:pPr algn="ctr"/>
                      <a:r>
                        <a:rPr lang="en-US" dirty="0">
                          <a:solidFill>
                            <a:srgbClr val="F7F7F7"/>
                          </a:solidFill>
                        </a:rPr>
                        <a:t>Solutions</a:t>
                      </a:r>
                    </a:p>
                  </a:txBody>
                  <a:tcPr anchor="ctr">
                    <a:solidFill>
                      <a:srgbClr val="48AAAF"/>
                    </a:solidFill>
                  </a:tcPr>
                </a:tc>
                <a:extLst>
                  <a:ext uri="{0D108BD9-81ED-4DB2-BD59-A6C34878D82A}">
                    <a16:rowId xmlns:a16="http://schemas.microsoft.com/office/drawing/2014/main" val="1528231449"/>
                  </a:ext>
                </a:extLst>
              </a:tr>
              <a:tr h="1903697">
                <a:tc>
                  <a:txBody>
                    <a:bodyPr/>
                    <a:lstStyle/>
                    <a:p>
                      <a:pPr algn="ctr"/>
                      <a:r>
                        <a:rPr lang="en-US" b="1" dirty="0">
                          <a:solidFill>
                            <a:schemeClr val="bg1"/>
                          </a:solidFill>
                        </a:rPr>
                        <a:t>Observed</a:t>
                      </a:r>
                    </a:p>
                  </a:txBody>
                  <a:tcPr anchor="ctr"/>
                </a:tc>
                <a:tc>
                  <a:txBody>
                    <a:bodyPr/>
                    <a:lstStyle/>
                    <a:p>
                      <a:pPr algn="ctr"/>
                      <a:r>
                        <a:rPr lang="en-US" b="0" dirty="0">
                          <a:solidFill>
                            <a:schemeClr val="bg1"/>
                          </a:solidFill>
                        </a:rPr>
                        <a:t>Can be explained by differences in observed features</a:t>
                      </a:r>
                    </a:p>
                  </a:txBody>
                  <a:tcPr anchor="ctr"/>
                </a:tc>
                <a:tc>
                  <a:txBody>
                    <a:bodyPr/>
                    <a:lstStyle/>
                    <a:p>
                      <a:pPr algn="ctr"/>
                      <a:r>
                        <a:rPr lang="en-US" b="0" dirty="0">
                          <a:solidFill>
                            <a:schemeClr val="bg1"/>
                          </a:solidFill>
                        </a:rPr>
                        <a:t>Age, Size of the tumor, Sex etc.</a:t>
                      </a:r>
                    </a:p>
                  </a:txBody>
                  <a:tcPr anchor="ctr"/>
                </a:tc>
                <a:tc>
                  <a:txBody>
                    <a:bodyPr/>
                    <a:lstStyle/>
                    <a:p>
                      <a:pPr algn="ctr"/>
                      <a:r>
                        <a:rPr lang="en-US" b="0" dirty="0">
                          <a:solidFill>
                            <a:schemeClr val="bg1"/>
                          </a:solidFill>
                        </a:rPr>
                        <a:t>Covariate adjustment Propensity matching </a:t>
                      </a:r>
                    </a:p>
                    <a:p>
                      <a:pPr algn="ctr"/>
                      <a:r>
                        <a:rPr lang="en-US" b="0" dirty="0">
                          <a:solidFill>
                            <a:schemeClr val="bg1"/>
                          </a:solidFill>
                        </a:rPr>
                        <a:t>Propensity weighting…</a:t>
                      </a:r>
                    </a:p>
                  </a:txBody>
                  <a:tcPr anchor="ctr"/>
                </a:tc>
                <a:extLst>
                  <a:ext uri="{0D108BD9-81ED-4DB2-BD59-A6C34878D82A}">
                    <a16:rowId xmlns:a16="http://schemas.microsoft.com/office/drawing/2014/main" val="192990225"/>
                  </a:ext>
                </a:extLst>
              </a:tr>
              <a:tr h="1416710">
                <a:tc>
                  <a:txBody>
                    <a:bodyPr/>
                    <a:lstStyle/>
                    <a:p>
                      <a:pPr algn="ctr"/>
                      <a:r>
                        <a:rPr lang="en-US" b="1" dirty="0">
                          <a:solidFill>
                            <a:schemeClr val="bg1"/>
                          </a:solidFill>
                        </a:rPr>
                        <a:t>Unobserved</a:t>
                      </a:r>
                    </a:p>
                  </a:txBody>
                  <a:tcPr anchor="ctr"/>
                </a:tc>
                <a:tc>
                  <a:txBody>
                    <a:bodyPr/>
                    <a:lstStyle/>
                    <a:p>
                      <a:pPr algn="ctr"/>
                      <a:r>
                        <a:rPr lang="en-US" b="0" dirty="0">
                          <a:solidFill>
                            <a:schemeClr val="bg1"/>
                          </a:solidFill>
                        </a:rPr>
                        <a:t>Due to factors that we cannot explain</a:t>
                      </a:r>
                    </a:p>
                  </a:txBody>
                  <a:tcPr anchor="ctr"/>
                </a:tc>
                <a:tc>
                  <a:txBody>
                    <a:bodyPr/>
                    <a:lstStyle/>
                    <a:p>
                      <a:pPr algn="ctr"/>
                      <a:r>
                        <a:rPr lang="en-US" b="0" dirty="0">
                          <a:solidFill>
                            <a:schemeClr val="bg1"/>
                          </a:solidFill>
                        </a:rPr>
                        <a:t>Mutations</a:t>
                      </a:r>
                    </a:p>
                  </a:txBody>
                  <a:tcPr anchor="ctr"/>
                </a:tc>
                <a:tc>
                  <a:txBody>
                    <a:bodyPr/>
                    <a:lstStyle/>
                    <a:p>
                      <a:pPr algn="ctr"/>
                      <a:r>
                        <a:rPr lang="en-US" b="0" dirty="0">
                          <a:solidFill>
                            <a:schemeClr val="bg1"/>
                          </a:solidFill>
                        </a:rPr>
                        <a:t>Assume and validate that it doesn’t exist</a:t>
                      </a:r>
                    </a:p>
                  </a:txBody>
                  <a:tcPr anchor="ctr"/>
                </a:tc>
                <a:extLst>
                  <a:ext uri="{0D108BD9-81ED-4DB2-BD59-A6C34878D82A}">
                    <a16:rowId xmlns:a16="http://schemas.microsoft.com/office/drawing/2014/main" val="4007675448"/>
                  </a:ext>
                </a:extLst>
              </a:tr>
            </a:tbl>
          </a:graphicData>
        </a:graphic>
      </p:graphicFrame>
      <p:sp>
        <p:nvSpPr>
          <p:cNvPr id="12" name="Rectangle 11">
            <a:extLst>
              <a:ext uri="{FF2B5EF4-FFF2-40B4-BE49-F238E27FC236}">
                <a16:creationId xmlns:a16="http://schemas.microsoft.com/office/drawing/2014/main" id="{8C2A2DBC-5B31-CCB2-A791-B86D3F58F179}"/>
              </a:ext>
            </a:extLst>
          </p:cNvPr>
          <p:cNvSpPr/>
          <p:nvPr/>
        </p:nvSpPr>
        <p:spPr>
          <a:xfrm>
            <a:off x="23561040" y="12891795"/>
            <a:ext cx="457200" cy="610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lang="en-US" sz="3800" cap="all" dirty="0">
                <a:solidFill>
                  <a:srgbClr val="C00000"/>
                </a:solidFill>
                <a:latin typeface="+mj-lt"/>
                <a:ea typeface="DIN Condensed Bold"/>
                <a:cs typeface="DIN Condensed Bold"/>
                <a:sym typeface="DIN Condensed Bold"/>
              </a:rPr>
              <a:t>3</a:t>
            </a:r>
            <a:endParaRPr kumimoji="0" lang="en-US" sz="3800" b="0" i="0" u="none" strike="noStrike" cap="all" spc="0" normalizeH="0" baseline="0" dirty="0">
              <a:ln>
                <a:noFill/>
              </a:ln>
              <a:solidFill>
                <a:srgbClr val="C00000"/>
              </a:solidFill>
              <a:effectLst/>
              <a:uFillTx/>
              <a:latin typeface="+mj-lt"/>
              <a:ea typeface="DIN Condensed Bold"/>
              <a:cs typeface="DIN Condensed Bold"/>
              <a:sym typeface="DIN Condensed Bold"/>
            </a:endParaRPr>
          </a:p>
        </p:txBody>
      </p:sp>
    </p:spTree>
    <p:extLst>
      <p:ext uri="{BB962C8B-B14F-4D97-AF65-F5344CB8AC3E}">
        <p14:creationId xmlns:p14="http://schemas.microsoft.com/office/powerpoint/2010/main" val="1206865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4FFD54-F682-B745-74D5-4405941CC7F0}"/>
              </a:ext>
            </a:extLst>
          </p:cNvPr>
          <p:cNvSpPr>
            <a:spLocks noGrp="1"/>
          </p:cNvSpPr>
          <p:nvPr>
            <p:ph type="title"/>
          </p:nvPr>
        </p:nvSpPr>
        <p:spPr>
          <a:xfrm>
            <a:off x="1171654" y="1787912"/>
            <a:ext cx="17145001" cy="1017985"/>
          </a:xfrm>
        </p:spPr>
        <p:txBody>
          <a:bodyPr>
            <a:noAutofit/>
          </a:bodyPr>
          <a:lstStyle/>
          <a:p>
            <a:r>
              <a:rPr lang="en-US" sz="4800" dirty="0">
                <a:solidFill>
                  <a:srgbClr val="C00000"/>
                </a:solidFill>
              </a:rPr>
              <a:t>Are ROAD 1 and ROAD 2 enough?</a:t>
            </a:r>
            <a:br>
              <a:rPr lang="en-US" sz="4800" dirty="0">
                <a:solidFill>
                  <a:srgbClr val="C00000"/>
                </a:solidFill>
              </a:rPr>
            </a:br>
            <a:endParaRPr lang="en-US" sz="4000" dirty="0">
              <a:solidFill>
                <a:srgbClr val="C00000"/>
              </a:solidFill>
            </a:endParaRPr>
          </a:p>
        </p:txBody>
      </p:sp>
      <p:sp>
        <p:nvSpPr>
          <p:cNvPr id="7" name="TextBox 6">
            <a:extLst>
              <a:ext uri="{FF2B5EF4-FFF2-40B4-BE49-F238E27FC236}">
                <a16:creationId xmlns:a16="http://schemas.microsoft.com/office/drawing/2014/main" id="{9C2315C8-774E-0160-94D7-0C85894D553C}"/>
              </a:ext>
            </a:extLst>
          </p:cNvPr>
          <p:cNvSpPr txBox="1"/>
          <p:nvPr/>
        </p:nvSpPr>
        <p:spPr>
          <a:xfrm>
            <a:off x="6129071" y="5127074"/>
            <a:ext cx="12192000"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effectLst/>
              </a:rPr>
              <a:t> </a:t>
            </a:r>
            <a:endParaRPr lang="en-US" dirty="0"/>
          </a:p>
        </p:txBody>
      </p:sp>
      <p:sp>
        <p:nvSpPr>
          <p:cNvPr id="17" name="TextBox 16">
            <a:extLst>
              <a:ext uri="{FF2B5EF4-FFF2-40B4-BE49-F238E27FC236}">
                <a16:creationId xmlns:a16="http://schemas.microsoft.com/office/drawing/2014/main" id="{26DCE57F-A0B2-13E1-DC0F-1FAE98AE2FF5}"/>
              </a:ext>
            </a:extLst>
          </p:cNvPr>
          <p:cNvSpPr txBox="1"/>
          <p:nvPr/>
        </p:nvSpPr>
        <p:spPr>
          <a:xfrm>
            <a:off x="6129071" y="5127074"/>
            <a:ext cx="12192000"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effectLst/>
              </a:rPr>
              <a:t> </a:t>
            </a:r>
            <a:endParaRPr lang="en-US" dirty="0"/>
          </a:p>
        </p:txBody>
      </p:sp>
      <p:sp>
        <p:nvSpPr>
          <p:cNvPr id="19" name="Rectangle 18">
            <a:extLst>
              <a:ext uri="{FF2B5EF4-FFF2-40B4-BE49-F238E27FC236}">
                <a16:creationId xmlns:a16="http://schemas.microsoft.com/office/drawing/2014/main" id="{032BF973-B1CD-B30D-2446-2192AB286D90}"/>
              </a:ext>
            </a:extLst>
          </p:cNvPr>
          <p:cNvSpPr/>
          <p:nvPr/>
        </p:nvSpPr>
        <p:spPr>
          <a:xfrm>
            <a:off x="23561040" y="12891795"/>
            <a:ext cx="457200" cy="610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lang="en-US" sz="3800" cap="all" dirty="0">
                <a:solidFill>
                  <a:srgbClr val="C52060"/>
                </a:solidFill>
                <a:latin typeface="+mj-lt"/>
                <a:ea typeface="DIN Condensed Bold"/>
                <a:cs typeface="DIN Condensed Bold"/>
                <a:sym typeface="DIN Condensed Bold"/>
              </a:rPr>
              <a:t>4</a:t>
            </a:r>
            <a:endParaRPr kumimoji="0" lang="en-US" sz="3800" b="0" i="0" u="none" strike="noStrike" cap="all" spc="0" normalizeH="0" baseline="0" dirty="0">
              <a:ln>
                <a:noFill/>
              </a:ln>
              <a:solidFill>
                <a:srgbClr val="C52060"/>
              </a:solidFill>
              <a:effectLst/>
              <a:uFillTx/>
              <a:latin typeface="+mj-lt"/>
              <a:ea typeface="DIN Condensed Bold"/>
              <a:cs typeface="DIN Condensed Bold"/>
              <a:sym typeface="DIN Condensed Bold"/>
            </a:endParaRPr>
          </a:p>
        </p:txBody>
      </p:sp>
      <p:sp>
        <p:nvSpPr>
          <p:cNvPr id="12" name="TextBox 11">
            <a:extLst>
              <a:ext uri="{FF2B5EF4-FFF2-40B4-BE49-F238E27FC236}">
                <a16:creationId xmlns:a16="http://schemas.microsoft.com/office/drawing/2014/main" id="{90951DEC-4E29-340C-3747-D8FCEFCC0557}"/>
              </a:ext>
            </a:extLst>
          </p:cNvPr>
          <p:cNvSpPr txBox="1"/>
          <p:nvPr/>
        </p:nvSpPr>
        <p:spPr>
          <a:xfrm>
            <a:off x="1660888" y="11272671"/>
            <a:ext cx="21453112" cy="22294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l" defTabSz="821531" rtl="0" fontAlgn="auto" latinLnBrk="0" hangingPunct="0">
              <a:lnSpc>
                <a:spcPct val="100000"/>
              </a:lnSpc>
              <a:spcBef>
                <a:spcPts val="3300"/>
              </a:spcBef>
              <a:spcAft>
                <a:spcPts val="0"/>
              </a:spcAft>
              <a:buClrTx/>
              <a:buSzTx/>
              <a:buFontTx/>
              <a:buNone/>
              <a:tabLst/>
            </a:pPr>
            <a:r>
              <a:rPr kumimoji="0" lang="en-US" sz="3600" b="1" i="0" u="none" strike="noStrike" cap="none" spc="0" normalizeH="0" baseline="0" dirty="0">
                <a:ln>
                  <a:noFill/>
                </a:ln>
                <a:solidFill>
                  <a:schemeClr val="bg1"/>
                </a:solidFill>
                <a:effectLst/>
                <a:uFillTx/>
                <a:latin typeface="+mn-lt"/>
                <a:sym typeface="Avenir Next Medium"/>
              </a:rPr>
              <a:t>Question:</a:t>
            </a:r>
            <a:r>
              <a:rPr kumimoji="0" lang="en-US" sz="3600" b="0" i="0" u="none" strike="noStrike" cap="none" spc="0" normalizeH="0" baseline="0" dirty="0">
                <a:ln>
                  <a:noFill/>
                </a:ln>
                <a:solidFill>
                  <a:schemeClr val="bg1"/>
                </a:solidFill>
                <a:effectLst/>
                <a:uFillTx/>
                <a:latin typeface="+mn-lt"/>
                <a:sym typeface="Avenir Next Medium"/>
              </a:rPr>
              <a:t> How do we estimate the </a:t>
            </a:r>
            <a:r>
              <a:rPr kumimoji="0" lang="en-US" sz="3600" b="1" i="0" u="none" strike="noStrike" cap="none" spc="0" normalizeH="0" baseline="0" dirty="0">
                <a:ln>
                  <a:noFill/>
                </a:ln>
                <a:solidFill>
                  <a:schemeClr val="bg1"/>
                </a:solidFill>
                <a:effectLst/>
                <a:uFillTx/>
                <a:latin typeface="+mn-lt"/>
                <a:sym typeface="Avenir Next Medium"/>
              </a:rPr>
              <a:t>treatment effect </a:t>
            </a:r>
            <a:r>
              <a:rPr kumimoji="0" lang="en-US" sz="3600" b="0" i="0" u="none" strike="noStrike" cap="none" spc="0" normalizeH="0" baseline="0" dirty="0">
                <a:ln>
                  <a:noFill/>
                </a:ln>
                <a:solidFill>
                  <a:schemeClr val="bg1"/>
                </a:solidFill>
                <a:effectLst/>
                <a:uFillTx/>
                <a:latin typeface="+mn-lt"/>
                <a:sym typeface="Avenir Next Medium"/>
              </a:rPr>
              <a:t>(and perform precision medicine) with </a:t>
            </a:r>
            <a:r>
              <a:rPr kumimoji="0" lang="en-US" sz="3600" b="1" i="0" u="none" strike="noStrike" cap="none" spc="0" normalizeH="0" baseline="0" dirty="0">
                <a:ln>
                  <a:noFill/>
                </a:ln>
                <a:solidFill>
                  <a:schemeClr val="bg1"/>
                </a:solidFill>
                <a:effectLst/>
                <a:uFillTx/>
                <a:latin typeface="+mn-lt"/>
                <a:sym typeface="Avenir Next Medium"/>
              </a:rPr>
              <a:t>observational data </a:t>
            </a:r>
            <a:r>
              <a:rPr kumimoji="0" lang="en-US" sz="3600" b="0" i="0" u="none" strike="noStrike" cap="none" spc="0" normalizeH="0" baseline="0" dirty="0">
                <a:ln>
                  <a:noFill/>
                </a:ln>
                <a:solidFill>
                  <a:schemeClr val="bg1"/>
                </a:solidFill>
                <a:effectLst/>
                <a:uFillTx/>
                <a:latin typeface="+mn-lt"/>
                <a:sym typeface="Avenir Next Medium"/>
              </a:rPr>
              <a:t>without any other information on the treatment when </a:t>
            </a:r>
            <a:r>
              <a:rPr kumimoji="0" lang="en-US" sz="3600" b="1" i="0" u="none" strike="noStrike" cap="none" spc="0" normalizeH="0" baseline="0" dirty="0">
                <a:ln>
                  <a:noFill/>
                </a:ln>
                <a:solidFill>
                  <a:schemeClr val="bg1"/>
                </a:solidFill>
                <a:effectLst/>
                <a:uFillTx/>
                <a:latin typeface="+mn-lt"/>
                <a:sym typeface="Avenir Next Medium"/>
              </a:rPr>
              <a:t>both observed and unobserved confounding </a:t>
            </a:r>
            <a:r>
              <a:rPr lang="en-US" sz="3600" dirty="0">
                <a:solidFill>
                  <a:schemeClr val="bg1"/>
                </a:solidFill>
                <a:latin typeface="+mn-lt"/>
              </a:rPr>
              <a:t>are</a:t>
            </a:r>
            <a:r>
              <a:rPr kumimoji="0" lang="en-US" sz="3600" b="0" i="0" u="none" strike="noStrike" cap="none" spc="0" normalizeH="0" baseline="0" dirty="0">
                <a:ln>
                  <a:noFill/>
                </a:ln>
                <a:solidFill>
                  <a:schemeClr val="bg1"/>
                </a:solidFill>
                <a:effectLst/>
                <a:uFillTx/>
                <a:latin typeface="+mn-lt"/>
                <a:sym typeface="Avenir Next Medium"/>
              </a:rPr>
              <a:t> present?</a:t>
            </a:r>
          </a:p>
        </p:txBody>
      </p:sp>
      <p:sp>
        <p:nvSpPr>
          <p:cNvPr id="16" name="Rounded Rectangle 15">
            <a:extLst>
              <a:ext uri="{FF2B5EF4-FFF2-40B4-BE49-F238E27FC236}">
                <a16:creationId xmlns:a16="http://schemas.microsoft.com/office/drawing/2014/main" id="{D4F67D41-B2A4-7294-1579-EAE28786EF22}"/>
              </a:ext>
            </a:extLst>
          </p:cNvPr>
          <p:cNvSpPr/>
          <p:nvPr/>
        </p:nvSpPr>
        <p:spPr>
          <a:xfrm>
            <a:off x="1980727" y="3496479"/>
            <a:ext cx="8215580" cy="677206"/>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lang="en-US" sz="3800" b="1" dirty="0">
                <a:solidFill>
                  <a:srgbClr val="FFFFFF"/>
                </a:solidFill>
                <a:latin typeface="+mn-lt"/>
                <a:ea typeface="DIN Condensed Bold"/>
                <a:cs typeface="DIN Condensed Bold"/>
                <a:sym typeface="DIN Condensed Bold"/>
              </a:rPr>
              <a:t>ROAD 1</a:t>
            </a:r>
            <a:endParaRPr kumimoji="0" lang="en-US" sz="3800" b="1" i="0" u="none" strike="noStrike" spc="0" normalizeH="0" baseline="0" dirty="0">
              <a:ln>
                <a:noFill/>
              </a:ln>
              <a:solidFill>
                <a:srgbClr val="FFFFFF"/>
              </a:solidFill>
              <a:effectLst/>
              <a:uFillTx/>
              <a:latin typeface="+mn-lt"/>
              <a:ea typeface="DIN Condensed Bold"/>
              <a:cs typeface="DIN Condensed Bold"/>
              <a:sym typeface="DIN Condensed Bold"/>
            </a:endParaRPr>
          </a:p>
        </p:txBody>
      </p:sp>
      <p:sp>
        <p:nvSpPr>
          <p:cNvPr id="18" name="Rounded Rectangle 17">
            <a:extLst>
              <a:ext uri="{FF2B5EF4-FFF2-40B4-BE49-F238E27FC236}">
                <a16:creationId xmlns:a16="http://schemas.microsoft.com/office/drawing/2014/main" id="{F54DCC38-A16C-8CE5-E8E4-E4101C10480A}"/>
              </a:ext>
            </a:extLst>
          </p:cNvPr>
          <p:cNvSpPr/>
          <p:nvPr/>
        </p:nvSpPr>
        <p:spPr>
          <a:xfrm>
            <a:off x="1980726" y="4674873"/>
            <a:ext cx="8215581" cy="1712383"/>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lang="en-US" sz="3800" b="1" dirty="0">
                <a:solidFill>
                  <a:srgbClr val="FFFFFF"/>
                </a:solidFill>
                <a:latin typeface="+mn-lt"/>
                <a:ea typeface="DIN Condensed Bold"/>
                <a:cs typeface="DIN Condensed Bold"/>
                <a:sym typeface="DIN Condensed Bold"/>
              </a:rPr>
              <a:t>Observed confounding</a:t>
            </a:r>
          </a:p>
          <a:p>
            <a:pPr marL="0" marR="0" indent="0" algn="ctr" defTabSz="821531" rtl="0" fontAlgn="auto" latinLnBrk="0" hangingPunct="0">
              <a:lnSpc>
                <a:spcPct val="80000"/>
              </a:lnSpc>
              <a:spcBef>
                <a:spcPts val="0"/>
              </a:spcBef>
              <a:spcAft>
                <a:spcPts val="0"/>
              </a:spcAft>
              <a:buClrTx/>
              <a:buSzTx/>
              <a:buFontTx/>
              <a:buNone/>
              <a:tabLst/>
            </a:pPr>
            <a:endParaRPr lang="el-GR" sz="3800" dirty="0">
              <a:solidFill>
                <a:srgbClr val="FFFFFF"/>
              </a:solidFill>
              <a:latin typeface="+mn-lt"/>
              <a:ea typeface="DIN Condensed Bold"/>
              <a:cs typeface="DIN Condensed Bold"/>
              <a:sym typeface="DIN Condensed Bold"/>
            </a:endParaRPr>
          </a:p>
          <a:p>
            <a:pPr marL="0" marR="0" indent="0" algn="ctr" defTabSz="821531" rtl="0" fontAlgn="auto" latinLnBrk="0" hangingPunct="0">
              <a:lnSpc>
                <a:spcPct val="80000"/>
              </a:lnSpc>
              <a:spcBef>
                <a:spcPts val="0"/>
              </a:spcBef>
              <a:spcAft>
                <a:spcPts val="0"/>
              </a:spcAft>
              <a:buClrTx/>
              <a:buSzTx/>
              <a:buFontTx/>
              <a:buNone/>
              <a:tabLst/>
            </a:pPr>
            <a:r>
              <a:rPr lang="en-US" sz="3800" dirty="0">
                <a:solidFill>
                  <a:srgbClr val="FFFFFF"/>
                </a:solidFill>
                <a:latin typeface="+mn-lt"/>
                <a:ea typeface="DIN Condensed Bold"/>
                <a:cs typeface="DIN Condensed Bold"/>
                <a:sym typeface="DIN Condensed Bold"/>
              </a:rPr>
              <a:t>by introducing prognostic matching</a:t>
            </a:r>
            <a:endParaRPr kumimoji="0" lang="en-US" sz="3800" b="0" i="0" u="none" strike="noStrike" spc="0" normalizeH="0" baseline="0" dirty="0">
              <a:ln>
                <a:noFill/>
              </a:ln>
              <a:solidFill>
                <a:srgbClr val="FFFFFF"/>
              </a:solidFill>
              <a:effectLst/>
              <a:uFillTx/>
              <a:latin typeface="+mn-lt"/>
              <a:ea typeface="DIN Condensed Bold"/>
              <a:cs typeface="DIN Condensed Bold"/>
              <a:sym typeface="DIN Condensed Bold"/>
            </a:endParaRPr>
          </a:p>
        </p:txBody>
      </p:sp>
      <p:pic>
        <p:nvPicPr>
          <p:cNvPr id="20" name="Picture 19">
            <a:extLst>
              <a:ext uri="{FF2B5EF4-FFF2-40B4-BE49-F238E27FC236}">
                <a16:creationId xmlns:a16="http://schemas.microsoft.com/office/drawing/2014/main" id="{1F73093F-CCDD-14AF-D2EA-0307F7F80428}"/>
              </a:ext>
            </a:extLst>
          </p:cNvPr>
          <p:cNvPicPr>
            <a:picLocks noChangeAspect="1"/>
          </p:cNvPicPr>
          <p:nvPr/>
        </p:nvPicPr>
        <p:blipFill>
          <a:blip r:embed="rId3"/>
          <a:stretch>
            <a:fillRect/>
          </a:stretch>
        </p:blipFill>
        <p:spPr>
          <a:xfrm>
            <a:off x="445416" y="4824747"/>
            <a:ext cx="1429236" cy="1429236"/>
          </a:xfrm>
          <a:prstGeom prst="rect">
            <a:avLst/>
          </a:prstGeom>
        </p:spPr>
      </p:pic>
      <p:sp>
        <p:nvSpPr>
          <p:cNvPr id="21" name="Rounded Rectangle 20">
            <a:extLst>
              <a:ext uri="{FF2B5EF4-FFF2-40B4-BE49-F238E27FC236}">
                <a16:creationId xmlns:a16="http://schemas.microsoft.com/office/drawing/2014/main" id="{63B9611B-572B-C4DE-A20D-B57F972E5CE7}"/>
              </a:ext>
            </a:extLst>
          </p:cNvPr>
          <p:cNvSpPr/>
          <p:nvPr/>
        </p:nvSpPr>
        <p:spPr>
          <a:xfrm>
            <a:off x="1980727" y="6706184"/>
            <a:ext cx="8215580" cy="2229971"/>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kumimoji="0" lang="en-US" sz="3800" b="1" i="0" u="none" strike="noStrike" spc="0" normalizeH="0" baseline="0" dirty="0">
                <a:ln>
                  <a:noFill/>
                </a:ln>
                <a:solidFill>
                  <a:srgbClr val="FFFFFF"/>
                </a:solidFill>
                <a:effectLst/>
                <a:uFillTx/>
                <a:latin typeface="+mn-lt"/>
                <a:ea typeface="DIN Condensed Bold"/>
                <a:cs typeface="DIN Condensed Bold"/>
                <a:sym typeface="DIN Condensed Bold"/>
              </a:rPr>
              <a:t>Unobserved </a:t>
            </a:r>
            <a:r>
              <a:rPr lang="en-US" sz="3800" b="1" dirty="0">
                <a:solidFill>
                  <a:srgbClr val="FFFFFF"/>
                </a:solidFill>
                <a:latin typeface="+mn-lt"/>
                <a:ea typeface="DIN Condensed Bold"/>
                <a:cs typeface="DIN Condensed Bold"/>
                <a:sym typeface="DIN Condensed Bold"/>
              </a:rPr>
              <a:t>confounding</a:t>
            </a:r>
            <a:r>
              <a:rPr lang="en-US" sz="3800" dirty="0">
                <a:solidFill>
                  <a:srgbClr val="FFFFFF"/>
                </a:solidFill>
                <a:latin typeface="+mn-lt"/>
                <a:ea typeface="DIN Condensed Bold"/>
                <a:cs typeface="DIN Condensed Bold"/>
                <a:sym typeface="DIN Condensed Bold"/>
              </a:rPr>
              <a:t> </a:t>
            </a:r>
          </a:p>
          <a:p>
            <a:pPr marL="0" marR="0" indent="0" algn="ctr" defTabSz="821531" rtl="0" fontAlgn="auto" latinLnBrk="0" hangingPunct="0">
              <a:lnSpc>
                <a:spcPct val="80000"/>
              </a:lnSpc>
              <a:spcBef>
                <a:spcPts val="0"/>
              </a:spcBef>
              <a:spcAft>
                <a:spcPts val="0"/>
              </a:spcAft>
              <a:buClrTx/>
              <a:buSzTx/>
              <a:buFontTx/>
              <a:buNone/>
              <a:tabLst/>
            </a:pPr>
            <a:endParaRPr lang="en-US" sz="3800" dirty="0">
              <a:solidFill>
                <a:srgbClr val="FFFFFF"/>
              </a:solidFill>
              <a:latin typeface="+mn-lt"/>
              <a:ea typeface="DIN Condensed Bold"/>
              <a:cs typeface="DIN Condensed Bold"/>
              <a:sym typeface="DIN Condensed Bold"/>
            </a:endParaRPr>
          </a:p>
          <a:p>
            <a:pPr marL="0" marR="0" indent="0" algn="ctr" defTabSz="821531" rtl="0" fontAlgn="auto" latinLnBrk="0" hangingPunct="0">
              <a:lnSpc>
                <a:spcPct val="80000"/>
              </a:lnSpc>
              <a:spcBef>
                <a:spcPts val="0"/>
              </a:spcBef>
              <a:spcAft>
                <a:spcPts val="0"/>
              </a:spcAft>
              <a:buClrTx/>
              <a:buSzTx/>
              <a:buFontTx/>
              <a:buNone/>
              <a:tabLst/>
            </a:pPr>
            <a:r>
              <a:rPr lang="en-US" sz="3800" dirty="0">
                <a:solidFill>
                  <a:srgbClr val="FFFFFF"/>
                </a:solidFill>
                <a:latin typeface="+mn-lt"/>
                <a:ea typeface="DIN Condensed Bold"/>
                <a:cs typeface="DIN Condensed Bold"/>
                <a:sym typeface="DIN Condensed Bold"/>
              </a:rPr>
              <a:t>in datasets where we know how effective the treatment is</a:t>
            </a:r>
            <a:endParaRPr kumimoji="0" lang="en-US" sz="3800" b="0" i="0" u="none" strike="noStrike" spc="0" normalizeH="0" baseline="0" dirty="0">
              <a:ln>
                <a:noFill/>
              </a:ln>
              <a:solidFill>
                <a:srgbClr val="FFFFFF"/>
              </a:solidFill>
              <a:effectLst/>
              <a:uFillTx/>
              <a:latin typeface="+mn-lt"/>
              <a:ea typeface="DIN Condensed Bold"/>
              <a:cs typeface="DIN Condensed Bold"/>
              <a:sym typeface="DIN Condensed Bold"/>
            </a:endParaRPr>
          </a:p>
        </p:txBody>
      </p:sp>
      <p:pic>
        <p:nvPicPr>
          <p:cNvPr id="22" name="Picture 21">
            <a:extLst>
              <a:ext uri="{FF2B5EF4-FFF2-40B4-BE49-F238E27FC236}">
                <a16:creationId xmlns:a16="http://schemas.microsoft.com/office/drawing/2014/main" id="{2C8A4055-1644-26D4-433C-88EC7B0872A3}"/>
              </a:ext>
            </a:extLst>
          </p:cNvPr>
          <p:cNvPicPr>
            <a:picLocks noChangeAspect="1"/>
          </p:cNvPicPr>
          <p:nvPr/>
        </p:nvPicPr>
        <p:blipFill>
          <a:blip r:embed="rId3"/>
          <a:stretch>
            <a:fillRect/>
          </a:stretch>
        </p:blipFill>
        <p:spPr>
          <a:xfrm>
            <a:off x="445416" y="7245437"/>
            <a:ext cx="1429236" cy="1429236"/>
          </a:xfrm>
          <a:prstGeom prst="rect">
            <a:avLst/>
          </a:prstGeom>
        </p:spPr>
      </p:pic>
      <p:sp>
        <p:nvSpPr>
          <p:cNvPr id="23" name="Rounded Rectangle 22">
            <a:extLst>
              <a:ext uri="{FF2B5EF4-FFF2-40B4-BE49-F238E27FC236}">
                <a16:creationId xmlns:a16="http://schemas.microsoft.com/office/drawing/2014/main" id="{7CB55EEC-801A-5465-3287-64585BC342C6}"/>
              </a:ext>
            </a:extLst>
          </p:cNvPr>
          <p:cNvSpPr/>
          <p:nvPr/>
        </p:nvSpPr>
        <p:spPr>
          <a:xfrm>
            <a:off x="2022029" y="9222084"/>
            <a:ext cx="8215580" cy="2229971"/>
          </a:xfrm>
          <a:prstGeom prst="roundRect">
            <a:avLst/>
          </a:prstGeom>
          <a:solidFill>
            <a:schemeClr val="accent5">
              <a:lumMod val="60000"/>
              <a:lumOff val="40000"/>
            </a:schemeClr>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spc="0" normalizeH="0" baseline="0" dirty="0">
              <a:ln>
                <a:noFill/>
              </a:ln>
              <a:solidFill>
                <a:srgbClr val="FFFFFF"/>
              </a:solidFill>
              <a:effectLst/>
              <a:uFillTx/>
              <a:latin typeface="+mn-lt"/>
              <a:ea typeface="DIN Condensed Bold"/>
              <a:cs typeface="DIN Condensed Bold"/>
              <a:sym typeface="DIN Condensed Bold"/>
            </a:endParaRPr>
          </a:p>
          <a:p>
            <a:pPr marL="0" marR="0" indent="0" algn="ctr" defTabSz="821531" rtl="0" fontAlgn="auto" latinLnBrk="0" hangingPunct="0">
              <a:lnSpc>
                <a:spcPct val="80000"/>
              </a:lnSpc>
              <a:spcBef>
                <a:spcPts val="0"/>
              </a:spcBef>
              <a:spcAft>
                <a:spcPts val="0"/>
              </a:spcAft>
              <a:buClrTx/>
              <a:buSzTx/>
              <a:buFontTx/>
              <a:buNone/>
              <a:tabLst/>
            </a:pPr>
            <a:r>
              <a:rPr kumimoji="0" lang="en-US" sz="3800" b="0" i="0" u="none" strike="noStrike" spc="0" normalizeH="0" baseline="0" dirty="0">
                <a:ln>
                  <a:noFill/>
                </a:ln>
                <a:solidFill>
                  <a:srgbClr val="FFFFFF"/>
                </a:solidFill>
                <a:effectLst/>
                <a:uFillTx/>
                <a:latin typeface="+mn-lt"/>
                <a:ea typeface="DIN Condensed Bold"/>
                <a:cs typeface="DIN Condensed Bold"/>
                <a:sym typeface="DIN Condensed Bold"/>
              </a:rPr>
              <a:t>Cannot generalize to cohorts where the treatment effect is unknown</a:t>
            </a:r>
          </a:p>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spc="0" normalizeH="0" baseline="0" dirty="0">
              <a:ln>
                <a:noFill/>
              </a:ln>
              <a:solidFill>
                <a:srgbClr val="FFFFFF"/>
              </a:solidFill>
              <a:effectLst/>
              <a:uFillTx/>
              <a:latin typeface="+mn-lt"/>
              <a:ea typeface="DIN Condensed Bold"/>
              <a:cs typeface="DIN Condensed Bold"/>
              <a:sym typeface="DIN Condensed Bold"/>
            </a:endParaRPr>
          </a:p>
        </p:txBody>
      </p:sp>
      <p:sp>
        <p:nvSpPr>
          <p:cNvPr id="24" name="Rounded Rectangle 23">
            <a:extLst>
              <a:ext uri="{FF2B5EF4-FFF2-40B4-BE49-F238E27FC236}">
                <a16:creationId xmlns:a16="http://schemas.microsoft.com/office/drawing/2014/main" id="{9B8A85EE-7959-7FBF-FC9A-7F50A98F5418}"/>
              </a:ext>
            </a:extLst>
          </p:cNvPr>
          <p:cNvSpPr/>
          <p:nvPr/>
        </p:nvSpPr>
        <p:spPr>
          <a:xfrm>
            <a:off x="13760382" y="3496479"/>
            <a:ext cx="8215580" cy="677206"/>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lang="en-US" sz="3800" b="1" dirty="0">
                <a:solidFill>
                  <a:srgbClr val="FFFFFF"/>
                </a:solidFill>
                <a:latin typeface="+mn-lt"/>
                <a:ea typeface="DIN Condensed Bold"/>
                <a:cs typeface="DIN Condensed Bold"/>
                <a:sym typeface="DIN Condensed Bold"/>
              </a:rPr>
              <a:t>ROAD 2</a:t>
            </a:r>
            <a:endParaRPr kumimoji="0" lang="en-US" sz="3800" b="1" i="0" u="none" strike="noStrike" spc="0" normalizeH="0" baseline="0" dirty="0">
              <a:ln>
                <a:noFill/>
              </a:ln>
              <a:solidFill>
                <a:srgbClr val="FFFFFF"/>
              </a:solidFill>
              <a:effectLst/>
              <a:uFillTx/>
              <a:latin typeface="+mn-lt"/>
              <a:ea typeface="DIN Condensed Bold"/>
              <a:cs typeface="DIN Condensed Bold"/>
              <a:sym typeface="DIN Condensed Bold"/>
            </a:endParaRPr>
          </a:p>
        </p:txBody>
      </p:sp>
      <p:sp>
        <p:nvSpPr>
          <p:cNvPr id="25" name="Rounded Rectangle 24">
            <a:extLst>
              <a:ext uri="{FF2B5EF4-FFF2-40B4-BE49-F238E27FC236}">
                <a16:creationId xmlns:a16="http://schemas.microsoft.com/office/drawing/2014/main" id="{81081A32-6F03-6F68-0ADF-09F4FAAAD6EE}"/>
              </a:ext>
            </a:extLst>
          </p:cNvPr>
          <p:cNvSpPr/>
          <p:nvPr/>
        </p:nvSpPr>
        <p:spPr>
          <a:xfrm>
            <a:off x="13760381" y="4933667"/>
            <a:ext cx="8215581" cy="1194794"/>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lang="en-US" sz="3800" dirty="0">
                <a:solidFill>
                  <a:srgbClr val="FFFFFF"/>
                </a:solidFill>
                <a:latin typeface="+mn-lt"/>
                <a:ea typeface="DIN Condensed Bold"/>
                <a:cs typeface="DIN Condensed Bold"/>
                <a:sym typeface="DIN Condensed Bold"/>
              </a:rPr>
              <a:t>Uses the tools introduced in ROAD 1 to emulate a clinical trial</a:t>
            </a:r>
          </a:p>
        </p:txBody>
      </p:sp>
      <p:pic>
        <p:nvPicPr>
          <p:cNvPr id="26" name="Picture 25">
            <a:extLst>
              <a:ext uri="{FF2B5EF4-FFF2-40B4-BE49-F238E27FC236}">
                <a16:creationId xmlns:a16="http://schemas.microsoft.com/office/drawing/2014/main" id="{090451B7-64C2-6E7E-87C8-82BEC119C30D}"/>
              </a:ext>
            </a:extLst>
          </p:cNvPr>
          <p:cNvPicPr>
            <a:picLocks noChangeAspect="1"/>
          </p:cNvPicPr>
          <p:nvPr/>
        </p:nvPicPr>
        <p:blipFill>
          <a:blip r:embed="rId3"/>
          <a:stretch>
            <a:fillRect/>
          </a:stretch>
        </p:blipFill>
        <p:spPr>
          <a:xfrm>
            <a:off x="12225071" y="4824747"/>
            <a:ext cx="1429236" cy="1429236"/>
          </a:xfrm>
          <a:prstGeom prst="rect">
            <a:avLst/>
          </a:prstGeom>
        </p:spPr>
      </p:pic>
      <p:sp>
        <p:nvSpPr>
          <p:cNvPr id="29" name="Rounded Rectangle 28">
            <a:extLst>
              <a:ext uri="{FF2B5EF4-FFF2-40B4-BE49-F238E27FC236}">
                <a16:creationId xmlns:a16="http://schemas.microsoft.com/office/drawing/2014/main" id="{7FD49496-2256-EA48-5768-CDEFDD4B91A5}"/>
              </a:ext>
            </a:extLst>
          </p:cNvPr>
          <p:cNvSpPr/>
          <p:nvPr/>
        </p:nvSpPr>
        <p:spPr>
          <a:xfrm>
            <a:off x="13801684" y="9222084"/>
            <a:ext cx="8215580" cy="2229971"/>
          </a:xfrm>
          <a:prstGeom prst="roundRect">
            <a:avLst/>
          </a:prstGeom>
          <a:solidFill>
            <a:schemeClr val="accent5">
              <a:lumMod val="60000"/>
              <a:lumOff val="40000"/>
            </a:schemeClr>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lang="en-US" sz="3800" dirty="0">
              <a:solidFill>
                <a:srgbClr val="FFFFFF"/>
              </a:solidFill>
              <a:latin typeface="+mn-lt"/>
              <a:ea typeface="DIN Condensed Bold"/>
              <a:cs typeface="DIN Condensed Bold"/>
              <a:sym typeface="DIN Condensed Bold"/>
            </a:endParaRPr>
          </a:p>
          <a:p>
            <a:pPr marL="0" marR="0" indent="0" algn="ctr" defTabSz="821531" rtl="0" fontAlgn="auto" latinLnBrk="0" hangingPunct="0">
              <a:lnSpc>
                <a:spcPct val="80000"/>
              </a:lnSpc>
              <a:spcBef>
                <a:spcPts val="0"/>
              </a:spcBef>
              <a:spcAft>
                <a:spcPts val="0"/>
              </a:spcAft>
              <a:buClrTx/>
              <a:buSzTx/>
              <a:buFontTx/>
              <a:buNone/>
              <a:tabLst/>
            </a:pPr>
            <a:r>
              <a:rPr kumimoji="0" lang="en-US" sz="3800" b="0" i="0" u="none" strike="noStrike" spc="0" normalizeH="0" baseline="0" dirty="0">
                <a:ln>
                  <a:noFill/>
                </a:ln>
                <a:solidFill>
                  <a:srgbClr val="FFFFFF"/>
                </a:solidFill>
                <a:effectLst/>
                <a:uFillTx/>
                <a:latin typeface="+mn-lt"/>
                <a:ea typeface="DIN Condensed Bold"/>
                <a:cs typeface="DIN Condensed Bold"/>
                <a:sym typeface="DIN Condensed Bold"/>
              </a:rPr>
              <a:t>Cannot generalize to cohorts where a target trial is not avai</a:t>
            </a:r>
            <a:r>
              <a:rPr lang="en-US" sz="3800" dirty="0">
                <a:solidFill>
                  <a:srgbClr val="FFFFFF"/>
                </a:solidFill>
                <a:latin typeface="+mn-lt"/>
                <a:ea typeface="DIN Condensed Bold"/>
                <a:cs typeface="DIN Condensed Bold"/>
                <a:sym typeface="DIN Condensed Bold"/>
              </a:rPr>
              <a:t>lable</a:t>
            </a:r>
          </a:p>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spc="0" normalizeH="0" baseline="0" dirty="0">
              <a:ln>
                <a:noFill/>
              </a:ln>
              <a:solidFill>
                <a:srgbClr val="FFFFFF"/>
              </a:solidFill>
              <a:effectLst/>
              <a:uFillTx/>
              <a:latin typeface="+mn-lt"/>
              <a:ea typeface="DIN Condensed Bold"/>
              <a:cs typeface="DIN Condensed Bold"/>
              <a:sym typeface="DIN Condensed Bold"/>
            </a:endParaRPr>
          </a:p>
        </p:txBody>
      </p:sp>
      <p:pic>
        <p:nvPicPr>
          <p:cNvPr id="30" name="Picture 29">
            <a:extLst>
              <a:ext uri="{FF2B5EF4-FFF2-40B4-BE49-F238E27FC236}">
                <a16:creationId xmlns:a16="http://schemas.microsoft.com/office/drawing/2014/main" id="{04C7360F-477D-C436-C799-73456A0E22C9}"/>
              </a:ext>
            </a:extLst>
          </p:cNvPr>
          <p:cNvPicPr>
            <a:picLocks noChangeAspect="1"/>
          </p:cNvPicPr>
          <p:nvPr/>
        </p:nvPicPr>
        <p:blipFill>
          <a:blip r:embed="rId3"/>
          <a:stretch>
            <a:fillRect/>
          </a:stretch>
        </p:blipFill>
        <p:spPr>
          <a:xfrm>
            <a:off x="12225071" y="7050766"/>
            <a:ext cx="1429236" cy="1429236"/>
          </a:xfrm>
          <a:prstGeom prst="rect">
            <a:avLst/>
          </a:prstGeom>
        </p:spPr>
      </p:pic>
      <p:sp>
        <p:nvSpPr>
          <p:cNvPr id="31" name="Rounded Rectangle 30">
            <a:extLst>
              <a:ext uri="{FF2B5EF4-FFF2-40B4-BE49-F238E27FC236}">
                <a16:creationId xmlns:a16="http://schemas.microsoft.com/office/drawing/2014/main" id="{7038D9E7-DB23-E692-85C5-27E4E107E45A}"/>
              </a:ext>
            </a:extLst>
          </p:cNvPr>
          <p:cNvSpPr/>
          <p:nvPr/>
        </p:nvSpPr>
        <p:spPr>
          <a:xfrm>
            <a:off x="13801684" y="6692083"/>
            <a:ext cx="8215581" cy="2229971"/>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lang="en-US" sz="3800" dirty="0">
              <a:solidFill>
                <a:srgbClr val="FFFFFF"/>
              </a:solidFill>
              <a:latin typeface="+mn-lt"/>
              <a:ea typeface="DIN Condensed Bold"/>
              <a:cs typeface="DIN Condensed Bold"/>
              <a:sym typeface="DIN Condensed Bold"/>
            </a:endParaRPr>
          </a:p>
          <a:p>
            <a:pPr marL="0" marR="0" indent="0" algn="ctr" defTabSz="821531" rtl="0" fontAlgn="auto" latinLnBrk="0" hangingPunct="0">
              <a:lnSpc>
                <a:spcPct val="80000"/>
              </a:lnSpc>
              <a:spcBef>
                <a:spcPts val="0"/>
              </a:spcBef>
              <a:spcAft>
                <a:spcPts val="0"/>
              </a:spcAft>
              <a:buClrTx/>
              <a:buSzTx/>
              <a:buFontTx/>
              <a:buNone/>
              <a:tabLst/>
            </a:pPr>
            <a:r>
              <a:rPr lang="en-US" sz="3800" dirty="0">
                <a:solidFill>
                  <a:srgbClr val="FFFFFF"/>
                </a:solidFill>
                <a:latin typeface="+mn-lt"/>
                <a:ea typeface="DIN Condensed Bold"/>
                <a:cs typeface="DIN Condensed Bold"/>
                <a:sym typeface="DIN Condensed Bold"/>
              </a:rPr>
              <a:t>Improves precision medicine prospects</a:t>
            </a:r>
          </a:p>
          <a:p>
            <a:pPr marL="0" marR="0" indent="0" algn="ctr" defTabSz="821531" rtl="0" fontAlgn="auto" latinLnBrk="0" hangingPunct="0">
              <a:lnSpc>
                <a:spcPct val="80000"/>
              </a:lnSpc>
              <a:spcBef>
                <a:spcPts val="0"/>
              </a:spcBef>
              <a:spcAft>
                <a:spcPts val="0"/>
              </a:spcAft>
              <a:buClrTx/>
              <a:buSzTx/>
              <a:buFontTx/>
              <a:buNone/>
              <a:tabLst/>
            </a:pPr>
            <a:endParaRPr lang="en-US" sz="3800" dirty="0">
              <a:solidFill>
                <a:srgbClr val="FFFFFF"/>
              </a:solidFill>
              <a:latin typeface="+mn-lt"/>
              <a:ea typeface="DIN Condensed Bold"/>
              <a:cs typeface="DIN Condensed Bold"/>
              <a:sym typeface="DIN Condensed Bold"/>
            </a:endParaRPr>
          </a:p>
        </p:txBody>
      </p:sp>
      <p:pic>
        <p:nvPicPr>
          <p:cNvPr id="32" name="Picture 31">
            <a:extLst>
              <a:ext uri="{FF2B5EF4-FFF2-40B4-BE49-F238E27FC236}">
                <a16:creationId xmlns:a16="http://schemas.microsoft.com/office/drawing/2014/main" id="{71881810-481B-DFF1-2AD4-DE3B141328B7}"/>
              </a:ext>
            </a:extLst>
          </p:cNvPr>
          <p:cNvPicPr>
            <a:picLocks noChangeAspect="1"/>
          </p:cNvPicPr>
          <p:nvPr/>
        </p:nvPicPr>
        <p:blipFill>
          <a:blip r:embed="rId4"/>
          <a:stretch>
            <a:fillRect/>
          </a:stretch>
        </p:blipFill>
        <p:spPr>
          <a:xfrm>
            <a:off x="550742" y="9666127"/>
            <a:ext cx="1323910" cy="1323910"/>
          </a:xfrm>
          <a:prstGeom prst="rect">
            <a:avLst/>
          </a:prstGeom>
        </p:spPr>
      </p:pic>
      <p:pic>
        <p:nvPicPr>
          <p:cNvPr id="33" name="Picture 32">
            <a:extLst>
              <a:ext uri="{FF2B5EF4-FFF2-40B4-BE49-F238E27FC236}">
                <a16:creationId xmlns:a16="http://schemas.microsoft.com/office/drawing/2014/main" id="{EFF6057D-2FDF-EE2E-A3F8-34FD35921B14}"/>
              </a:ext>
            </a:extLst>
          </p:cNvPr>
          <p:cNvPicPr>
            <a:picLocks noChangeAspect="1"/>
          </p:cNvPicPr>
          <p:nvPr/>
        </p:nvPicPr>
        <p:blipFill>
          <a:blip r:embed="rId4"/>
          <a:stretch>
            <a:fillRect/>
          </a:stretch>
        </p:blipFill>
        <p:spPr>
          <a:xfrm>
            <a:off x="12225071" y="9603467"/>
            <a:ext cx="1323910" cy="1323910"/>
          </a:xfrm>
          <a:prstGeom prst="rect">
            <a:avLst/>
          </a:prstGeom>
        </p:spPr>
      </p:pic>
    </p:spTree>
    <p:extLst>
      <p:ext uri="{BB962C8B-B14F-4D97-AF65-F5344CB8AC3E}">
        <p14:creationId xmlns:p14="http://schemas.microsoft.com/office/powerpoint/2010/main" val="372078876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animBg="1"/>
      <p:bldP spid="18" grpId="0" animBg="1"/>
      <p:bldP spid="21" grpId="0" animBg="1"/>
      <p:bldP spid="23" grpId="0" animBg="1"/>
      <p:bldP spid="24" grpId="0" animBg="1"/>
      <p:bldP spid="25" grpId="0" animBg="1"/>
      <p:bldP spid="29" grpId="0"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3032E32-BFB7-C1A3-CB47-3EB59B367FE2}"/>
              </a:ext>
            </a:extLst>
          </p:cNvPr>
          <p:cNvPicPr>
            <a:picLocks noChangeAspect="1"/>
          </p:cNvPicPr>
          <p:nvPr/>
        </p:nvPicPr>
        <p:blipFill>
          <a:blip r:embed="rId2"/>
          <a:stretch>
            <a:fillRect/>
          </a:stretch>
        </p:blipFill>
        <p:spPr>
          <a:xfrm>
            <a:off x="1171654" y="2571210"/>
            <a:ext cx="15565582" cy="10809432"/>
          </a:xfrm>
          <a:prstGeom prst="rect">
            <a:avLst/>
          </a:prstGeom>
        </p:spPr>
      </p:pic>
      <p:sp>
        <p:nvSpPr>
          <p:cNvPr id="6" name="Title 2">
            <a:extLst>
              <a:ext uri="{FF2B5EF4-FFF2-40B4-BE49-F238E27FC236}">
                <a16:creationId xmlns:a16="http://schemas.microsoft.com/office/drawing/2014/main" id="{90441F20-4AB5-DC1D-AE19-829BD549668E}"/>
              </a:ext>
            </a:extLst>
          </p:cNvPr>
          <p:cNvSpPr txBox="1">
            <a:spLocks/>
          </p:cNvSpPr>
          <p:nvPr/>
        </p:nvSpPr>
        <p:spPr>
          <a:xfrm>
            <a:off x="1171654" y="1699652"/>
            <a:ext cx="17145001" cy="10179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ormAutofit/>
          </a:bodyPr>
          <a:lstStyle>
            <a:lvl1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1pPr>
            <a:lvl2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2pPr>
            <a:lvl3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3pPr>
            <a:lvl4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4pPr>
            <a:lvl5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5pPr>
            <a:lvl6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6pPr>
            <a:lvl7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7pPr>
            <a:lvl8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8pPr>
            <a:lvl9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9pPr>
          </a:lstStyle>
          <a:p>
            <a:pPr hangingPunct="1"/>
            <a:r>
              <a:rPr lang="en-US" sz="4400">
                <a:solidFill>
                  <a:srgbClr val="C00000"/>
                </a:solidFill>
              </a:rPr>
              <a:t>Proposed Solution</a:t>
            </a:r>
            <a:endParaRPr lang="en-US" sz="4400" dirty="0">
              <a:solidFill>
                <a:srgbClr val="C00000"/>
              </a:solidFill>
            </a:endParaRPr>
          </a:p>
        </p:txBody>
      </p:sp>
      <p:sp>
        <p:nvSpPr>
          <p:cNvPr id="7" name="Rectangle 6">
            <a:extLst>
              <a:ext uri="{FF2B5EF4-FFF2-40B4-BE49-F238E27FC236}">
                <a16:creationId xmlns:a16="http://schemas.microsoft.com/office/drawing/2014/main" id="{7DB4DCD2-D516-24BE-56F1-A989FC36D2D9}"/>
              </a:ext>
            </a:extLst>
          </p:cNvPr>
          <p:cNvSpPr/>
          <p:nvPr/>
        </p:nvSpPr>
        <p:spPr>
          <a:xfrm>
            <a:off x="1171654" y="5878969"/>
            <a:ext cx="15565582" cy="4117086"/>
          </a:xfrm>
          <a:prstGeom prst="rect">
            <a:avLst/>
          </a:prstGeom>
          <a:noFill/>
          <a:ln w="57150"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a:ln>
                <a:noFill/>
              </a:ln>
              <a:solidFill>
                <a:srgbClr val="FFFFFF"/>
              </a:solidFill>
              <a:effectLst/>
              <a:uFillTx/>
              <a:latin typeface="DIN Condensed Bold"/>
              <a:ea typeface="DIN Condensed Bold"/>
              <a:cs typeface="DIN Condensed Bold"/>
              <a:sym typeface="DIN Condensed Bold"/>
            </a:endParaRPr>
          </a:p>
        </p:txBody>
      </p:sp>
      <p:sp>
        <p:nvSpPr>
          <p:cNvPr id="8" name="TextBox 7">
            <a:extLst>
              <a:ext uri="{FF2B5EF4-FFF2-40B4-BE49-F238E27FC236}">
                <a16:creationId xmlns:a16="http://schemas.microsoft.com/office/drawing/2014/main" id="{4AA9214F-4010-142F-7A18-33471137E45F}"/>
              </a:ext>
            </a:extLst>
          </p:cNvPr>
          <p:cNvSpPr txBox="1"/>
          <p:nvPr/>
        </p:nvSpPr>
        <p:spPr>
          <a:xfrm>
            <a:off x="17339865" y="7200276"/>
            <a:ext cx="5872481" cy="11214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l" defTabSz="821531" rtl="0" fontAlgn="auto" latinLnBrk="0" hangingPunct="0">
              <a:lnSpc>
                <a:spcPct val="100000"/>
              </a:lnSpc>
              <a:spcBef>
                <a:spcPts val="3300"/>
              </a:spcBef>
              <a:spcAft>
                <a:spcPts val="0"/>
              </a:spcAft>
              <a:buClrTx/>
              <a:buSzTx/>
              <a:buFontTx/>
              <a:buNone/>
              <a:tabLst/>
            </a:pPr>
            <a:r>
              <a:rPr kumimoji="0" lang="en-US" sz="3600" b="0" i="0" u="none" strike="noStrike" cap="none" spc="0" normalizeH="0" baseline="0" dirty="0">
                <a:ln>
                  <a:noFill/>
                </a:ln>
                <a:solidFill>
                  <a:srgbClr val="C00000"/>
                </a:solidFill>
                <a:effectLst/>
                <a:uFillTx/>
                <a:latin typeface="+mn-lt"/>
                <a:ea typeface="Avenir Next Medium"/>
                <a:cs typeface="Avenir Next Medium"/>
                <a:sym typeface="Avenir Next Medium"/>
              </a:rPr>
              <a:t>Our main contribution!</a:t>
            </a:r>
          </a:p>
        </p:txBody>
      </p:sp>
      <p:sp>
        <p:nvSpPr>
          <p:cNvPr id="9" name="Rectangle 8">
            <a:extLst>
              <a:ext uri="{FF2B5EF4-FFF2-40B4-BE49-F238E27FC236}">
                <a16:creationId xmlns:a16="http://schemas.microsoft.com/office/drawing/2014/main" id="{64588CF9-F5A0-FF07-7183-49576333CC44}"/>
              </a:ext>
            </a:extLst>
          </p:cNvPr>
          <p:cNvSpPr/>
          <p:nvPr/>
        </p:nvSpPr>
        <p:spPr>
          <a:xfrm>
            <a:off x="11495410" y="12174480"/>
            <a:ext cx="381399" cy="294651"/>
          </a:xfrm>
          <a:prstGeom prst="rect">
            <a:avLst/>
          </a:prstGeom>
          <a:solidFill>
            <a:srgbClr val="FFFFFF"/>
          </a:solidFill>
          <a:ln w="127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a:ln>
                <a:noFill/>
              </a:ln>
              <a:solidFill>
                <a:srgbClr val="FFFFFF"/>
              </a:solidFill>
              <a:effectLst/>
              <a:uFillTx/>
              <a:latin typeface="DIN Condensed Bold"/>
              <a:ea typeface="DIN Condensed Bold"/>
              <a:cs typeface="DIN Condensed Bold"/>
              <a:sym typeface="DIN Condensed Bold"/>
            </a:endParaRPr>
          </a:p>
        </p:txBody>
      </p:sp>
      <p:sp>
        <p:nvSpPr>
          <p:cNvPr id="10" name="Rectangle 9">
            <a:extLst>
              <a:ext uri="{FF2B5EF4-FFF2-40B4-BE49-F238E27FC236}">
                <a16:creationId xmlns:a16="http://schemas.microsoft.com/office/drawing/2014/main" id="{776DF94B-487C-166C-85C4-7262819AB97F}"/>
              </a:ext>
            </a:extLst>
          </p:cNvPr>
          <p:cNvSpPr/>
          <p:nvPr/>
        </p:nvSpPr>
        <p:spPr>
          <a:xfrm>
            <a:off x="23561040" y="12891795"/>
            <a:ext cx="457200" cy="610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kumimoji="0" lang="en-US" sz="3800" b="0" i="0" u="none" strike="noStrike" cap="all" spc="0" normalizeH="0" baseline="0" dirty="0">
                <a:ln>
                  <a:noFill/>
                </a:ln>
                <a:solidFill>
                  <a:srgbClr val="C52060"/>
                </a:solidFill>
                <a:effectLst/>
                <a:uFillTx/>
                <a:latin typeface="+mj-lt"/>
                <a:ea typeface="DIN Condensed Bold"/>
                <a:cs typeface="DIN Condensed Bold"/>
                <a:sym typeface="DIN Condensed Bold"/>
              </a:rPr>
              <a:t>5</a:t>
            </a:r>
          </a:p>
        </p:txBody>
      </p:sp>
    </p:spTree>
    <p:extLst>
      <p:ext uri="{BB962C8B-B14F-4D97-AF65-F5344CB8AC3E}">
        <p14:creationId xmlns:p14="http://schemas.microsoft.com/office/powerpoint/2010/main" val="82387291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5DBFCB1-0B4C-31E0-29A5-C6585173BF8A}"/>
              </a:ext>
            </a:extLst>
          </p:cNvPr>
          <p:cNvSpPr>
            <a:spLocks noGrp="1"/>
          </p:cNvSpPr>
          <p:nvPr>
            <p:ph type="title"/>
          </p:nvPr>
        </p:nvSpPr>
        <p:spPr>
          <a:xfrm>
            <a:off x="1171654" y="2121311"/>
            <a:ext cx="19006106" cy="1017985"/>
          </a:xfrm>
        </p:spPr>
        <p:txBody>
          <a:bodyPr>
            <a:normAutofit fontScale="90000"/>
          </a:bodyPr>
          <a:lstStyle/>
          <a:p>
            <a:r>
              <a:rPr lang="en-US" sz="4400" dirty="0">
                <a:solidFill>
                  <a:srgbClr val="C00000"/>
                </a:solidFill>
              </a:rPr>
              <a:t>Taking a step back: What is one way to think about unobserved confounding?</a:t>
            </a:r>
          </a:p>
        </p:txBody>
      </p:sp>
      <p:graphicFrame>
        <p:nvGraphicFramePr>
          <p:cNvPr id="5" name="Table 4">
            <a:extLst>
              <a:ext uri="{FF2B5EF4-FFF2-40B4-BE49-F238E27FC236}">
                <a16:creationId xmlns:a16="http://schemas.microsoft.com/office/drawing/2014/main" id="{7AF775CD-08A6-5E3F-5428-244C64377175}"/>
              </a:ext>
            </a:extLst>
          </p:cNvPr>
          <p:cNvGraphicFramePr>
            <a:graphicFrameLocks noGrp="1"/>
          </p:cNvGraphicFramePr>
          <p:nvPr>
            <p:extLst>
              <p:ext uri="{D42A27DB-BD31-4B8C-83A1-F6EECF244321}">
                <p14:modId xmlns:p14="http://schemas.microsoft.com/office/powerpoint/2010/main" val="3557247646"/>
              </p:ext>
            </p:extLst>
          </p:nvPr>
        </p:nvGraphicFramePr>
        <p:xfrm>
          <a:off x="5900530" y="4742661"/>
          <a:ext cx="12582940" cy="5546483"/>
        </p:xfrm>
        <a:graphic>
          <a:graphicData uri="http://schemas.openxmlformats.org/drawingml/2006/table">
            <a:tbl>
              <a:tblPr firstRow="1" bandRow="1">
                <a:tableStyleId>{5940675A-B579-460E-94D1-54222C63F5DA}</a:tableStyleId>
              </a:tblPr>
              <a:tblGrid>
                <a:gridCol w="6291470">
                  <a:extLst>
                    <a:ext uri="{9D8B030D-6E8A-4147-A177-3AD203B41FA5}">
                      <a16:colId xmlns:a16="http://schemas.microsoft.com/office/drawing/2014/main" val="3836168296"/>
                    </a:ext>
                  </a:extLst>
                </a:gridCol>
                <a:gridCol w="6291470">
                  <a:extLst>
                    <a:ext uri="{9D8B030D-6E8A-4147-A177-3AD203B41FA5}">
                      <a16:colId xmlns:a16="http://schemas.microsoft.com/office/drawing/2014/main" val="3399294042"/>
                    </a:ext>
                  </a:extLst>
                </a:gridCol>
              </a:tblGrid>
              <a:tr h="2210090">
                <a:tc>
                  <a:txBody>
                    <a:bodyPr/>
                    <a:lstStyle/>
                    <a:p>
                      <a:endParaRPr lang="en-US" dirty="0">
                        <a:solidFill>
                          <a:schemeClr val="bg1"/>
                        </a:solidFill>
                      </a:endParaRPr>
                    </a:p>
                  </a:txBody>
                  <a:tcPr>
                    <a:solidFill>
                      <a:schemeClr val="tx1">
                        <a:lumMod val="20000"/>
                        <a:lumOff val="80000"/>
                      </a:schemeClr>
                    </a:solidFill>
                  </a:tcPr>
                </a:tc>
                <a:tc>
                  <a:txBody>
                    <a:bodyPr/>
                    <a:lstStyle/>
                    <a:p>
                      <a:endParaRPr lang="en-US" dirty="0">
                        <a:solidFill>
                          <a:schemeClr val="bg1"/>
                        </a:solidFill>
                      </a:endParaRPr>
                    </a:p>
                  </a:txBody>
                  <a:tcPr>
                    <a:solidFill>
                      <a:schemeClr val="tx1">
                        <a:lumMod val="20000"/>
                        <a:lumOff val="80000"/>
                      </a:schemeClr>
                    </a:solidFill>
                  </a:tcPr>
                </a:tc>
                <a:extLst>
                  <a:ext uri="{0D108BD9-81ED-4DB2-BD59-A6C34878D82A}">
                    <a16:rowId xmlns:a16="http://schemas.microsoft.com/office/drawing/2014/main" val="2676565202"/>
                  </a:ext>
                </a:extLst>
              </a:tr>
              <a:tr h="3336393">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74986606"/>
                  </a:ext>
                </a:extLst>
              </a:tr>
            </a:tbl>
          </a:graphicData>
        </a:graphic>
      </p:graphicFrame>
      <p:pic>
        <p:nvPicPr>
          <p:cNvPr id="6" name="Picture 5">
            <a:extLst>
              <a:ext uri="{FF2B5EF4-FFF2-40B4-BE49-F238E27FC236}">
                <a16:creationId xmlns:a16="http://schemas.microsoft.com/office/drawing/2014/main" id="{B508D251-1B7C-3134-D634-6BADAF54B87A}"/>
              </a:ext>
            </a:extLst>
          </p:cNvPr>
          <p:cNvPicPr>
            <a:picLocks noChangeAspect="1"/>
          </p:cNvPicPr>
          <p:nvPr/>
        </p:nvPicPr>
        <p:blipFill>
          <a:blip r:embed="rId2"/>
          <a:stretch>
            <a:fillRect/>
          </a:stretch>
        </p:blipFill>
        <p:spPr>
          <a:xfrm>
            <a:off x="14387594" y="4973414"/>
            <a:ext cx="1950431" cy="1950431"/>
          </a:xfrm>
          <a:prstGeom prst="rect">
            <a:avLst/>
          </a:prstGeom>
        </p:spPr>
      </p:pic>
      <p:pic>
        <p:nvPicPr>
          <p:cNvPr id="7" name="Picture 6">
            <a:extLst>
              <a:ext uri="{FF2B5EF4-FFF2-40B4-BE49-F238E27FC236}">
                <a16:creationId xmlns:a16="http://schemas.microsoft.com/office/drawing/2014/main" id="{914F0C12-EB62-AC88-7C64-10D64F5472B1}"/>
              </a:ext>
            </a:extLst>
          </p:cNvPr>
          <p:cNvPicPr>
            <a:picLocks noChangeAspect="1"/>
          </p:cNvPicPr>
          <p:nvPr/>
        </p:nvPicPr>
        <p:blipFill>
          <a:blip r:embed="rId3"/>
          <a:stretch>
            <a:fillRect/>
          </a:stretch>
        </p:blipFill>
        <p:spPr>
          <a:xfrm>
            <a:off x="8326052" y="4996181"/>
            <a:ext cx="1904507" cy="1904507"/>
          </a:xfrm>
          <a:prstGeom prst="rect">
            <a:avLst/>
          </a:prstGeom>
        </p:spPr>
      </p:pic>
      <p:pic>
        <p:nvPicPr>
          <p:cNvPr id="8" name="Picture 7">
            <a:extLst>
              <a:ext uri="{FF2B5EF4-FFF2-40B4-BE49-F238E27FC236}">
                <a16:creationId xmlns:a16="http://schemas.microsoft.com/office/drawing/2014/main" id="{C95D8700-CA5F-DB11-82D6-22FD417CD34A}"/>
              </a:ext>
            </a:extLst>
          </p:cNvPr>
          <p:cNvPicPr>
            <a:picLocks noChangeAspect="1"/>
          </p:cNvPicPr>
          <p:nvPr/>
        </p:nvPicPr>
        <p:blipFill>
          <a:blip r:embed="rId4"/>
          <a:stretch>
            <a:fillRect/>
          </a:stretch>
        </p:blipFill>
        <p:spPr>
          <a:xfrm>
            <a:off x="7761143" y="9039564"/>
            <a:ext cx="843722" cy="843722"/>
          </a:xfrm>
          <a:prstGeom prst="rect">
            <a:avLst/>
          </a:prstGeom>
        </p:spPr>
      </p:pic>
      <p:pic>
        <p:nvPicPr>
          <p:cNvPr id="9" name="Picture 8">
            <a:extLst>
              <a:ext uri="{FF2B5EF4-FFF2-40B4-BE49-F238E27FC236}">
                <a16:creationId xmlns:a16="http://schemas.microsoft.com/office/drawing/2014/main" id="{6DF4421E-20AF-DDAE-70DB-62F0DAC5DF00}"/>
              </a:ext>
            </a:extLst>
          </p:cNvPr>
          <p:cNvPicPr>
            <a:picLocks noChangeAspect="1"/>
          </p:cNvPicPr>
          <p:nvPr/>
        </p:nvPicPr>
        <p:blipFill>
          <a:blip r:embed="rId4"/>
          <a:stretch>
            <a:fillRect/>
          </a:stretch>
        </p:blipFill>
        <p:spPr>
          <a:xfrm>
            <a:off x="7904191" y="7454042"/>
            <a:ext cx="843722" cy="843722"/>
          </a:xfrm>
          <a:prstGeom prst="rect">
            <a:avLst/>
          </a:prstGeom>
        </p:spPr>
      </p:pic>
      <p:pic>
        <p:nvPicPr>
          <p:cNvPr id="10" name="Picture 9">
            <a:extLst>
              <a:ext uri="{FF2B5EF4-FFF2-40B4-BE49-F238E27FC236}">
                <a16:creationId xmlns:a16="http://schemas.microsoft.com/office/drawing/2014/main" id="{1C39E5FD-D27A-1BAC-44A5-5D5F59C6E39E}"/>
              </a:ext>
            </a:extLst>
          </p:cNvPr>
          <p:cNvPicPr>
            <a:picLocks noChangeAspect="1"/>
          </p:cNvPicPr>
          <p:nvPr/>
        </p:nvPicPr>
        <p:blipFill>
          <a:blip r:embed="rId4"/>
          <a:stretch>
            <a:fillRect/>
          </a:stretch>
        </p:blipFill>
        <p:spPr>
          <a:xfrm>
            <a:off x="15678011" y="9031417"/>
            <a:ext cx="843722" cy="843722"/>
          </a:xfrm>
          <a:prstGeom prst="rect">
            <a:avLst/>
          </a:prstGeom>
        </p:spPr>
      </p:pic>
      <p:pic>
        <p:nvPicPr>
          <p:cNvPr id="11" name="Picture 10">
            <a:extLst>
              <a:ext uri="{FF2B5EF4-FFF2-40B4-BE49-F238E27FC236}">
                <a16:creationId xmlns:a16="http://schemas.microsoft.com/office/drawing/2014/main" id="{2A183894-B25E-DEFC-2C0A-E88C3EAEEF1F}"/>
              </a:ext>
            </a:extLst>
          </p:cNvPr>
          <p:cNvPicPr>
            <a:picLocks noChangeAspect="1"/>
          </p:cNvPicPr>
          <p:nvPr/>
        </p:nvPicPr>
        <p:blipFill>
          <a:blip r:embed="rId4"/>
          <a:stretch>
            <a:fillRect/>
          </a:stretch>
        </p:blipFill>
        <p:spPr>
          <a:xfrm>
            <a:off x="7335357" y="8138468"/>
            <a:ext cx="843722" cy="843722"/>
          </a:xfrm>
          <a:prstGeom prst="rect">
            <a:avLst/>
          </a:prstGeom>
        </p:spPr>
      </p:pic>
      <p:pic>
        <p:nvPicPr>
          <p:cNvPr id="12" name="Picture 11">
            <a:extLst>
              <a:ext uri="{FF2B5EF4-FFF2-40B4-BE49-F238E27FC236}">
                <a16:creationId xmlns:a16="http://schemas.microsoft.com/office/drawing/2014/main" id="{E4D2E446-81D2-0610-28C7-996BB283B327}"/>
              </a:ext>
            </a:extLst>
          </p:cNvPr>
          <p:cNvPicPr>
            <a:picLocks noChangeAspect="1"/>
          </p:cNvPicPr>
          <p:nvPr/>
        </p:nvPicPr>
        <p:blipFill>
          <a:blip r:embed="rId4"/>
          <a:stretch>
            <a:fillRect/>
          </a:stretch>
        </p:blipFill>
        <p:spPr>
          <a:xfrm>
            <a:off x="14290652" y="9045857"/>
            <a:ext cx="843722" cy="843722"/>
          </a:xfrm>
          <a:prstGeom prst="rect">
            <a:avLst/>
          </a:prstGeom>
        </p:spPr>
      </p:pic>
      <p:pic>
        <p:nvPicPr>
          <p:cNvPr id="13" name="Picture 12">
            <a:extLst>
              <a:ext uri="{FF2B5EF4-FFF2-40B4-BE49-F238E27FC236}">
                <a16:creationId xmlns:a16="http://schemas.microsoft.com/office/drawing/2014/main" id="{659AC912-B2E2-B299-5BB8-99515E1A32A6}"/>
              </a:ext>
            </a:extLst>
          </p:cNvPr>
          <p:cNvPicPr>
            <a:picLocks noChangeAspect="1"/>
          </p:cNvPicPr>
          <p:nvPr/>
        </p:nvPicPr>
        <p:blipFill>
          <a:blip r:embed="rId4"/>
          <a:stretch>
            <a:fillRect/>
          </a:stretch>
        </p:blipFill>
        <p:spPr>
          <a:xfrm>
            <a:off x="10028047" y="8046641"/>
            <a:ext cx="843722" cy="843722"/>
          </a:xfrm>
          <a:prstGeom prst="rect">
            <a:avLst/>
          </a:prstGeom>
        </p:spPr>
      </p:pic>
      <p:pic>
        <p:nvPicPr>
          <p:cNvPr id="14" name="Picture 13">
            <a:extLst>
              <a:ext uri="{FF2B5EF4-FFF2-40B4-BE49-F238E27FC236}">
                <a16:creationId xmlns:a16="http://schemas.microsoft.com/office/drawing/2014/main" id="{5F1D4EE4-7C7C-18EB-49C4-07B56EF0CBA1}"/>
              </a:ext>
            </a:extLst>
          </p:cNvPr>
          <p:cNvPicPr>
            <a:picLocks noChangeAspect="1"/>
          </p:cNvPicPr>
          <p:nvPr/>
        </p:nvPicPr>
        <p:blipFill>
          <a:blip r:embed="rId4"/>
          <a:stretch>
            <a:fillRect/>
          </a:stretch>
        </p:blipFill>
        <p:spPr>
          <a:xfrm>
            <a:off x="8162609" y="8412513"/>
            <a:ext cx="843722" cy="843722"/>
          </a:xfrm>
          <a:prstGeom prst="rect">
            <a:avLst/>
          </a:prstGeom>
        </p:spPr>
      </p:pic>
      <p:pic>
        <p:nvPicPr>
          <p:cNvPr id="15" name="Picture 14">
            <a:extLst>
              <a:ext uri="{FF2B5EF4-FFF2-40B4-BE49-F238E27FC236}">
                <a16:creationId xmlns:a16="http://schemas.microsoft.com/office/drawing/2014/main" id="{BBCC4973-6F36-DA2D-DFF6-E9C3ED9DE429}"/>
              </a:ext>
            </a:extLst>
          </p:cNvPr>
          <p:cNvPicPr>
            <a:picLocks noChangeAspect="1"/>
          </p:cNvPicPr>
          <p:nvPr/>
        </p:nvPicPr>
        <p:blipFill>
          <a:blip r:embed="rId4"/>
          <a:stretch>
            <a:fillRect/>
          </a:stretch>
        </p:blipFill>
        <p:spPr>
          <a:xfrm>
            <a:off x="14903624" y="7413842"/>
            <a:ext cx="843722" cy="843722"/>
          </a:xfrm>
          <a:prstGeom prst="rect">
            <a:avLst/>
          </a:prstGeom>
        </p:spPr>
      </p:pic>
      <p:pic>
        <p:nvPicPr>
          <p:cNvPr id="16" name="Picture 15">
            <a:extLst>
              <a:ext uri="{FF2B5EF4-FFF2-40B4-BE49-F238E27FC236}">
                <a16:creationId xmlns:a16="http://schemas.microsoft.com/office/drawing/2014/main" id="{F203BF74-0AD9-1D85-58F3-F789CDF5B774}"/>
              </a:ext>
            </a:extLst>
          </p:cNvPr>
          <p:cNvPicPr>
            <a:picLocks noChangeAspect="1"/>
          </p:cNvPicPr>
          <p:nvPr/>
        </p:nvPicPr>
        <p:blipFill>
          <a:blip r:embed="rId4"/>
          <a:stretch>
            <a:fillRect/>
          </a:stretch>
        </p:blipFill>
        <p:spPr>
          <a:xfrm>
            <a:off x="9689271" y="9039564"/>
            <a:ext cx="843722" cy="843722"/>
          </a:xfrm>
          <a:prstGeom prst="rect">
            <a:avLst/>
          </a:prstGeom>
        </p:spPr>
      </p:pic>
      <p:pic>
        <p:nvPicPr>
          <p:cNvPr id="17" name="Picture 16">
            <a:extLst>
              <a:ext uri="{FF2B5EF4-FFF2-40B4-BE49-F238E27FC236}">
                <a16:creationId xmlns:a16="http://schemas.microsoft.com/office/drawing/2014/main" id="{3F7E1B4E-DB6F-4A27-4C6E-EF25262039FE}"/>
              </a:ext>
            </a:extLst>
          </p:cNvPr>
          <p:cNvPicPr>
            <a:picLocks noChangeAspect="1"/>
          </p:cNvPicPr>
          <p:nvPr/>
        </p:nvPicPr>
        <p:blipFill>
          <a:blip r:embed="rId4"/>
          <a:stretch>
            <a:fillRect/>
          </a:stretch>
        </p:blipFill>
        <p:spPr>
          <a:xfrm>
            <a:off x="15642155" y="7835703"/>
            <a:ext cx="843722" cy="843722"/>
          </a:xfrm>
          <a:prstGeom prst="rect">
            <a:avLst/>
          </a:prstGeom>
        </p:spPr>
      </p:pic>
      <p:pic>
        <p:nvPicPr>
          <p:cNvPr id="18" name="Picture 17">
            <a:extLst>
              <a:ext uri="{FF2B5EF4-FFF2-40B4-BE49-F238E27FC236}">
                <a16:creationId xmlns:a16="http://schemas.microsoft.com/office/drawing/2014/main" id="{0B24ADFC-2B53-B82E-279B-A03D68ECFE43}"/>
              </a:ext>
            </a:extLst>
          </p:cNvPr>
          <p:cNvPicPr>
            <a:picLocks noChangeAspect="1"/>
          </p:cNvPicPr>
          <p:nvPr/>
        </p:nvPicPr>
        <p:blipFill>
          <a:blip r:embed="rId4"/>
          <a:stretch>
            <a:fillRect/>
          </a:stretch>
        </p:blipFill>
        <p:spPr>
          <a:xfrm>
            <a:off x="9382183" y="7524720"/>
            <a:ext cx="843722" cy="843722"/>
          </a:xfrm>
          <a:prstGeom prst="rect">
            <a:avLst/>
          </a:prstGeom>
        </p:spPr>
      </p:pic>
      <p:pic>
        <p:nvPicPr>
          <p:cNvPr id="19" name="Picture 18">
            <a:extLst>
              <a:ext uri="{FF2B5EF4-FFF2-40B4-BE49-F238E27FC236}">
                <a16:creationId xmlns:a16="http://schemas.microsoft.com/office/drawing/2014/main" id="{CDAC7A62-56CD-99D4-3CD3-EC12D60A8240}"/>
              </a:ext>
            </a:extLst>
          </p:cNvPr>
          <p:cNvPicPr>
            <a:picLocks noChangeAspect="1"/>
          </p:cNvPicPr>
          <p:nvPr/>
        </p:nvPicPr>
        <p:blipFill>
          <a:blip r:embed="rId5"/>
          <a:stretch>
            <a:fillRect/>
          </a:stretch>
        </p:blipFill>
        <p:spPr>
          <a:xfrm>
            <a:off x="14001072" y="7384752"/>
            <a:ext cx="773044" cy="773044"/>
          </a:xfrm>
          <a:prstGeom prst="rect">
            <a:avLst/>
          </a:prstGeom>
        </p:spPr>
      </p:pic>
      <p:pic>
        <p:nvPicPr>
          <p:cNvPr id="20" name="Picture 19">
            <a:extLst>
              <a:ext uri="{FF2B5EF4-FFF2-40B4-BE49-F238E27FC236}">
                <a16:creationId xmlns:a16="http://schemas.microsoft.com/office/drawing/2014/main" id="{3B9E8388-34FE-C012-E72D-215C4CD93B7E}"/>
              </a:ext>
            </a:extLst>
          </p:cNvPr>
          <p:cNvPicPr>
            <a:picLocks noChangeAspect="1"/>
          </p:cNvPicPr>
          <p:nvPr/>
        </p:nvPicPr>
        <p:blipFill>
          <a:blip r:embed="rId5"/>
          <a:stretch>
            <a:fillRect/>
          </a:stretch>
        </p:blipFill>
        <p:spPr>
          <a:xfrm>
            <a:off x="15147588" y="8977743"/>
            <a:ext cx="773044" cy="773044"/>
          </a:xfrm>
          <a:prstGeom prst="rect">
            <a:avLst/>
          </a:prstGeom>
        </p:spPr>
      </p:pic>
      <p:pic>
        <p:nvPicPr>
          <p:cNvPr id="21" name="Picture 20">
            <a:extLst>
              <a:ext uri="{FF2B5EF4-FFF2-40B4-BE49-F238E27FC236}">
                <a16:creationId xmlns:a16="http://schemas.microsoft.com/office/drawing/2014/main" id="{4489669F-83A8-7255-50CA-C7EEE1C5CE09}"/>
              </a:ext>
            </a:extLst>
          </p:cNvPr>
          <p:cNvPicPr>
            <a:picLocks noChangeAspect="1"/>
          </p:cNvPicPr>
          <p:nvPr/>
        </p:nvPicPr>
        <p:blipFill>
          <a:blip r:embed="rId5"/>
          <a:stretch>
            <a:fillRect/>
          </a:stretch>
        </p:blipFill>
        <p:spPr>
          <a:xfrm>
            <a:off x="9097532" y="8481381"/>
            <a:ext cx="830570" cy="830570"/>
          </a:xfrm>
          <a:prstGeom prst="rect">
            <a:avLst/>
          </a:prstGeom>
        </p:spPr>
      </p:pic>
      <p:pic>
        <p:nvPicPr>
          <p:cNvPr id="22" name="Picture 21">
            <a:extLst>
              <a:ext uri="{FF2B5EF4-FFF2-40B4-BE49-F238E27FC236}">
                <a16:creationId xmlns:a16="http://schemas.microsoft.com/office/drawing/2014/main" id="{3C122380-FC8D-8228-5A0D-0196630445CB}"/>
              </a:ext>
            </a:extLst>
          </p:cNvPr>
          <p:cNvPicPr>
            <a:picLocks noChangeAspect="1"/>
          </p:cNvPicPr>
          <p:nvPr/>
        </p:nvPicPr>
        <p:blipFill>
          <a:blip r:embed="rId5"/>
          <a:stretch>
            <a:fillRect/>
          </a:stretch>
        </p:blipFill>
        <p:spPr>
          <a:xfrm>
            <a:off x="8688278" y="7454042"/>
            <a:ext cx="830570" cy="830570"/>
          </a:xfrm>
          <a:prstGeom prst="rect">
            <a:avLst/>
          </a:prstGeom>
        </p:spPr>
      </p:pic>
      <p:pic>
        <p:nvPicPr>
          <p:cNvPr id="23" name="Picture 22">
            <a:extLst>
              <a:ext uri="{FF2B5EF4-FFF2-40B4-BE49-F238E27FC236}">
                <a16:creationId xmlns:a16="http://schemas.microsoft.com/office/drawing/2014/main" id="{C95B055E-D160-6B01-D2A6-04125EA119B3}"/>
              </a:ext>
            </a:extLst>
          </p:cNvPr>
          <p:cNvPicPr>
            <a:picLocks noChangeAspect="1"/>
          </p:cNvPicPr>
          <p:nvPr/>
        </p:nvPicPr>
        <p:blipFill>
          <a:blip r:embed="rId5"/>
          <a:stretch>
            <a:fillRect/>
          </a:stretch>
        </p:blipFill>
        <p:spPr>
          <a:xfrm>
            <a:off x="8711010" y="9150683"/>
            <a:ext cx="773044" cy="773044"/>
          </a:xfrm>
          <a:prstGeom prst="rect">
            <a:avLst/>
          </a:prstGeom>
        </p:spPr>
      </p:pic>
      <p:pic>
        <p:nvPicPr>
          <p:cNvPr id="24" name="Picture 23">
            <a:extLst>
              <a:ext uri="{FF2B5EF4-FFF2-40B4-BE49-F238E27FC236}">
                <a16:creationId xmlns:a16="http://schemas.microsoft.com/office/drawing/2014/main" id="{55974593-1986-833D-CFE1-F11840CC06B8}"/>
              </a:ext>
            </a:extLst>
          </p:cNvPr>
          <p:cNvPicPr>
            <a:picLocks noChangeAspect="1"/>
          </p:cNvPicPr>
          <p:nvPr/>
        </p:nvPicPr>
        <p:blipFill>
          <a:blip r:embed="rId5"/>
          <a:stretch>
            <a:fillRect/>
          </a:stretch>
        </p:blipFill>
        <p:spPr>
          <a:xfrm>
            <a:off x="7010304" y="8928277"/>
            <a:ext cx="830570" cy="830570"/>
          </a:xfrm>
          <a:prstGeom prst="rect">
            <a:avLst/>
          </a:prstGeom>
        </p:spPr>
      </p:pic>
      <p:pic>
        <p:nvPicPr>
          <p:cNvPr id="25" name="Picture 24">
            <a:extLst>
              <a:ext uri="{FF2B5EF4-FFF2-40B4-BE49-F238E27FC236}">
                <a16:creationId xmlns:a16="http://schemas.microsoft.com/office/drawing/2014/main" id="{2F8F612E-6614-B750-413B-B4867DE78E27}"/>
              </a:ext>
            </a:extLst>
          </p:cNvPr>
          <p:cNvPicPr>
            <a:picLocks noChangeAspect="1"/>
          </p:cNvPicPr>
          <p:nvPr/>
        </p:nvPicPr>
        <p:blipFill>
          <a:blip r:embed="rId4"/>
          <a:stretch>
            <a:fillRect/>
          </a:stretch>
        </p:blipFill>
        <p:spPr>
          <a:xfrm>
            <a:off x="16363825" y="7674541"/>
            <a:ext cx="843722" cy="843722"/>
          </a:xfrm>
          <a:prstGeom prst="rect">
            <a:avLst/>
          </a:prstGeom>
        </p:spPr>
      </p:pic>
      <p:pic>
        <p:nvPicPr>
          <p:cNvPr id="26" name="Picture 25">
            <a:extLst>
              <a:ext uri="{FF2B5EF4-FFF2-40B4-BE49-F238E27FC236}">
                <a16:creationId xmlns:a16="http://schemas.microsoft.com/office/drawing/2014/main" id="{2322CD2E-2BF9-763D-490B-499C8FCF5E66}"/>
              </a:ext>
            </a:extLst>
          </p:cNvPr>
          <p:cNvPicPr>
            <a:picLocks noChangeAspect="1"/>
          </p:cNvPicPr>
          <p:nvPr/>
        </p:nvPicPr>
        <p:blipFill>
          <a:blip r:embed="rId4"/>
          <a:stretch>
            <a:fillRect/>
          </a:stretch>
        </p:blipFill>
        <p:spPr>
          <a:xfrm>
            <a:off x="16259586" y="9321716"/>
            <a:ext cx="843722" cy="843722"/>
          </a:xfrm>
          <a:prstGeom prst="rect">
            <a:avLst/>
          </a:prstGeom>
        </p:spPr>
      </p:pic>
      <p:pic>
        <p:nvPicPr>
          <p:cNvPr id="27" name="Picture 26">
            <a:extLst>
              <a:ext uri="{FF2B5EF4-FFF2-40B4-BE49-F238E27FC236}">
                <a16:creationId xmlns:a16="http://schemas.microsoft.com/office/drawing/2014/main" id="{861A95D6-462E-57B9-789E-1264971CD51D}"/>
              </a:ext>
            </a:extLst>
          </p:cNvPr>
          <p:cNvPicPr>
            <a:picLocks noChangeAspect="1"/>
          </p:cNvPicPr>
          <p:nvPr/>
        </p:nvPicPr>
        <p:blipFill>
          <a:blip r:embed="rId4"/>
          <a:stretch>
            <a:fillRect/>
          </a:stretch>
        </p:blipFill>
        <p:spPr>
          <a:xfrm>
            <a:off x="16334713" y="8670663"/>
            <a:ext cx="843722" cy="843722"/>
          </a:xfrm>
          <a:prstGeom prst="rect">
            <a:avLst/>
          </a:prstGeom>
        </p:spPr>
      </p:pic>
      <p:pic>
        <p:nvPicPr>
          <p:cNvPr id="28" name="Picture 27">
            <a:extLst>
              <a:ext uri="{FF2B5EF4-FFF2-40B4-BE49-F238E27FC236}">
                <a16:creationId xmlns:a16="http://schemas.microsoft.com/office/drawing/2014/main" id="{6BEA0704-2EF1-B234-1364-70562DFE6411}"/>
              </a:ext>
            </a:extLst>
          </p:cNvPr>
          <p:cNvPicPr>
            <a:picLocks noChangeAspect="1"/>
          </p:cNvPicPr>
          <p:nvPr/>
        </p:nvPicPr>
        <p:blipFill>
          <a:blip r:embed="rId4"/>
          <a:stretch>
            <a:fillRect/>
          </a:stretch>
        </p:blipFill>
        <p:spPr>
          <a:xfrm>
            <a:off x="13803956" y="8115004"/>
            <a:ext cx="843722" cy="843722"/>
          </a:xfrm>
          <a:prstGeom prst="rect">
            <a:avLst/>
          </a:prstGeom>
        </p:spPr>
      </p:pic>
      <p:pic>
        <p:nvPicPr>
          <p:cNvPr id="29" name="Picture 28">
            <a:extLst>
              <a:ext uri="{FF2B5EF4-FFF2-40B4-BE49-F238E27FC236}">
                <a16:creationId xmlns:a16="http://schemas.microsoft.com/office/drawing/2014/main" id="{A11C1D18-19E5-68E7-89FD-ACD2FFB53B92}"/>
              </a:ext>
            </a:extLst>
          </p:cNvPr>
          <p:cNvPicPr>
            <a:picLocks noChangeAspect="1"/>
          </p:cNvPicPr>
          <p:nvPr/>
        </p:nvPicPr>
        <p:blipFill>
          <a:blip r:embed="rId5"/>
          <a:stretch>
            <a:fillRect/>
          </a:stretch>
        </p:blipFill>
        <p:spPr>
          <a:xfrm>
            <a:off x="14733216" y="8344695"/>
            <a:ext cx="773044" cy="773044"/>
          </a:xfrm>
          <a:prstGeom prst="rect">
            <a:avLst/>
          </a:prstGeom>
        </p:spPr>
      </p:pic>
      <p:pic>
        <p:nvPicPr>
          <p:cNvPr id="30" name="Picture 29">
            <a:extLst>
              <a:ext uri="{FF2B5EF4-FFF2-40B4-BE49-F238E27FC236}">
                <a16:creationId xmlns:a16="http://schemas.microsoft.com/office/drawing/2014/main" id="{FB8736A1-5F5D-6705-A305-886DBF8ED323}"/>
              </a:ext>
            </a:extLst>
          </p:cNvPr>
          <p:cNvPicPr>
            <a:picLocks noChangeAspect="1"/>
          </p:cNvPicPr>
          <p:nvPr/>
        </p:nvPicPr>
        <p:blipFill>
          <a:blip r:embed="rId5"/>
          <a:stretch>
            <a:fillRect/>
          </a:stretch>
        </p:blipFill>
        <p:spPr>
          <a:xfrm>
            <a:off x="13567467" y="9127863"/>
            <a:ext cx="773044" cy="773044"/>
          </a:xfrm>
          <a:prstGeom prst="rect">
            <a:avLst/>
          </a:prstGeom>
        </p:spPr>
      </p:pic>
      <p:sp>
        <p:nvSpPr>
          <p:cNvPr id="35" name="Rectangle 34">
            <a:extLst>
              <a:ext uri="{FF2B5EF4-FFF2-40B4-BE49-F238E27FC236}">
                <a16:creationId xmlns:a16="http://schemas.microsoft.com/office/drawing/2014/main" id="{A53C2EAE-8D2A-3C91-BD86-05E65DDB9F5D}"/>
              </a:ext>
            </a:extLst>
          </p:cNvPr>
          <p:cNvSpPr/>
          <p:nvPr/>
        </p:nvSpPr>
        <p:spPr>
          <a:xfrm>
            <a:off x="23561040" y="12891795"/>
            <a:ext cx="457200" cy="610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r>
              <a:rPr lang="en-US" sz="3800" cap="all" dirty="0">
                <a:solidFill>
                  <a:srgbClr val="C52060"/>
                </a:solidFill>
                <a:latin typeface="+mj-lt"/>
                <a:ea typeface="DIN Condensed Bold"/>
                <a:cs typeface="DIN Condensed Bold"/>
                <a:sym typeface="DIN Condensed Bold"/>
              </a:rPr>
              <a:t>6</a:t>
            </a:r>
            <a:endParaRPr kumimoji="0" lang="en-US" sz="3800" b="0" i="0" u="none" strike="noStrike" cap="all" spc="0" normalizeH="0" baseline="0" dirty="0">
              <a:ln>
                <a:noFill/>
              </a:ln>
              <a:solidFill>
                <a:srgbClr val="C52060"/>
              </a:solidFill>
              <a:effectLst/>
              <a:uFillTx/>
              <a:latin typeface="+mj-lt"/>
              <a:ea typeface="DIN Condensed Bold"/>
              <a:cs typeface="DIN Condensed Bold"/>
              <a:sym typeface="DIN Condensed Bold"/>
            </a:endParaRPr>
          </a:p>
        </p:txBody>
      </p:sp>
      <p:sp>
        <p:nvSpPr>
          <p:cNvPr id="36" name="Rectangle 35">
            <a:extLst>
              <a:ext uri="{FF2B5EF4-FFF2-40B4-BE49-F238E27FC236}">
                <a16:creationId xmlns:a16="http://schemas.microsoft.com/office/drawing/2014/main" id="{D81ADE40-1A2A-76D4-67D2-813A127D20E6}"/>
              </a:ext>
            </a:extLst>
          </p:cNvPr>
          <p:cNvSpPr/>
          <p:nvPr/>
        </p:nvSpPr>
        <p:spPr>
          <a:xfrm>
            <a:off x="11845605" y="4032220"/>
            <a:ext cx="6959600" cy="6985000"/>
          </a:xfrm>
          <a:prstGeom prst="rect">
            <a:avLst/>
          </a:prstGeom>
          <a:noFill/>
          <a:ln w="57150"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a:ln>
                <a:noFill/>
              </a:ln>
              <a:solidFill>
                <a:srgbClr val="FFFFFF"/>
              </a:solidFill>
              <a:effectLst/>
              <a:uFillTx/>
              <a:latin typeface="DIN Condensed Bold"/>
              <a:ea typeface="DIN Condensed Bold"/>
              <a:cs typeface="DIN Condensed Bold"/>
              <a:sym typeface="DIN Condensed Bold"/>
            </a:endParaRPr>
          </a:p>
        </p:txBody>
      </p:sp>
    </p:spTree>
    <p:extLst>
      <p:ext uri="{BB962C8B-B14F-4D97-AF65-F5344CB8AC3E}">
        <p14:creationId xmlns:p14="http://schemas.microsoft.com/office/powerpoint/2010/main" val="304313162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37F74-648B-FC96-D551-A9D84B42FB6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93A94A4-5ACA-BD6C-3FBC-3DF93F3EAD67}"/>
              </a:ext>
            </a:extLst>
          </p:cNvPr>
          <p:cNvSpPr>
            <a:spLocks noGrp="1"/>
          </p:cNvSpPr>
          <p:nvPr>
            <p:ph type="title"/>
          </p:nvPr>
        </p:nvSpPr>
        <p:spPr>
          <a:xfrm>
            <a:off x="1171654" y="2121311"/>
            <a:ext cx="19006106" cy="1017985"/>
          </a:xfrm>
        </p:spPr>
        <p:txBody>
          <a:bodyPr>
            <a:normAutofit fontScale="90000"/>
          </a:bodyPr>
          <a:lstStyle/>
          <a:p>
            <a:r>
              <a:rPr lang="en-US" sz="4400" dirty="0">
                <a:solidFill>
                  <a:srgbClr val="C00000"/>
                </a:solidFill>
              </a:rPr>
              <a:t>Taking a step back: What is one way to think about unobserved confounding?</a:t>
            </a:r>
          </a:p>
        </p:txBody>
      </p:sp>
      <p:graphicFrame>
        <p:nvGraphicFramePr>
          <p:cNvPr id="5" name="Table 4">
            <a:extLst>
              <a:ext uri="{FF2B5EF4-FFF2-40B4-BE49-F238E27FC236}">
                <a16:creationId xmlns:a16="http://schemas.microsoft.com/office/drawing/2014/main" id="{75B231E7-AE7B-30CE-C01B-55091F441362}"/>
              </a:ext>
            </a:extLst>
          </p:cNvPr>
          <p:cNvGraphicFramePr>
            <a:graphicFrameLocks noGrp="1"/>
          </p:cNvGraphicFramePr>
          <p:nvPr>
            <p:extLst>
              <p:ext uri="{D42A27DB-BD31-4B8C-83A1-F6EECF244321}">
                <p14:modId xmlns:p14="http://schemas.microsoft.com/office/powerpoint/2010/main" val="3783036598"/>
              </p:ext>
            </p:extLst>
          </p:nvPr>
        </p:nvGraphicFramePr>
        <p:xfrm>
          <a:off x="7442200" y="3505911"/>
          <a:ext cx="10033000" cy="8992537"/>
        </p:xfrm>
        <a:graphic>
          <a:graphicData uri="http://schemas.openxmlformats.org/drawingml/2006/table">
            <a:tbl>
              <a:tblPr firstRow="1" bandRow="1">
                <a:tableStyleId>{5940675A-B579-460E-94D1-54222C63F5DA}</a:tableStyleId>
              </a:tblPr>
              <a:tblGrid>
                <a:gridCol w="5016500">
                  <a:extLst>
                    <a:ext uri="{9D8B030D-6E8A-4147-A177-3AD203B41FA5}">
                      <a16:colId xmlns:a16="http://schemas.microsoft.com/office/drawing/2014/main" val="3399294042"/>
                    </a:ext>
                  </a:extLst>
                </a:gridCol>
                <a:gridCol w="5016500">
                  <a:extLst>
                    <a:ext uri="{9D8B030D-6E8A-4147-A177-3AD203B41FA5}">
                      <a16:colId xmlns:a16="http://schemas.microsoft.com/office/drawing/2014/main" val="1451783524"/>
                    </a:ext>
                  </a:extLst>
                </a:gridCol>
              </a:tblGrid>
              <a:tr h="2361489">
                <a:tc gridSpan="2">
                  <a:txBody>
                    <a:bodyPr/>
                    <a:lstStyle/>
                    <a:p>
                      <a:endParaRPr lang="en-US" dirty="0">
                        <a:solidFill>
                          <a:schemeClr val="bg1"/>
                        </a:solidFill>
                      </a:endParaRPr>
                    </a:p>
                  </a:txBody>
                  <a:tcPr>
                    <a:solidFill>
                      <a:schemeClr val="tx1">
                        <a:lumMod val="20000"/>
                        <a:lumOff val="80000"/>
                      </a:schemeClr>
                    </a:solidFill>
                  </a:tcPr>
                </a:tc>
                <a:tc hMerge="1">
                  <a:txBody>
                    <a:bodyPr/>
                    <a:lstStyle/>
                    <a:p>
                      <a:endParaRPr lang="en-US" dirty="0">
                        <a:solidFill>
                          <a:schemeClr val="bg1"/>
                        </a:solidFill>
                      </a:endParaRPr>
                    </a:p>
                  </a:txBody>
                  <a:tcPr>
                    <a:solidFill>
                      <a:schemeClr val="tx1">
                        <a:lumMod val="20000"/>
                        <a:lumOff val="80000"/>
                      </a:schemeClr>
                    </a:solidFill>
                  </a:tcPr>
                </a:tc>
                <a:extLst>
                  <a:ext uri="{0D108BD9-81ED-4DB2-BD59-A6C34878D82A}">
                    <a16:rowId xmlns:a16="http://schemas.microsoft.com/office/drawing/2014/main" val="2676565202"/>
                  </a:ext>
                </a:extLst>
              </a:tr>
              <a:tr h="236220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74986606"/>
                  </a:ext>
                </a:extLst>
              </a:tr>
              <a:tr h="4268848">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7544094"/>
                  </a:ext>
                </a:extLst>
              </a:tr>
            </a:tbl>
          </a:graphicData>
        </a:graphic>
      </p:graphicFrame>
      <p:pic>
        <p:nvPicPr>
          <p:cNvPr id="6" name="Picture 5">
            <a:extLst>
              <a:ext uri="{FF2B5EF4-FFF2-40B4-BE49-F238E27FC236}">
                <a16:creationId xmlns:a16="http://schemas.microsoft.com/office/drawing/2014/main" id="{AA3F6FAA-9FA3-5B23-D749-4FB0D01F55C6}"/>
              </a:ext>
            </a:extLst>
          </p:cNvPr>
          <p:cNvPicPr>
            <a:picLocks noChangeAspect="1"/>
          </p:cNvPicPr>
          <p:nvPr/>
        </p:nvPicPr>
        <p:blipFill>
          <a:blip r:embed="rId2"/>
          <a:stretch>
            <a:fillRect/>
          </a:stretch>
        </p:blipFill>
        <p:spPr>
          <a:xfrm>
            <a:off x="11517394" y="3779614"/>
            <a:ext cx="1950431" cy="1950431"/>
          </a:xfrm>
          <a:prstGeom prst="rect">
            <a:avLst/>
          </a:prstGeom>
        </p:spPr>
      </p:pic>
      <p:pic>
        <p:nvPicPr>
          <p:cNvPr id="10" name="Picture 9">
            <a:extLst>
              <a:ext uri="{FF2B5EF4-FFF2-40B4-BE49-F238E27FC236}">
                <a16:creationId xmlns:a16="http://schemas.microsoft.com/office/drawing/2014/main" id="{1FDBD6A7-D0B7-06F6-C0D8-5C93A057CE04}"/>
              </a:ext>
            </a:extLst>
          </p:cNvPr>
          <p:cNvPicPr>
            <a:picLocks noChangeAspect="1"/>
          </p:cNvPicPr>
          <p:nvPr/>
        </p:nvPicPr>
        <p:blipFill>
          <a:blip r:embed="rId3"/>
          <a:stretch>
            <a:fillRect/>
          </a:stretch>
        </p:blipFill>
        <p:spPr>
          <a:xfrm>
            <a:off x="15244427" y="10346481"/>
            <a:ext cx="843722" cy="843722"/>
          </a:xfrm>
          <a:prstGeom prst="rect">
            <a:avLst/>
          </a:prstGeom>
        </p:spPr>
      </p:pic>
      <p:pic>
        <p:nvPicPr>
          <p:cNvPr id="12" name="Picture 11">
            <a:extLst>
              <a:ext uri="{FF2B5EF4-FFF2-40B4-BE49-F238E27FC236}">
                <a16:creationId xmlns:a16="http://schemas.microsoft.com/office/drawing/2014/main" id="{00B9BDDC-C817-51E0-6130-1F82FEE56644}"/>
              </a:ext>
            </a:extLst>
          </p:cNvPr>
          <p:cNvPicPr>
            <a:picLocks noChangeAspect="1"/>
          </p:cNvPicPr>
          <p:nvPr/>
        </p:nvPicPr>
        <p:blipFill>
          <a:blip r:embed="rId3"/>
          <a:stretch>
            <a:fillRect/>
          </a:stretch>
        </p:blipFill>
        <p:spPr>
          <a:xfrm>
            <a:off x="13931188" y="10240214"/>
            <a:ext cx="843722" cy="843722"/>
          </a:xfrm>
          <a:prstGeom prst="rect">
            <a:avLst/>
          </a:prstGeom>
        </p:spPr>
      </p:pic>
      <p:pic>
        <p:nvPicPr>
          <p:cNvPr id="15" name="Picture 14">
            <a:extLst>
              <a:ext uri="{FF2B5EF4-FFF2-40B4-BE49-F238E27FC236}">
                <a16:creationId xmlns:a16="http://schemas.microsoft.com/office/drawing/2014/main" id="{D8AA35BE-E4EF-18D4-A065-81AEDB9E0627}"/>
              </a:ext>
            </a:extLst>
          </p:cNvPr>
          <p:cNvPicPr>
            <a:picLocks noChangeAspect="1"/>
          </p:cNvPicPr>
          <p:nvPr/>
        </p:nvPicPr>
        <p:blipFill>
          <a:blip r:embed="rId3"/>
          <a:stretch>
            <a:fillRect/>
          </a:stretch>
        </p:blipFill>
        <p:spPr>
          <a:xfrm>
            <a:off x="14470040" y="8728906"/>
            <a:ext cx="843722" cy="843722"/>
          </a:xfrm>
          <a:prstGeom prst="rect">
            <a:avLst/>
          </a:prstGeom>
        </p:spPr>
      </p:pic>
      <p:pic>
        <p:nvPicPr>
          <p:cNvPr id="17" name="Picture 16">
            <a:extLst>
              <a:ext uri="{FF2B5EF4-FFF2-40B4-BE49-F238E27FC236}">
                <a16:creationId xmlns:a16="http://schemas.microsoft.com/office/drawing/2014/main" id="{6E91FE42-D981-A554-90FB-E133564CEBF9}"/>
              </a:ext>
            </a:extLst>
          </p:cNvPr>
          <p:cNvPicPr>
            <a:picLocks noChangeAspect="1"/>
          </p:cNvPicPr>
          <p:nvPr/>
        </p:nvPicPr>
        <p:blipFill>
          <a:blip r:embed="rId3"/>
          <a:stretch>
            <a:fillRect/>
          </a:stretch>
        </p:blipFill>
        <p:spPr>
          <a:xfrm>
            <a:off x="15208571" y="9150767"/>
            <a:ext cx="843722" cy="843722"/>
          </a:xfrm>
          <a:prstGeom prst="rect">
            <a:avLst/>
          </a:prstGeom>
        </p:spPr>
      </p:pic>
      <p:pic>
        <p:nvPicPr>
          <p:cNvPr id="19" name="Picture 18">
            <a:extLst>
              <a:ext uri="{FF2B5EF4-FFF2-40B4-BE49-F238E27FC236}">
                <a16:creationId xmlns:a16="http://schemas.microsoft.com/office/drawing/2014/main" id="{8919F497-28DB-0738-7AF2-C120B7D5FEB7}"/>
              </a:ext>
            </a:extLst>
          </p:cNvPr>
          <p:cNvPicPr>
            <a:picLocks noChangeAspect="1"/>
          </p:cNvPicPr>
          <p:nvPr/>
        </p:nvPicPr>
        <p:blipFill>
          <a:blip r:embed="rId4"/>
          <a:stretch>
            <a:fillRect/>
          </a:stretch>
        </p:blipFill>
        <p:spPr>
          <a:xfrm>
            <a:off x="13567488" y="8699816"/>
            <a:ext cx="773044" cy="773044"/>
          </a:xfrm>
          <a:prstGeom prst="rect">
            <a:avLst/>
          </a:prstGeom>
        </p:spPr>
      </p:pic>
      <p:pic>
        <p:nvPicPr>
          <p:cNvPr id="20" name="Picture 19">
            <a:extLst>
              <a:ext uri="{FF2B5EF4-FFF2-40B4-BE49-F238E27FC236}">
                <a16:creationId xmlns:a16="http://schemas.microsoft.com/office/drawing/2014/main" id="{B9FB1215-5A90-7E45-2DE6-B331FBA9FD3D}"/>
              </a:ext>
            </a:extLst>
          </p:cNvPr>
          <p:cNvPicPr>
            <a:picLocks noChangeAspect="1"/>
          </p:cNvPicPr>
          <p:nvPr/>
        </p:nvPicPr>
        <p:blipFill>
          <a:blip r:embed="rId4"/>
          <a:stretch>
            <a:fillRect/>
          </a:stretch>
        </p:blipFill>
        <p:spPr>
          <a:xfrm>
            <a:off x="14714004" y="10292807"/>
            <a:ext cx="773044" cy="773044"/>
          </a:xfrm>
          <a:prstGeom prst="rect">
            <a:avLst/>
          </a:prstGeom>
        </p:spPr>
      </p:pic>
      <p:pic>
        <p:nvPicPr>
          <p:cNvPr id="25" name="Picture 24">
            <a:extLst>
              <a:ext uri="{FF2B5EF4-FFF2-40B4-BE49-F238E27FC236}">
                <a16:creationId xmlns:a16="http://schemas.microsoft.com/office/drawing/2014/main" id="{92EAC806-006B-8DC6-6B47-08D4D6CE0D79}"/>
              </a:ext>
            </a:extLst>
          </p:cNvPr>
          <p:cNvPicPr>
            <a:picLocks noChangeAspect="1"/>
          </p:cNvPicPr>
          <p:nvPr/>
        </p:nvPicPr>
        <p:blipFill>
          <a:blip r:embed="rId3"/>
          <a:stretch>
            <a:fillRect/>
          </a:stretch>
        </p:blipFill>
        <p:spPr>
          <a:xfrm>
            <a:off x="15930241" y="8989605"/>
            <a:ext cx="843722" cy="843722"/>
          </a:xfrm>
          <a:prstGeom prst="rect">
            <a:avLst/>
          </a:prstGeom>
        </p:spPr>
      </p:pic>
      <p:pic>
        <p:nvPicPr>
          <p:cNvPr id="26" name="Picture 25">
            <a:extLst>
              <a:ext uri="{FF2B5EF4-FFF2-40B4-BE49-F238E27FC236}">
                <a16:creationId xmlns:a16="http://schemas.microsoft.com/office/drawing/2014/main" id="{A94DA3F9-2E1A-3807-7C46-E0DBEFD46F24}"/>
              </a:ext>
            </a:extLst>
          </p:cNvPr>
          <p:cNvPicPr>
            <a:picLocks noChangeAspect="1"/>
          </p:cNvPicPr>
          <p:nvPr/>
        </p:nvPicPr>
        <p:blipFill>
          <a:blip r:embed="rId3"/>
          <a:stretch>
            <a:fillRect/>
          </a:stretch>
        </p:blipFill>
        <p:spPr>
          <a:xfrm>
            <a:off x="15826002" y="10636780"/>
            <a:ext cx="843722" cy="843722"/>
          </a:xfrm>
          <a:prstGeom prst="rect">
            <a:avLst/>
          </a:prstGeom>
        </p:spPr>
      </p:pic>
      <p:pic>
        <p:nvPicPr>
          <p:cNvPr id="27" name="Picture 26">
            <a:extLst>
              <a:ext uri="{FF2B5EF4-FFF2-40B4-BE49-F238E27FC236}">
                <a16:creationId xmlns:a16="http://schemas.microsoft.com/office/drawing/2014/main" id="{65AFE394-6C5F-17C0-B86D-01B883B8C245}"/>
              </a:ext>
            </a:extLst>
          </p:cNvPr>
          <p:cNvPicPr>
            <a:picLocks noChangeAspect="1"/>
          </p:cNvPicPr>
          <p:nvPr/>
        </p:nvPicPr>
        <p:blipFill>
          <a:blip r:embed="rId3"/>
          <a:stretch>
            <a:fillRect/>
          </a:stretch>
        </p:blipFill>
        <p:spPr>
          <a:xfrm>
            <a:off x="15901129" y="9985727"/>
            <a:ext cx="843722" cy="843722"/>
          </a:xfrm>
          <a:prstGeom prst="rect">
            <a:avLst/>
          </a:prstGeom>
        </p:spPr>
      </p:pic>
      <p:pic>
        <p:nvPicPr>
          <p:cNvPr id="28" name="Picture 27">
            <a:extLst>
              <a:ext uri="{FF2B5EF4-FFF2-40B4-BE49-F238E27FC236}">
                <a16:creationId xmlns:a16="http://schemas.microsoft.com/office/drawing/2014/main" id="{9E2FA57F-F4B8-91CF-2734-A0D3DACBC032}"/>
              </a:ext>
            </a:extLst>
          </p:cNvPr>
          <p:cNvPicPr>
            <a:picLocks noChangeAspect="1"/>
          </p:cNvPicPr>
          <p:nvPr/>
        </p:nvPicPr>
        <p:blipFill>
          <a:blip r:embed="rId3"/>
          <a:stretch>
            <a:fillRect/>
          </a:stretch>
        </p:blipFill>
        <p:spPr>
          <a:xfrm>
            <a:off x="13370372" y="9430068"/>
            <a:ext cx="843722" cy="843722"/>
          </a:xfrm>
          <a:prstGeom prst="rect">
            <a:avLst/>
          </a:prstGeom>
        </p:spPr>
      </p:pic>
      <p:pic>
        <p:nvPicPr>
          <p:cNvPr id="29" name="Picture 28">
            <a:extLst>
              <a:ext uri="{FF2B5EF4-FFF2-40B4-BE49-F238E27FC236}">
                <a16:creationId xmlns:a16="http://schemas.microsoft.com/office/drawing/2014/main" id="{8A1241E1-2FD5-FB81-4163-71E5036C0905}"/>
              </a:ext>
            </a:extLst>
          </p:cNvPr>
          <p:cNvPicPr>
            <a:picLocks noChangeAspect="1"/>
          </p:cNvPicPr>
          <p:nvPr/>
        </p:nvPicPr>
        <p:blipFill>
          <a:blip r:embed="rId4"/>
          <a:stretch>
            <a:fillRect/>
          </a:stretch>
        </p:blipFill>
        <p:spPr>
          <a:xfrm>
            <a:off x="14299632" y="9659759"/>
            <a:ext cx="773044" cy="773044"/>
          </a:xfrm>
          <a:prstGeom prst="rect">
            <a:avLst/>
          </a:prstGeom>
        </p:spPr>
      </p:pic>
      <p:pic>
        <p:nvPicPr>
          <p:cNvPr id="30" name="Picture 29">
            <a:extLst>
              <a:ext uri="{FF2B5EF4-FFF2-40B4-BE49-F238E27FC236}">
                <a16:creationId xmlns:a16="http://schemas.microsoft.com/office/drawing/2014/main" id="{6F80582D-F31F-84C1-79DA-B1C0C112C197}"/>
              </a:ext>
            </a:extLst>
          </p:cNvPr>
          <p:cNvPicPr>
            <a:picLocks noChangeAspect="1"/>
          </p:cNvPicPr>
          <p:nvPr/>
        </p:nvPicPr>
        <p:blipFill>
          <a:blip r:embed="rId4"/>
          <a:stretch>
            <a:fillRect/>
          </a:stretch>
        </p:blipFill>
        <p:spPr>
          <a:xfrm>
            <a:off x="13133883" y="10442927"/>
            <a:ext cx="773044" cy="773044"/>
          </a:xfrm>
          <a:prstGeom prst="rect">
            <a:avLst/>
          </a:prstGeom>
        </p:spPr>
      </p:pic>
      <p:pic>
        <p:nvPicPr>
          <p:cNvPr id="31" name="Picture 30">
            <a:extLst>
              <a:ext uri="{FF2B5EF4-FFF2-40B4-BE49-F238E27FC236}">
                <a16:creationId xmlns:a16="http://schemas.microsoft.com/office/drawing/2014/main" id="{CB125A37-9C57-F81D-920B-BF067417A979}"/>
              </a:ext>
            </a:extLst>
          </p:cNvPr>
          <p:cNvPicPr>
            <a:picLocks noChangeAspect="1"/>
          </p:cNvPicPr>
          <p:nvPr/>
        </p:nvPicPr>
        <p:blipFill>
          <a:blip r:embed="rId3"/>
          <a:stretch>
            <a:fillRect/>
          </a:stretch>
        </p:blipFill>
        <p:spPr>
          <a:xfrm>
            <a:off x="13133883" y="11319437"/>
            <a:ext cx="843722" cy="843722"/>
          </a:xfrm>
          <a:prstGeom prst="rect">
            <a:avLst/>
          </a:prstGeom>
        </p:spPr>
      </p:pic>
      <p:pic>
        <p:nvPicPr>
          <p:cNvPr id="32" name="Picture 31">
            <a:extLst>
              <a:ext uri="{FF2B5EF4-FFF2-40B4-BE49-F238E27FC236}">
                <a16:creationId xmlns:a16="http://schemas.microsoft.com/office/drawing/2014/main" id="{9634007A-8712-8183-3040-10E60F00A873}"/>
              </a:ext>
            </a:extLst>
          </p:cNvPr>
          <p:cNvPicPr>
            <a:picLocks noChangeAspect="1"/>
          </p:cNvPicPr>
          <p:nvPr/>
        </p:nvPicPr>
        <p:blipFill>
          <a:blip r:embed="rId4"/>
          <a:stretch>
            <a:fillRect/>
          </a:stretch>
        </p:blipFill>
        <p:spPr>
          <a:xfrm>
            <a:off x="14143063" y="11363238"/>
            <a:ext cx="773044" cy="773044"/>
          </a:xfrm>
          <a:prstGeom prst="rect">
            <a:avLst/>
          </a:prstGeom>
        </p:spPr>
      </p:pic>
      <p:pic>
        <p:nvPicPr>
          <p:cNvPr id="33" name="Picture 32">
            <a:extLst>
              <a:ext uri="{FF2B5EF4-FFF2-40B4-BE49-F238E27FC236}">
                <a16:creationId xmlns:a16="http://schemas.microsoft.com/office/drawing/2014/main" id="{1FA520E3-03CF-40BB-E8C4-84FE193BBA41}"/>
              </a:ext>
            </a:extLst>
          </p:cNvPr>
          <p:cNvPicPr>
            <a:picLocks noChangeAspect="1"/>
          </p:cNvPicPr>
          <p:nvPr/>
        </p:nvPicPr>
        <p:blipFill>
          <a:blip r:embed="rId3"/>
          <a:stretch>
            <a:fillRect/>
          </a:stretch>
        </p:blipFill>
        <p:spPr>
          <a:xfrm>
            <a:off x="15180331" y="11237473"/>
            <a:ext cx="843722" cy="843722"/>
          </a:xfrm>
          <a:prstGeom prst="rect">
            <a:avLst/>
          </a:prstGeom>
        </p:spPr>
      </p:pic>
      <p:pic>
        <p:nvPicPr>
          <p:cNvPr id="7" name="Picture 6">
            <a:extLst>
              <a:ext uri="{FF2B5EF4-FFF2-40B4-BE49-F238E27FC236}">
                <a16:creationId xmlns:a16="http://schemas.microsoft.com/office/drawing/2014/main" id="{1DB42283-C01A-13C9-63BD-7F443F33AA7C}"/>
              </a:ext>
            </a:extLst>
          </p:cNvPr>
          <p:cNvPicPr>
            <a:picLocks noChangeAspect="1"/>
          </p:cNvPicPr>
          <p:nvPr/>
        </p:nvPicPr>
        <p:blipFill>
          <a:blip r:embed="rId5"/>
          <a:stretch>
            <a:fillRect/>
          </a:stretch>
        </p:blipFill>
        <p:spPr>
          <a:xfrm>
            <a:off x="9220200" y="6241419"/>
            <a:ext cx="1625600" cy="1625600"/>
          </a:xfrm>
          <a:prstGeom prst="rect">
            <a:avLst/>
          </a:prstGeom>
        </p:spPr>
      </p:pic>
      <p:pic>
        <p:nvPicPr>
          <p:cNvPr id="8" name="Picture 7">
            <a:extLst>
              <a:ext uri="{FF2B5EF4-FFF2-40B4-BE49-F238E27FC236}">
                <a16:creationId xmlns:a16="http://schemas.microsoft.com/office/drawing/2014/main" id="{B4334BD1-B5CF-76C3-B384-AFA1E2345122}"/>
              </a:ext>
            </a:extLst>
          </p:cNvPr>
          <p:cNvPicPr>
            <a:picLocks noChangeAspect="1"/>
          </p:cNvPicPr>
          <p:nvPr/>
        </p:nvPicPr>
        <p:blipFill>
          <a:blip r:embed="rId6"/>
          <a:stretch>
            <a:fillRect/>
          </a:stretch>
        </p:blipFill>
        <p:spPr>
          <a:xfrm>
            <a:off x="14214094" y="6145233"/>
            <a:ext cx="1625600" cy="1625600"/>
          </a:xfrm>
          <a:prstGeom prst="rect">
            <a:avLst/>
          </a:prstGeom>
        </p:spPr>
      </p:pic>
      <p:sp>
        <p:nvSpPr>
          <p:cNvPr id="9" name="Rectangle 8">
            <a:extLst>
              <a:ext uri="{FF2B5EF4-FFF2-40B4-BE49-F238E27FC236}">
                <a16:creationId xmlns:a16="http://schemas.microsoft.com/office/drawing/2014/main" id="{D1A6B8EF-2EDA-A0EA-99F9-45FD4578F455}"/>
              </a:ext>
            </a:extLst>
          </p:cNvPr>
          <p:cNvSpPr/>
          <p:nvPr/>
        </p:nvSpPr>
        <p:spPr>
          <a:xfrm>
            <a:off x="23561040" y="12891795"/>
            <a:ext cx="457200" cy="610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r" defTabSz="821531" rtl="0" fontAlgn="auto" latinLnBrk="0" hangingPunct="0">
              <a:lnSpc>
                <a:spcPct val="80000"/>
              </a:lnSpc>
              <a:spcBef>
                <a:spcPts val="0"/>
              </a:spcBef>
              <a:spcAft>
                <a:spcPts val="0"/>
              </a:spcAft>
              <a:buClrTx/>
              <a:buSzTx/>
              <a:buFontTx/>
              <a:buNone/>
              <a:tabLst/>
            </a:pPr>
            <a:r>
              <a:rPr lang="en-US" sz="3800" cap="all" dirty="0">
                <a:solidFill>
                  <a:srgbClr val="C52060"/>
                </a:solidFill>
                <a:latin typeface="+mj-lt"/>
                <a:ea typeface="DIN Condensed Bold"/>
                <a:cs typeface="DIN Condensed Bold"/>
                <a:sym typeface="DIN Condensed Bold"/>
              </a:rPr>
              <a:t>7</a:t>
            </a:r>
            <a:endParaRPr kumimoji="0" lang="en-US" sz="3800" b="0" i="0" u="none" strike="noStrike" cap="all" spc="0" normalizeH="0" baseline="0" dirty="0">
              <a:ln>
                <a:noFill/>
              </a:ln>
              <a:solidFill>
                <a:srgbClr val="C52060"/>
              </a:solidFill>
              <a:effectLst/>
              <a:uFillTx/>
              <a:latin typeface="+mj-lt"/>
              <a:ea typeface="DIN Condensed Bold"/>
              <a:cs typeface="DIN Condensed Bold"/>
              <a:sym typeface="DIN Condensed Bold"/>
            </a:endParaRPr>
          </a:p>
        </p:txBody>
      </p:sp>
      <p:pic>
        <p:nvPicPr>
          <p:cNvPr id="11" name="Picture 10">
            <a:extLst>
              <a:ext uri="{FF2B5EF4-FFF2-40B4-BE49-F238E27FC236}">
                <a16:creationId xmlns:a16="http://schemas.microsoft.com/office/drawing/2014/main" id="{ABF23ADA-FE34-2A69-8F1C-80E9F4F9781F}"/>
              </a:ext>
            </a:extLst>
          </p:cNvPr>
          <p:cNvPicPr>
            <a:picLocks noChangeAspect="1"/>
          </p:cNvPicPr>
          <p:nvPr/>
        </p:nvPicPr>
        <p:blipFill>
          <a:blip r:embed="rId3"/>
          <a:stretch>
            <a:fillRect/>
          </a:stretch>
        </p:blipFill>
        <p:spPr>
          <a:xfrm>
            <a:off x="10394830" y="10325586"/>
            <a:ext cx="843722" cy="843722"/>
          </a:xfrm>
          <a:prstGeom prst="rect">
            <a:avLst/>
          </a:prstGeom>
        </p:spPr>
      </p:pic>
      <p:pic>
        <p:nvPicPr>
          <p:cNvPr id="13" name="Picture 12">
            <a:extLst>
              <a:ext uri="{FF2B5EF4-FFF2-40B4-BE49-F238E27FC236}">
                <a16:creationId xmlns:a16="http://schemas.microsoft.com/office/drawing/2014/main" id="{2B5B2415-CC57-08DB-3C9F-D647F93251BA}"/>
              </a:ext>
            </a:extLst>
          </p:cNvPr>
          <p:cNvPicPr>
            <a:picLocks noChangeAspect="1"/>
          </p:cNvPicPr>
          <p:nvPr/>
        </p:nvPicPr>
        <p:blipFill>
          <a:blip r:embed="rId3"/>
          <a:stretch>
            <a:fillRect/>
          </a:stretch>
        </p:blipFill>
        <p:spPr>
          <a:xfrm>
            <a:off x="9007471" y="10340026"/>
            <a:ext cx="843722" cy="843722"/>
          </a:xfrm>
          <a:prstGeom prst="rect">
            <a:avLst/>
          </a:prstGeom>
        </p:spPr>
      </p:pic>
      <p:pic>
        <p:nvPicPr>
          <p:cNvPr id="14" name="Picture 13">
            <a:extLst>
              <a:ext uri="{FF2B5EF4-FFF2-40B4-BE49-F238E27FC236}">
                <a16:creationId xmlns:a16="http://schemas.microsoft.com/office/drawing/2014/main" id="{5ABAFAA5-C6FE-A1F0-6EEF-9315AF8FB7DD}"/>
              </a:ext>
            </a:extLst>
          </p:cNvPr>
          <p:cNvPicPr>
            <a:picLocks noChangeAspect="1"/>
          </p:cNvPicPr>
          <p:nvPr/>
        </p:nvPicPr>
        <p:blipFill>
          <a:blip r:embed="rId3"/>
          <a:stretch>
            <a:fillRect/>
          </a:stretch>
        </p:blipFill>
        <p:spPr>
          <a:xfrm>
            <a:off x="9620443" y="8708011"/>
            <a:ext cx="843722" cy="843722"/>
          </a:xfrm>
          <a:prstGeom prst="rect">
            <a:avLst/>
          </a:prstGeom>
        </p:spPr>
      </p:pic>
      <p:pic>
        <p:nvPicPr>
          <p:cNvPr id="16" name="Picture 15">
            <a:extLst>
              <a:ext uri="{FF2B5EF4-FFF2-40B4-BE49-F238E27FC236}">
                <a16:creationId xmlns:a16="http://schemas.microsoft.com/office/drawing/2014/main" id="{3C097E85-5C27-004A-5B87-5C1C7C0CC14D}"/>
              </a:ext>
            </a:extLst>
          </p:cNvPr>
          <p:cNvPicPr>
            <a:picLocks noChangeAspect="1"/>
          </p:cNvPicPr>
          <p:nvPr/>
        </p:nvPicPr>
        <p:blipFill>
          <a:blip r:embed="rId3"/>
          <a:stretch>
            <a:fillRect/>
          </a:stretch>
        </p:blipFill>
        <p:spPr>
          <a:xfrm>
            <a:off x="10358974" y="9129872"/>
            <a:ext cx="843722" cy="843722"/>
          </a:xfrm>
          <a:prstGeom prst="rect">
            <a:avLst/>
          </a:prstGeom>
        </p:spPr>
      </p:pic>
      <p:pic>
        <p:nvPicPr>
          <p:cNvPr id="18" name="Picture 17">
            <a:extLst>
              <a:ext uri="{FF2B5EF4-FFF2-40B4-BE49-F238E27FC236}">
                <a16:creationId xmlns:a16="http://schemas.microsoft.com/office/drawing/2014/main" id="{13B51280-A711-421A-8730-54E318590289}"/>
              </a:ext>
            </a:extLst>
          </p:cNvPr>
          <p:cNvPicPr>
            <a:picLocks noChangeAspect="1"/>
          </p:cNvPicPr>
          <p:nvPr/>
        </p:nvPicPr>
        <p:blipFill>
          <a:blip r:embed="rId4"/>
          <a:stretch>
            <a:fillRect/>
          </a:stretch>
        </p:blipFill>
        <p:spPr>
          <a:xfrm>
            <a:off x="8717891" y="8678921"/>
            <a:ext cx="773044" cy="773044"/>
          </a:xfrm>
          <a:prstGeom prst="rect">
            <a:avLst/>
          </a:prstGeom>
        </p:spPr>
      </p:pic>
      <p:pic>
        <p:nvPicPr>
          <p:cNvPr id="21" name="Picture 20">
            <a:extLst>
              <a:ext uri="{FF2B5EF4-FFF2-40B4-BE49-F238E27FC236}">
                <a16:creationId xmlns:a16="http://schemas.microsoft.com/office/drawing/2014/main" id="{9B5506CA-F628-8FF7-2586-E97DB66BADFC}"/>
              </a:ext>
            </a:extLst>
          </p:cNvPr>
          <p:cNvPicPr>
            <a:picLocks noChangeAspect="1"/>
          </p:cNvPicPr>
          <p:nvPr/>
        </p:nvPicPr>
        <p:blipFill>
          <a:blip r:embed="rId4"/>
          <a:stretch>
            <a:fillRect/>
          </a:stretch>
        </p:blipFill>
        <p:spPr>
          <a:xfrm>
            <a:off x="9864407" y="10271912"/>
            <a:ext cx="773044" cy="773044"/>
          </a:xfrm>
          <a:prstGeom prst="rect">
            <a:avLst/>
          </a:prstGeom>
        </p:spPr>
      </p:pic>
      <p:pic>
        <p:nvPicPr>
          <p:cNvPr id="22" name="Picture 21">
            <a:extLst>
              <a:ext uri="{FF2B5EF4-FFF2-40B4-BE49-F238E27FC236}">
                <a16:creationId xmlns:a16="http://schemas.microsoft.com/office/drawing/2014/main" id="{C93C8D92-8A64-1500-5454-A4C027EC319F}"/>
              </a:ext>
            </a:extLst>
          </p:cNvPr>
          <p:cNvPicPr>
            <a:picLocks noChangeAspect="1"/>
          </p:cNvPicPr>
          <p:nvPr/>
        </p:nvPicPr>
        <p:blipFill>
          <a:blip r:embed="rId3"/>
          <a:stretch>
            <a:fillRect/>
          </a:stretch>
        </p:blipFill>
        <p:spPr>
          <a:xfrm>
            <a:off x="11153839" y="8924890"/>
            <a:ext cx="843722" cy="843722"/>
          </a:xfrm>
          <a:prstGeom prst="rect">
            <a:avLst/>
          </a:prstGeom>
        </p:spPr>
      </p:pic>
      <p:pic>
        <p:nvPicPr>
          <p:cNvPr id="23" name="Picture 22">
            <a:extLst>
              <a:ext uri="{FF2B5EF4-FFF2-40B4-BE49-F238E27FC236}">
                <a16:creationId xmlns:a16="http://schemas.microsoft.com/office/drawing/2014/main" id="{22BF0F0A-32D8-EE7E-8CF1-48770107937E}"/>
              </a:ext>
            </a:extLst>
          </p:cNvPr>
          <p:cNvPicPr>
            <a:picLocks noChangeAspect="1"/>
          </p:cNvPicPr>
          <p:nvPr/>
        </p:nvPicPr>
        <p:blipFill>
          <a:blip r:embed="rId3"/>
          <a:stretch>
            <a:fillRect/>
          </a:stretch>
        </p:blipFill>
        <p:spPr>
          <a:xfrm>
            <a:off x="11174463" y="10918893"/>
            <a:ext cx="843722" cy="843722"/>
          </a:xfrm>
          <a:prstGeom prst="rect">
            <a:avLst/>
          </a:prstGeom>
        </p:spPr>
      </p:pic>
      <p:pic>
        <p:nvPicPr>
          <p:cNvPr id="24" name="Picture 23">
            <a:extLst>
              <a:ext uri="{FF2B5EF4-FFF2-40B4-BE49-F238E27FC236}">
                <a16:creationId xmlns:a16="http://schemas.microsoft.com/office/drawing/2014/main" id="{4F6C3D1B-1405-EE37-C0CA-491C25F66465}"/>
              </a:ext>
            </a:extLst>
          </p:cNvPr>
          <p:cNvPicPr>
            <a:picLocks noChangeAspect="1"/>
          </p:cNvPicPr>
          <p:nvPr/>
        </p:nvPicPr>
        <p:blipFill>
          <a:blip r:embed="rId3"/>
          <a:stretch>
            <a:fillRect/>
          </a:stretch>
        </p:blipFill>
        <p:spPr>
          <a:xfrm>
            <a:off x="11051532" y="9964832"/>
            <a:ext cx="843722" cy="843722"/>
          </a:xfrm>
          <a:prstGeom prst="rect">
            <a:avLst/>
          </a:prstGeom>
        </p:spPr>
      </p:pic>
      <p:pic>
        <p:nvPicPr>
          <p:cNvPr id="34" name="Picture 33">
            <a:extLst>
              <a:ext uri="{FF2B5EF4-FFF2-40B4-BE49-F238E27FC236}">
                <a16:creationId xmlns:a16="http://schemas.microsoft.com/office/drawing/2014/main" id="{7D1275E0-D7F4-7F7A-25E2-6AAFFDE0720C}"/>
              </a:ext>
            </a:extLst>
          </p:cNvPr>
          <p:cNvPicPr>
            <a:picLocks noChangeAspect="1"/>
          </p:cNvPicPr>
          <p:nvPr/>
        </p:nvPicPr>
        <p:blipFill>
          <a:blip r:embed="rId3"/>
          <a:stretch>
            <a:fillRect/>
          </a:stretch>
        </p:blipFill>
        <p:spPr>
          <a:xfrm>
            <a:off x="8520775" y="9409173"/>
            <a:ext cx="843722" cy="843722"/>
          </a:xfrm>
          <a:prstGeom prst="rect">
            <a:avLst/>
          </a:prstGeom>
        </p:spPr>
      </p:pic>
      <p:pic>
        <p:nvPicPr>
          <p:cNvPr id="35" name="Picture 34">
            <a:extLst>
              <a:ext uri="{FF2B5EF4-FFF2-40B4-BE49-F238E27FC236}">
                <a16:creationId xmlns:a16="http://schemas.microsoft.com/office/drawing/2014/main" id="{20D42730-55F4-5715-E378-D20B302B4519}"/>
              </a:ext>
            </a:extLst>
          </p:cNvPr>
          <p:cNvPicPr>
            <a:picLocks noChangeAspect="1"/>
          </p:cNvPicPr>
          <p:nvPr/>
        </p:nvPicPr>
        <p:blipFill>
          <a:blip r:embed="rId4"/>
          <a:stretch>
            <a:fillRect/>
          </a:stretch>
        </p:blipFill>
        <p:spPr>
          <a:xfrm>
            <a:off x="9426381" y="9569319"/>
            <a:ext cx="773044" cy="773044"/>
          </a:xfrm>
          <a:prstGeom prst="rect">
            <a:avLst/>
          </a:prstGeom>
        </p:spPr>
      </p:pic>
      <p:pic>
        <p:nvPicPr>
          <p:cNvPr id="36" name="Picture 35">
            <a:extLst>
              <a:ext uri="{FF2B5EF4-FFF2-40B4-BE49-F238E27FC236}">
                <a16:creationId xmlns:a16="http://schemas.microsoft.com/office/drawing/2014/main" id="{5E8AFC55-3C9F-DD78-23B6-FE19A455A411}"/>
              </a:ext>
            </a:extLst>
          </p:cNvPr>
          <p:cNvPicPr>
            <a:picLocks noChangeAspect="1"/>
          </p:cNvPicPr>
          <p:nvPr/>
        </p:nvPicPr>
        <p:blipFill>
          <a:blip r:embed="rId4"/>
          <a:stretch>
            <a:fillRect/>
          </a:stretch>
        </p:blipFill>
        <p:spPr>
          <a:xfrm>
            <a:off x="8284286" y="10422032"/>
            <a:ext cx="773044" cy="773044"/>
          </a:xfrm>
          <a:prstGeom prst="rect">
            <a:avLst/>
          </a:prstGeom>
        </p:spPr>
      </p:pic>
      <p:pic>
        <p:nvPicPr>
          <p:cNvPr id="37" name="Picture 36">
            <a:extLst>
              <a:ext uri="{FF2B5EF4-FFF2-40B4-BE49-F238E27FC236}">
                <a16:creationId xmlns:a16="http://schemas.microsoft.com/office/drawing/2014/main" id="{A1658E6E-CA44-F1FF-623A-644F91E49291}"/>
              </a:ext>
            </a:extLst>
          </p:cNvPr>
          <p:cNvPicPr>
            <a:picLocks noChangeAspect="1"/>
          </p:cNvPicPr>
          <p:nvPr/>
        </p:nvPicPr>
        <p:blipFill>
          <a:blip r:embed="rId3"/>
          <a:stretch>
            <a:fillRect/>
          </a:stretch>
        </p:blipFill>
        <p:spPr>
          <a:xfrm>
            <a:off x="8284286" y="11298542"/>
            <a:ext cx="843722" cy="843722"/>
          </a:xfrm>
          <a:prstGeom prst="rect">
            <a:avLst/>
          </a:prstGeom>
        </p:spPr>
      </p:pic>
      <p:pic>
        <p:nvPicPr>
          <p:cNvPr id="38" name="Picture 37">
            <a:extLst>
              <a:ext uri="{FF2B5EF4-FFF2-40B4-BE49-F238E27FC236}">
                <a16:creationId xmlns:a16="http://schemas.microsoft.com/office/drawing/2014/main" id="{84C0762A-2D75-242D-ACA6-53033201FDB5}"/>
              </a:ext>
            </a:extLst>
          </p:cNvPr>
          <p:cNvPicPr>
            <a:picLocks noChangeAspect="1"/>
          </p:cNvPicPr>
          <p:nvPr/>
        </p:nvPicPr>
        <p:blipFill>
          <a:blip r:embed="rId4"/>
          <a:stretch>
            <a:fillRect/>
          </a:stretch>
        </p:blipFill>
        <p:spPr>
          <a:xfrm>
            <a:off x="9293466" y="11342343"/>
            <a:ext cx="773044" cy="773044"/>
          </a:xfrm>
          <a:prstGeom prst="rect">
            <a:avLst/>
          </a:prstGeom>
        </p:spPr>
      </p:pic>
      <p:pic>
        <p:nvPicPr>
          <p:cNvPr id="39" name="Picture 38">
            <a:extLst>
              <a:ext uri="{FF2B5EF4-FFF2-40B4-BE49-F238E27FC236}">
                <a16:creationId xmlns:a16="http://schemas.microsoft.com/office/drawing/2014/main" id="{BF34E8A1-A971-3CAD-68A7-90EED619A3CD}"/>
              </a:ext>
            </a:extLst>
          </p:cNvPr>
          <p:cNvPicPr>
            <a:picLocks noChangeAspect="1"/>
          </p:cNvPicPr>
          <p:nvPr/>
        </p:nvPicPr>
        <p:blipFill>
          <a:blip r:embed="rId3"/>
          <a:stretch>
            <a:fillRect/>
          </a:stretch>
        </p:blipFill>
        <p:spPr>
          <a:xfrm>
            <a:off x="10330734" y="11216578"/>
            <a:ext cx="843722" cy="843722"/>
          </a:xfrm>
          <a:prstGeom prst="rect">
            <a:avLst/>
          </a:prstGeom>
        </p:spPr>
      </p:pic>
      <p:sp>
        <p:nvSpPr>
          <p:cNvPr id="43" name="TextBox 42">
            <a:extLst>
              <a:ext uri="{FF2B5EF4-FFF2-40B4-BE49-F238E27FC236}">
                <a16:creationId xmlns:a16="http://schemas.microsoft.com/office/drawing/2014/main" id="{D93B02E0-2A14-9F32-235A-8B0FE3505BC8}"/>
              </a:ext>
            </a:extLst>
          </p:cNvPr>
          <p:cNvSpPr txBox="1"/>
          <p:nvPr/>
        </p:nvSpPr>
        <p:spPr>
          <a:xfrm>
            <a:off x="15313762" y="10935574"/>
            <a:ext cx="3406038" cy="11214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l" defTabSz="821531" rtl="0" fontAlgn="auto" latinLnBrk="0" hangingPunct="0">
              <a:lnSpc>
                <a:spcPct val="100000"/>
              </a:lnSpc>
              <a:spcBef>
                <a:spcPts val="3300"/>
              </a:spcBef>
              <a:spcAft>
                <a:spcPts val="0"/>
              </a:spcAft>
              <a:buClrTx/>
              <a:buSzTx/>
              <a:buFontTx/>
              <a:buNone/>
              <a:tabLst/>
            </a:pPr>
            <a:r>
              <a:rPr kumimoji="0" lang="en-US" sz="3600" b="0" i="0" u="none" strike="noStrike" cap="none" spc="0" normalizeH="0" baseline="0" dirty="0">
                <a:ln>
                  <a:noFill/>
                </a:ln>
                <a:solidFill>
                  <a:schemeClr val="bg1"/>
                </a:solidFill>
                <a:effectLst/>
                <a:uFillTx/>
                <a:latin typeface="+mn-lt"/>
                <a:ea typeface="Avenir Next Medium"/>
                <a:cs typeface="Avenir Next Medium"/>
                <a:sym typeface="Avenir Next Medium"/>
              </a:rPr>
              <a:t>John</a:t>
            </a:r>
          </a:p>
        </p:txBody>
      </p:sp>
      <p:pic>
        <p:nvPicPr>
          <p:cNvPr id="49" name="Picture 48">
            <a:extLst>
              <a:ext uri="{FF2B5EF4-FFF2-40B4-BE49-F238E27FC236}">
                <a16:creationId xmlns:a16="http://schemas.microsoft.com/office/drawing/2014/main" id="{9B7E11F1-CAC7-203B-3D39-100849541164}"/>
              </a:ext>
            </a:extLst>
          </p:cNvPr>
          <p:cNvPicPr>
            <a:picLocks noChangeAspect="1"/>
          </p:cNvPicPr>
          <p:nvPr/>
        </p:nvPicPr>
        <p:blipFill>
          <a:blip r:embed="rId3"/>
          <a:stretch>
            <a:fillRect/>
          </a:stretch>
        </p:blipFill>
        <p:spPr>
          <a:xfrm>
            <a:off x="13584681" y="9893707"/>
            <a:ext cx="1536737" cy="1536737"/>
          </a:xfrm>
          <a:prstGeom prst="rect">
            <a:avLst/>
          </a:prstGeom>
        </p:spPr>
      </p:pic>
      <p:pic>
        <p:nvPicPr>
          <p:cNvPr id="50" name="Picture 49">
            <a:extLst>
              <a:ext uri="{FF2B5EF4-FFF2-40B4-BE49-F238E27FC236}">
                <a16:creationId xmlns:a16="http://schemas.microsoft.com/office/drawing/2014/main" id="{281E967F-0678-092D-5E8A-39A412EB4EF8}"/>
              </a:ext>
            </a:extLst>
          </p:cNvPr>
          <p:cNvPicPr>
            <a:picLocks noChangeAspect="1"/>
          </p:cNvPicPr>
          <p:nvPr/>
        </p:nvPicPr>
        <p:blipFill>
          <a:blip r:embed="rId4"/>
          <a:stretch>
            <a:fillRect/>
          </a:stretch>
        </p:blipFill>
        <p:spPr>
          <a:xfrm>
            <a:off x="9081383" y="9224321"/>
            <a:ext cx="1463040" cy="1463040"/>
          </a:xfrm>
          <a:prstGeom prst="rect">
            <a:avLst/>
          </a:prstGeom>
        </p:spPr>
      </p:pic>
      <p:pic>
        <p:nvPicPr>
          <p:cNvPr id="51" name="Picture 50">
            <a:extLst>
              <a:ext uri="{FF2B5EF4-FFF2-40B4-BE49-F238E27FC236}">
                <a16:creationId xmlns:a16="http://schemas.microsoft.com/office/drawing/2014/main" id="{4154A1CA-2FD4-036C-A01F-3E818FDB8477}"/>
              </a:ext>
            </a:extLst>
          </p:cNvPr>
          <p:cNvPicPr>
            <a:picLocks noChangeAspect="1"/>
          </p:cNvPicPr>
          <p:nvPr/>
        </p:nvPicPr>
        <p:blipFill>
          <a:blip r:embed="rId3"/>
          <a:stretch>
            <a:fillRect/>
          </a:stretch>
        </p:blipFill>
        <p:spPr>
          <a:xfrm>
            <a:off x="10780172" y="8551223"/>
            <a:ext cx="1591056" cy="1591056"/>
          </a:xfrm>
          <a:prstGeom prst="rect">
            <a:avLst/>
          </a:prstGeom>
        </p:spPr>
      </p:pic>
      <p:pic>
        <p:nvPicPr>
          <p:cNvPr id="52" name="Picture 51">
            <a:extLst>
              <a:ext uri="{FF2B5EF4-FFF2-40B4-BE49-F238E27FC236}">
                <a16:creationId xmlns:a16="http://schemas.microsoft.com/office/drawing/2014/main" id="{F54D5F79-4FCA-DE31-6979-8184E829896F}"/>
              </a:ext>
            </a:extLst>
          </p:cNvPr>
          <p:cNvPicPr>
            <a:picLocks noChangeAspect="1"/>
          </p:cNvPicPr>
          <p:nvPr/>
        </p:nvPicPr>
        <p:blipFill>
          <a:blip r:embed="rId3"/>
          <a:stretch>
            <a:fillRect/>
          </a:stretch>
        </p:blipFill>
        <p:spPr>
          <a:xfrm>
            <a:off x="10800796" y="10545226"/>
            <a:ext cx="1591056" cy="1591056"/>
          </a:xfrm>
          <a:prstGeom prst="rect">
            <a:avLst/>
          </a:prstGeom>
        </p:spPr>
      </p:pic>
      <p:cxnSp>
        <p:nvCxnSpPr>
          <p:cNvPr id="58" name="Straight Arrow Connector 57">
            <a:extLst>
              <a:ext uri="{FF2B5EF4-FFF2-40B4-BE49-F238E27FC236}">
                <a16:creationId xmlns:a16="http://schemas.microsoft.com/office/drawing/2014/main" id="{C40AB678-7F64-CDA5-3C72-909ABC227B68}"/>
              </a:ext>
            </a:extLst>
          </p:cNvPr>
          <p:cNvCxnSpPr>
            <a:cxnSpLocks/>
            <a:stCxn id="49" idx="1"/>
            <a:endCxn id="52" idx="3"/>
          </p:cNvCxnSpPr>
          <p:nvPr/>
        </p:nvCxnSpPr>
        <p:spPr>
          <a:xfrm flipH="1">
            <a:off x="12391852" y="10662076"/>
            <a:ext cx="1192829" cy="67867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C36B98C7-D0AC-97D1-A3EA-E7978B4773E5}"/>
              </a:ext>
            </a:extLst>
          </p:cNvPr>
          <p:cNvCxnSpPr/>
          <p:nvPr/>
        </p:nvCxnSpPr>
        <p:spPr>
          <a:xfrm flipH="1" flipV="1">
            <a:off x="12391852" y="9224321"/>
            <a:ext cx="1192829" cy="146304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86E816FD-4351-6743-002F-75C2AB118F50}"/>
              </a:ext>
            </a:extLst>
          </p:cNvPr>
          <p:cNvCxnSpPr/>
          <p:nvPr/>
        </p:nvCxnSpPr>
        <p:spPr>
          <a:xfrm flipH="1" flipV="1">
            <a:off x="10394830" y="9964832"/>
            <a:ext cx="3189851" cy="69724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2730864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9"/>
                                        </p:tgtEl>
                                      </p:cBhvr>
                                    </p:animEffect>
                                    <p:set>
                                      <p:cBhvr>
                                        <p:cTn id="7" dur="1" fill="hold">
                                          <p:stCondLst>
                                            <p:cond delay="499"/>
                                          </p:stCondLst>
                                        </p:cTn>
                                        <p:tgtEl>
                                          <p:spTgt spid="19"/>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28"/>
                                        </p:tgtEl>
                                      </p:cBhvr>
                                    </p:animEffect>
                                    <p:set>
                                      <p:cBhvr>
                                        <p:cTn id="10" dur="1" fill="hold">
                                          <p:stCondLst>
                                            <p:cond delay="499"/>
                                          </p:stCondLst>
                                        </p:cTn>
                                        <p:tgtEl>
                                          <p:spTgt spid="28"/>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30"/>
                                        </p:tgtEl>
                                      </p:cBhvr>
                                    </p:animEffect>
                                    <p:set>
                                      <p:cBhvr>
                                        <p:cTn id="13" dur="1" fill="hold">
                                          <p:stCondLst>
                                            <p:cond delay="499"/>
                                          </p:stCondLst>
                                        </p:cTn>
                                        <p:tgtEl>
                                          <p:spTgt spid="30"/>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31"/>
                                        </p:tgtEl>
                                      </p:cBhvr>
                                    </p:animEffect>
                                    <p:set>
                                      <p:cBhvr>
                                        <p:cTn id="16" dur="1" fill="hold">
                                          <p:stCondLst>
                                            <p:cond delay="499"/>
                                          </p:stCondLst>
                                        </p:cTn>
                                        <p:tgtEl>
                                          <p:spTgt spid="31"/>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29"/>
                                        </p:tgtEl>
                                      </p:cBhvr>
                                    </p:animEffect>
                                    <p:set>
                                      <p:cBhvr>
                                        <p:cTn id="19" dur="1" fill="hold">
                                          <p:stCondLst>
                                            <p:cond delay="499"/>
                                          </p:stCondLst>
                                        </p:cTn>
                                        <p:tgtEl>
                                          <p:spTgt spid="29"/>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17"/>
                                        </p:tgtEl>
                                      </p:cBhvr>
                                    </p:animEffect>
                                    <p:set>
                                      <p:cBhvr>
                                        <p:cTn id="25" dur="1" fill="hold">
                                          <p:stCondLst>
                                            <p:cond delay="499"/>
                                          </p:stCondLst>
                                        </p:cTn>
                                        <p:tgtEl>
                                          <p:spTgt spid="17"/>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500"/>
                                        <p:tgtEl>
                                          <p:spTgt spid="25"/>
                                        </p:tgtEl>
                                      </p:cBhvr>
                                    </p:animEffect>
                                    <p:set>
                                      <p:cBhvr>
                                        <p:cTn id="28" dur="1" fill="hold">
                                          <p:stCondLst>
                                            <p:cond delay="499"/>
                                          </p:stCondLst>
                                        </p:cTn>
                                        <p:tgtEl>
                                          <p:spTgt spid="25"/>
                                        </p:tgtEl>
                                        <p:attrNameLst>
                                          <p:attrName>style.visibility</p:attrName>
                                        </p:attrNameLst>
                                      </p:cBhvr>
                                      <p:to>
                                        <p:strVal val="hidden"/>
                                      </p:to>
                                    </p:set>
                                  </p:childTnLst>
                                </p:cTn>
                              </p:par>
                              <p:par>
                                <p:cTn id="29" presetID="10" presetClass="exit" presetSubtype="0" fill="hold" nodeType="withEffect">
                                  <p:stCondLst>
                                    <p:cond delay="0"/>
                                  </p:stCondLst>
                                  <p:childTnLst>
                                    <p:animEffect transition="out" filter="fade">
                                      <p:cBhvr>
                                        <p:cTn id="30" dur="500"/>
                                        <p:tgtEl>
                                          <p:spTgt spid="10"/>
                                        </p:tgtEl>
                                      </p:cBhvr>
                                    </p:animEffect>
                                    <p:set>
                                      <p:cBhvr>
                                        <p:cTn id="31" dur="1" fill="hold">
                                          <p:stCondLst>
                                            <p:cond delay="499"/>
                                          </p:stCondLst>
                                        </p:cTn>
                                        <p:tgtEl>
                                          <p:spTgt spid="10"/>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33" dur="500"/>
                                        <p:tgtEl>
                                          <p:spTgt spid="20"/>
                                        </p:tgtEl>
                                      </p:cBhvr>
                                    </p:animEffect>
                                    <p:set>
                                      <p:cBhvr>
                                        <p:cTn id="34" dur="1" fill="hold">
                                          <p:stCondLst>
                                            <p:cond delay="499"/>
                                          </p:stCondLst>
                                        </p:cTn>
                                        <p:tgtEl>
                                          <p:spTgt spid="20"/>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27"/>
                                        </p:tgtEl>
                                      </p:cBhvr>
                                    </p:animEffect>
                                    <p:set>
                                      <p:cBhvr>
                                        <p:cTn id="37" dur="1" fill="hold">
                                          <p:stCondLst>
                                            <p:cond delay="499"/>
                                          </p:stCondLst>
                                        </p:cTn>
                                        <p:tgtEl>
                                          <p:spTgt spid="27"/>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26"/>
                                        </p:tgtEl>
                                      </p:cBhvr>
                                    </p:animEffect>
                                    <p:set>
                                      <p:cBhvr>
                                        <p:cTn id="40" dur="1" fill="hold">
                                          <p:stCondLst>
                                            <p:cond delay="499"/>
                                          </p:stCondLst>
                                        </p:cTn>
                                        <p:tgtEl>
                                          <p:spTgt spid="26"/>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33"/>
                                        </p:tgtEl>
                                      </p:cBhvr>
                                    </p:animEffect>
                                    <p:set>
                                      <p:cBhvr>
                                        <p:cTn id="43" dur="1" fill="hold">
                                          <p:stCondLst>
                                            <p:cond delay="499"/>
                                          </p:stCondLst>
                                        </p:cTn>
                                        <p:tgtEl>
                                          <p:spTgt spid="33"/>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500"/>
                                        <p:tgtEl>
                                          <p:spTgt spid="32"/>
                                        </p:tgtEl>
                                      </p:cBhvr>
                                    </p:animEffect>
                                    <p:set>
                                      <p:cBhvr>
                                        <p:cTn id="46" dur="1" fill="hold">
                                          <p:stCondLst>
                                            <p:cond delay="499"/>
                                          </p:stCondLst>
                                        </p:cTn>
                                        <p:tgtEl>
                                          <p:spTgt spid="32"/>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6" presetClass="emph" presetSubtype="0" accel="50000" decel="50000" fill="hold" nodeType="clickEffect">
                                  <p:stCondLst>
                                    <p:cond delay="0"/>
                                  </p:stCondLst>
                                  <p:childTnLst>
                                    <p:animScale>
                                      <p:cBhvr>
                                        <p:cTn id="50" dur="2000" fill="hold"/>
                                        <p:tgtEl>
                                          <p:spTgt spid="12"/>
                                        </p:tgtEl>
                                      </p:cBhvr>
                                      <p:by x="180000" y="180000"/>
                                    </p:animScale>
                                  </p:childTnLst>
                                </p:cTn>
                              </p:par>
                              <p:par>
                                <p:cTn id="51" presetID="1" presetClass="entr" presetSubtype="0"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childTnLst>
                                </p:cTn>
                              </p:par>
                              <p:par>
                                <p:cTn id="53" presetID="1" presetClass="entr" presetSubtype="0" fill="hold" nodeType="withEffect">
                                  <p:stCondLst>
                                    <p:cond delay="1900"/>
                                  </p:stCondLst>
                                  <p:childTnLst>
                                    <p:set>
                                      <p:cBhvr>
                                        <p:cTn id="54" dur="1" fill="hold">
                                          <p:stCondLst>
                                            <p:cond delay="0"/>
                                          </p:stCondLst>
                                        </p:cTn>
                                        <p:tgtEl>
                                          <p:spTgt spid="4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nodeType="clickEffect">
                                  <p:stCondLst>
                                    <p:cond delay="0"/>
                                  </p:stCondLst>
                                  <p:childTnLst>
                                    <p:animEffect transition="out" filter="fade">
                                      <p:cBhvr>
                                        <p:cTn id="58" dur="500"/>
                                        <p:tgtEl>
                                          <p:spTgt spid="18"/>
                                        </p:tgtEl>
                                      </p:cBhvr>
                                    </p:animEffect>
                                    <p:set>
                                      <p:cBhvr>
                                        <p:cTn id="59" dur="1" fill="hold">
                                          <p:stCondLst>
                                            <p:cond delay="499"/>
                                          </p:stCondLst>
                                        </p:cTn>
                                        <p:tgtEl>
                                          <p:spTgt spid="18"/>
                                        </p:tgtEl>
                                        <p:attrNameLst>
                                          <p:attrName>style.visibility</p:attrName>
                                        </p:attrNameLst>
                                      </p:cBhvr>
                                      <p:to>
                                        <p:strVal val="hidden"/>
                                      </p:to>
                                    </p:set>
                                  </p:childTnLst>
                                </p:cTn>
                              </p:par>
                              <p:par>
                                <p:cTn id="60" presetID="10" presetClass="exit" presetSubtype="0" fill="hold" nodeType="withEffect">
                                  <p:stCondLst>
                                    <p:cond delay="0"/>
                                  </p:stCondLst>
                                  <p:childTnLst>
                                    <p:animEffect transition="out" filter="fade">
                                      <p:cBhvr>
                                        <p:cTn id="61" dur="500"/>
                                        <p:tgtEl>
                                          <p:spTgt spid="34"/>
                                        </p:tgtEl>
                                      </p:cBhvr>
                                    </p:animEffect>
                                    <p:set>
                                      <p:cBhvr>
                                        <p:cTn id="62" dur="1" fill="hold">
                                          <p:stCondLst>
                                            <p:cond delay="499"/>
                                          </p:stCondLst>
                                        </p:cTn>
                                        <p:tgtEl>
                                          <p:spTgt spid="34"/>
                                        </p:tgtEl>
                                        <p:attrNameLst>
                                          <p:attrName>style.visibility</p:attrName>
                                        </p:attrNameLst>
                                      </p:cBhvr>
                                      <p:to>
                                        <p:strVal val="hidden"/>
                                      </p:to>
                                    </p:set>
                                  </p:childTnLst>
                                </p:cTn>
                              </p:par>
                              <p:par>
                                <p:cTn id="63" presetID="10" presetClass="exit" presetSubtype="0" fill="hold" nodeType="withEffect">
                                  <p:stCondLst>
                                    <p:cond delay="0"/>
                                  </p:stCondLst>
                                  <p:childTnLst>
                                    <p:animEffect transition="out" filter="fade">
                                      <p:cBhvr>
                                        <p:cTn id="64" dur="500"/>
                                        <p:tgtEl>
                                          <p:spTgt spid="36"/>
                                        </p:tgtEl>
                                      </p:cBhvr>
                                    </p:animEffect>
                                    <p:set>
                                      <p:cBhvr>
                                        <p:cTn id="65" dur="1" fill="hold">
                                          <p:stCondLst>
                                            <p:cond delay="499"/>
                                          </p:stCondLst>
                                        </p:cTn>
                                        <p:tgtEl>
                                          <p:spTgt spid="36"/>
                                        </p:tgtEl>
                                        <p:attrNameLst>
                                          <p:attrName>style.visibility</p:attrName>
                                        </p:attrNameLst>
                                      </p:cBhvr>
                                      <p:to>
                                        <p:strVal val="hidden"/>
                                      </p:to>
                                    </p:set>
                                  </p:childTnLst>
                                </p:cTn>
                              </p:par>
                              <p:par>
                                <p:cTn id="66" presetID="10" presetClass="exit" presetSubtype="0" fill="hold" nodeType="withEffect">
                                  <p:stCondLst>
                                    <p:cond delay="0"/>
                                  </p:stCondLst>
                                  <p:childTnLst>
                                    <p:animEffect transition="out" filter="fade">
                                      <p:cBhvr>
                                        <p:cTn id="67" dur="500"/>
                                        <p:tgtEl>
                                          <p:spTgt spid="14"/>
                                        </p:tgtEl>
                                      </p:cBhvr>
                                    </p:animEffect>
                                    <p:set>
                                      <p:cBhvr>
                                        <p:cTn id="68" dur="1" fill="hold">
                                          <p:stCondLst>
                                            <p:cond delay="499"/>
                                          </p:stCondLst>
                                        </p:cTn>
                                        <p:tgtEl>
                                          <p:spTgt spid="14"/>
                                        </p:tgtEl>
                                        <p:attrNameLst>
                                          <p:attrName>style.visibility</p:attrName>
                                        </p:attrNameLst>
                                      </p:cBhvr>
                                      <p:to>
                                        <p:strVal val="hidden"/>
                                      </p:to>
                                    </p:set>
                                  </p:childTnLst>
                                </p:cTn>
                              </p:par>
                              <p:par>
                                <p:cTn id="69" presetID="10" presetClass="exit" presetSubtype="0" fill="hold" nodeType="withEffect">
                                  <p:stCondLst>
                                    <p:cond delay="0"/>
                                  </p:stCondLst>
                                  <p:childTnLst>
                                    <p:animEffect transition="out" filter="fade">
                                      <p:cBhvr>
                                        <p:cTn id="70" dur="500"/>
                                        <p:tgtEl>
                                          <p:spTgt spid="16"/>
                                        </p:tgtEl>
                                      </p:cBhvr>
                                    </p:animEffect>
                                    <p:set>
                                      <p:cBhvr>
                                        <p:cTn id="71" dur="1" fill="hold">
                                          <p:stCondLst>
                                            <p:cond delay="499"/>
                                          </p:stCondLst>
                                        </p:cTn>
                                        <p:tgtEl>
                                          <p:spTgt spid="16"/>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73" dur="500"/>
                                        <p:tgtEl>
                                          <p:spTgt spid="21"/>
                                        </p:tgtEl>
                                      </p:cBhvr>
                                    </p:animEffect>
                                    <p:set>
                                      <p:cBhvr>
                                        <p:cTn id="74" dur="1" fill="hold">
                                          <p:stCondLst>
                                            <p:cond delay="499"/>
                                          </p:stCondLst>
                                        </p:cTn>
                                        <p:tgtEl>
                                          <p:spTgt spid="21"/>
                                        </p:tgtEl>
                                        <p:attrNameLst>
                                          <p:attrName>style.visibility</p:attrName>
                                        </p:attrNameLst>
                                      </p:cBhvr>
                                      <p:to>
                                        <p:strVal val="hidden"/>
                                      </p:to>
                                    </p:set>
                                  </p:childTnLst>
                                </p:cTn>
                              </p:par>
                              <p:par>
                                <p:cTn id="75" presetID="10" presetClass="exit" presetSubtype="0" fill="hold" nodeType="withEffect">
                                  <p:stCondLst>
                                    <p:cond delay="0"/>
                                  </p:stCondLst>
                                  <p:childTnLst>
                                    <p:animEffect transition="out" filter="fade">
                                      <p:cBhvr>
                                        <p:cTn id="76" dur="500"/>
                                        <p:tgtEl>
                                          <p:spTgt spid="11"/>
                                        </p:tgtEl>
                                      </p:cBhvr>
                                    </p:animEffect>
                                    <p:set>
                                      <p:cBhvr>
                                        <p:cTn id="77" dur="1" fill="hold">
                                          <p:stCondLst>
                                            <p:cond delay="499"/>
                                          </p:stCondLst>
                                        </p:cTn>
                                        <p:tgtEl>
                                          <p:spTgt spid="11"/>
                                        </p:tgtEl>
                                        <p:attrNameLst>
                                          <p:attrName>style.visibility</p:attrName>
                                        </p:attrNameLst>
                                      </p:cBhvr>
                                      <p:to>
                                        <p:strVal val="hidden"/>
                                      </p:to>
                                    </p:set>
                                  </p:childTnLst>
                                </p:cTn>
                              </p:par>
                              <p:par>
                                <p:cTn id="78" presetID="10" presetClass="exit" presetSubtype="0" fill="hold" nodeType="withEffect">
                                  <p:stCondLst>
                                    <p:cond delay="0"/>
                                  </p:stCondLst>
                                  <p:childTnLst>
                                    <p:animEffect transition="out" filter="fade">
                                      <p:cBhvr>
                                        <p:cTn id="79" dur="500"/>
                                        <p:tgtEl>
                                          <p:spTgt spid="24"/>
                                        </p:tgtEl>
                                      </p:cBhvr>
                                    </p:animEffect>
                                    <p:set>
                                      <p:cBhvr>
                                        <p:cTn id="80" dur="1" fill="hold">
                                          <p:stCondLst>
                                            <p:cond delay="499"/>
                                          </p:stCondLst>
                                        </p:cTn>
                                        <p:tgtEl>
                                          <p:spTgt spid="24"/>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500"/>
                                        <p:tgtEl>
                                          <p:spTgt spid="39"/>
                                        </p:tgtEl>
                                      </p:cBhvr>
                                    </p:animEffect>
                                    <p:set>
                                      <p:cBhvr>
                                        <p:cTn id="83" dur="1" fill="hold">
                                          <p:stCondLst>
                                            <p:cond delay="499"/>
                                          </p:stCondLst>
                                        </p:cTn>
                                        <p:tgtEl>
                                          <p:spTgt spid="39"/>
                                        </p:tgtEl>
                                        <p:attrNameLst>
                                          <p:attrName>style.visibility</p:attrName>
                                        </p:attrNameLst>
                                      </p:cBhvr>
                                      <p:to>
                                        <p:strVal val="hidden"/>
                                      </p:to>
                                    </p:set>
                                  </p:childTnLst>
                                </p:cTn>
                              </p:par>
                              <p:par>
                                <p:cTn id="84" presetID="10" presetClass="exit" presetSubtype="0" fill="hold" nodeType="withEffect">
                                  <p:stCondLst>
                                    <p:cond delay="0"/>
                                  </p:stCondLst>
                                  <p:childTnLst>
                                    <p:animEffect transition="out" filter="fade">
                                      <p:cBhvr>
                                        <p:cTn id="85" dur="500"/>
                                        <p:tgtEl>
                                          <p:spTgt spid="37"/>
                                        </p:tgtEl>
                                      </p:cBhvr>
                                    </p:animEffect>
                                    <p:set>
                                      <p:cBhvr>
                                        <p:cTn id="86" dur="1" fill="hold">
                                          <p:stCondLst>
                                            <p:cond delay="499"/>
                                          </p:stCondLst>
                                        </p:cTn>
                                        <p:tgtEl>
                                          <p:spTgt spid="37"/>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500"/>
                                        <p:tgtEl>
                                          <p:spTgt spid="38"/>
                                        </p:tgtEl>
                                      </p:cBhvr>
                                    </p:animEffect>
                                    <p:set>
                                      <p:cBhvr>
                                        <p:cTn id="89" dur="1" fill="hold">
                                          <p:stCondLst>
                                            <p:cond delay="499"/>
                                          </p:stCondLst>
                                        </p:cTn>
                                        <p:tgtEl>
                                          <p:spTgt spid="38"/>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500"/>
                                        <p:tgtEl>
                                          <p:spTgt spid="13"/>
                                        </p:tgtEl>
                                      </p:cBhvr>
                                    </p:animEffect>
                                    <p:set>
                                      <p:cBhvr>
                                        <p:cTn id="92" dur="1" fill="hold">
                                          <p:stCondLst>
                                            <p:cond delay="499"/>
                                          </p:stCondLst>
                                        </p:cTn>
                                        <p:tgtEl>
                                          <p:spTgt spid="13"/>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6" presetClass="emph" presetSubtype="0" accel="50000" decel="50000" fill="hold" nodeType="clickEffect">
                                  <p:stCondLst>
                                    <p:cond delay="0"/>
                                  </p:stCondLst>
                                  <p:childTnLst>
                                    <p:animScale>
                                      <p:cBhvr>
                                        <p:cTn id="96" dur="2000" fill="hold"/>
                                        <p:tgtEl>
                                          <p:spTgt spid="35"/>
                                        </p:tgtEl>
                                      </p:cBhvr>
                                      <p:by x="190000" y="190000"/>
                                    </p:animScale>
                                  </p:childTnLst>
                                </p:cTn>
                              </p:par>
                              <p:par>
                                <p:cTn id="97" presetID="6" presetClass="emph" presetSubtype="0" accel="50000" decel="50000" fill="hold" nodeType="withEffect">
                                  <p:stCondLst>
                                    <p:cond delay="0"/>
                                  </p:stCondLst>
                                  <p:childTnLst>
                                    <p:animScale>
                                      <p:cBhvr>
                                        <p:cTn id="98" dur="2000" fill="hold"/>
                                        <p:tgtEl>
                                          <p:spTgt spid="22"/>
                                        </p:tgtEl>
                                      </p:cBhvr>
                                      <p:by x="190000" y="190000"/>
                                    </p:animScale>
                                  </p:childTnLst>
                                </p:cTn>
                              </p:par>
                              <p:par>
                                <p:cTn id="99" presetID="6" presetClass="emph" presetSubtype="0" accel="50000" decel="50000" fill="hold" nodeType="withEffect">
                                  <p:stCondLst>
                                    <p:cond delay="0"/>
                                  </p:stCondLst>
                                  <p:childTnLst>
                                    <p:animScale>
                                      <p:cBhvr>
                                        <p:cTn id="100" dur="2000" fill="hold"/>
                                        <p:tgtEl>
                                          <p:spTgt spid="23"/>
                                        </p:tgtEl>
                                      </p:cBhvr>
                                      <p:by x="190000" y="190000"/>
                                    </p:animScale>
                                  </p:childTnLst>
                                </p:cTn>
                              </p:par>
                              <p:par>
                                <p:cTn id="101" presetID="1" presetClass="entr" presetSubtype="0" fill="hold" nodeType="withEffect">
                                  <p:stCondLst>
                                    <p:cond delay="2000"/>
                                  </p:stCondLst>
                                  <p:childTnLst>
                                    <p:set>
                                      <p:cBhvr>
                                        <p:cTn id="102" dur="1" fill="hold">
                                          <p:stCondLst>
                                            <p:cond delay="0"/>
                                          </p:stCondLst>
                                        </p:cTn>
                                        <p:tgtEl>
                                          <p:spTgt spid="50"/>
                                        </p:tgtEl>
                                        <p:attrNameLst>
                                          <p:attrName>style.visibility</p:attrName>
                                        </p:attrNameLst>
                                      </p:cBhvr>
                                      <p:to>
                                        <p:strVal val="visible"/>
                                      </p:to>
                                    </p:set>
                                  </p:childTnLst>
                                </p:cTn>
                              </p:par>
                              <p:par>
                                <p:cTn id="103" presetID="1" presetClass="entr" presetSubtype="0" fill="hold" nodeType="withEffect">
                                  <p:stCondLst>
                                    <p:cond delay="2000"/>
                                  </p:stCondLst>
                                  <p:childTnLst>
                                    <p:set>
                                      <p:cBhvr>
                                        <p:cTn id="104" dur="1" fill="hold">
                                          <p:stCondLst>
                                            <p:cond delay="0"/>
                                          </p:stCondLst>
                                        </p:cTn>
                                        <p:tgtEl>
                                          <p:spTgt spid="52"/>
                                        </p:tgtEl>
                                        <p:attrNameLst>
                                          <p:attrName>style.visibility</p:attrName>
                                        </p:attrNameLst>
                                      </p:cBhvr>
                                      <p:to>
                                        <p:strVal val="visible"/>
                                      </p:to>
                                    </p:set>
                                  </p:childTnLst>
                                </p:cTn>
                              </p:par>
                              <p:par>
                                <p:cTn id="105" presetID="1" presetClass="entr" presetSubtype="0" fill="hold" nodeType="withEffect">
                                  <p:stCondLst>
                                    <p:cond delay="2000"/>
                                  </p:stCondLst>
                                  <p:childTnLst>
                                    <p:set>
                                      <p:cBhvr>
                                        <p:cTn id="106" dur="1" fill="hold">
                                          <p:stCondLst>
                                            <p:cond delay="0"/>
                                          </p:stCondLst>
                                        </p:cTn>
                                        <p:tgtEl>
                                          <p:spTgt spid="5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2"/>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64"/>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33409-433B-E018-8381-75BD5678D097}"/>
            </a:ext>
          </a:extLst>
        </p:cNvPr>
        <p:cNvGrpSpPr/>
        <p:nvPr/>
      </p:nvGrpSpPr>
      <p:grpSpPr>
        <a:xfrm>
          <a:off x="0" y="0"/>
          <a:ext cx="0" cy="0"/>
          <a:chOff x="0" y="0"/>
          <a:chExt cx="0" cy="0"/>
        </a:xfrm>
      </p:grpSpPr>
      <p:sp>
        <p:nvSpPr>
          <p:cNvPr id="46" name="Rounded Rectangle 45">
            <a:extLst>
              <a:ext uri="{FF2B5EF4-FFF2-40B4-BE49-F238E27FC236}">
                <a16:creationId xmlns:a16="http://schemas.microsoft.com/office/drawing/2014/main" id="{14F842EE-72CC-758C-F01B-AE3BC8CD81A7}"/>
              </a:ext>
            </a:extLst>
          </p:cNvPr>
          <p:cNvSpPr/>
          <p:nvPr/>
        </p:nvSpPr>
        <p:spPr>
          <a:xfrm>
            <a:off x="13970000" y="4206783"/>
            <a:ext cx="8494095" cy="7926448"/>
          </a:xfrm>
          <a:prstGeom prst="roundRect">
            <a:avLst/>
          </a:prstGeom>
          <a:solidFill>
            <a:srgbClr val="48AAA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a:ln>
                <a:noFill/>
              </a:ln>
              <a:solidFill>
                <a:srgbClr val="FFFFFF"/>
              </a:solidFill>
              <a:effectLst/>
              <a:uFillTx/>
              <a:latin typeface="DIN Condensed Bold"/>
              <a:ea typeface="DIN Condensed Bold"/>
              <a:cs typeface="DIN Condensed Bold"/>
              <a:sym typeface="DIN Condensed Bold"/>
            </a:endParaRPr>
          </a:p>
        </p:txBody>
      </p:sp>
      <p:sp>
        <p:nvSpPr>
          <p:cNvPr id="2" name="Text Placeholder 1">
            <a:extLst>
              <a:ext uri="{FF2B5EF4-FFF2-40B4-BE49-F238E27FC236}">
                <a16:creationId xmlns:a16="http://schemas.microsoft.com/office/drawing/2014/main" id="{F7607945-2E11-B3C9-A744-A1C96781AD8F}"/>
              </a:ext>
            </a:extLst>
          </p:cNvPr>
          <p:cNvSpPr>
            <a:spLocks noGrp="1"/>
          </p:cNvSpPr>
          <p:nvPr>
            <p:ph type="body" sz="quarter" idx="21"/>
          </p:nvPr>
        </p:nvSpPr>
        <p:spPr/>
        <p:txBody>
          <a:bodyPr/>
          <a:lstStyle/>
          <a:p>
            <a:endParaRPr lang="en-US"/>
          </a:p>
        </p:txBody>
      </p:sp>
      <p:sp>
        <p:nvSpPr>
          <p:cNvPr id="3" name="Title 2">
            <a:extLst>
              <a:ext uri="{FF2B5EF4-FFF2-40B4-BE49-F238E27FC236}">
                <a16:creationId xmlns:a16="http://schemas.microsoft.com/office/drawing/2014/main" id="{A6C932C3-F74D-61FC-30D8-19DECE64D09D}"/>
              </a:ext>
            </a:extLst>
          </p:cNvPr>
          <p:cNvSpPr>
            <a:spLocks noGrp="1"/>
          </p:cNvSpPr>
          <p:nvPr>
            <p:ph type="title"/>
          </p:nvPr>
        </p:nvSpPr>
        <p:spPr>
          <a:xfrm>
            <a:off x="1171654" y="2121311"/>
            <a:ext cx="19006106" cy="1017985"/>
          </a:xfrm>
        </p:spPr>
        <p:txBody>
          <a:bodyPr>
            <a:normAutofit fontScale="90000"/>
          </a:bodyPr>
          <a:lstStyle/>
          <a:p>
            <a:r>
              <a:rPr lang="en-US" sz="4400" dirty="0">
                <a:solidFill>
                  <a:srgbClr val="C00000"/>
                </a:solidFill>
              </a:rPr>
              <a:t>Taking a step back: What is one way to think about unobserved confounding?</a:t>
            </a:r>
          </a:p>
        </p:txBody>
      </p:sp>
      <p:sp>
        <p:nvSpPr>
          <p:cNvPr id="47" name="TextBox 46">
            <a:extLst>
              <a:ext uri="{FF2B5EF4-FFF2-40B4-BE49-F238E27FC236}">
                <a16:creationId xmlns:a16="http://schemas.microsoft.com/office/drawing/2014/main" id="{77E323CB-FE18-9951-9434-CACAB6EEBA24}"/>
              </a:ext>
            </a:extLst>
          </p:cNvPr>
          <p:cNvSpPr txBox="1"/>
          <p:nvPr/>
        </p:nvSpPr>
        <p:spPr>
          <a:xfrm>
            <a:off x="14140187" y="4615788"/>
            <a:ext cx="8153719" cy="69018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57200" indent="-457200">
              <a:buFont typeface="Arial" panose="020B0604020202020204" pitchFamily="34" charset="0"/>
              <a:buChar char="•"/>
            </a:pPr>
            <a:r>
              <a:rPr lang="en-US" sz="4000" dirty="0">
                <a:solidFill>
                  <a:srgbClr val="F7F7F7"/>
                </a:solidFill>
                <a:latin typeface="+mn-lt"/>
              </a:rPr>
              <a:t>John’s nearest neighbors with a good outcome in the treated cohort are Mary, Peter and Tom</a:t>
            </a:r>
          </a:p>
          <a:p>
            <a:pPr marL="457200" indent="-457200">
              <a:buFont typeface="Arial" panose="020B0604020202020204" pitchFamily="34" charset="0"/>
              <a:buChar char="•"/>
            </a:pPr>
            <a:r>
              <a:rPr lang="en-US" sz="4000" dirty="0">
                <a:solidFill>
                  <a:srgbClr val="F7F7F7"/>
                </a:solidFill>
                <a:latin typeface="+mn-lt"/>
              </a:rPr>
              <a:t>Similar age </a:t>
            </a:r>
          </a:p>
          <a:p>
            <a:pPr marL="457200" indent="-457200">
              <a:buFont typeface="Arial" panose="020B0604020202020204" pitchFamily="34" charset="0"/>
              <a:buChar char="•"/>
            </a:pPr>
            <a:r>
              <a:rPr lang="en-US" sz="4000" dirty="0">
                <a:solidFill>
                  <a:srgbClr val="F7F7F7"/>
                </a:solidFill>
                <a:latin typeface="+mn-lt"/>
              </a:rPr>
              <a:t>Got the treatment for approximately the same time-period </a:t>
            </a:r>
          </a:p>
          <a:p>
            <a:pPr marL="457200" indent="-457200">
              <a:buFont typeface="Arial" panose="020B0604020202020204" pitchFamily="34" charset="0"/>
              <a:buChar char="•"/>
            </a:pPr>
            <a:r>
              <a:rPr lang="en-US" sz="4000" dirty="0">
                <a:solidFill>
                  <a:srgbClr val="F7F7F7"/>
                </a:solidFill>
                <a:latin typeface="+mn-lt"/>
              </a:rPr>
              <a:t>Their tumor is located in the same area</a:t>
            </a:r>
          </a:p>
        </p:txBody>
      </p:sp>
      <p:sp>
        <p:nvSpPr>
          <p:cNvPr id="48" name="Rectangle 47">
            <a:extLst>
              <a:ext uri="{FF2B5EF4-FFF2-40B4-BE49-F238E27FC236}">
                <a16:creationId xmlns:a16="http://schemas.microsoft.com/office/drawing/2014/main" id="{48DBE98D-1C4D-205A-949B-E159F055331D}"/>
              </a:ext>
            </a:extLst>
          </p:cNvPr>
          <p:cNvSpPr/>
          <p:nvPr/>
        </p:nvSpPr>
        <p:spPr>
          <a:xfrm>
            <a:off x="23561040" y="12891795"/>
            <a:ext cx="457200" cy="610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r" defTabSz="821531" rtl="0" fontAlgn="auto" latinLnBrk="0" hangingPunct="0">
              <a:lnSpc>
                <a:spcPct val="80000"/>
              </a:lnSpc>
              <a:spcBef>
                <a:spcPts val="0"/>
              </a:spcBef>
              <a:spcAft>
                <a:spcPts val="0"/>
              </a:spcAft>
              <a:buClrTx/>
              <a:buSzTx/>
              <a:buFontTx/>
              <a:buNone/>
              <a:tabLst/>
            </a:pPr>
            <a:r>
              <a:rPr lang="en-US" sz="3800" cap="all" dirty="0">
                <a:solidFill>
                  <a:srgbClr val="C52060"/>
                </a:solidFill>
                <a:latin typeface="+mj-lt"/>
                <a:ea typeface="DIN Condensed Bold"/>
                <a:cs typeface="DIN Condensed Bold"/>
                <a:sym typeface="DIN Condensed Bold"/>
              </a:rPr>
              <a:t>8</a:t>
            </a:r>
            <a:endParaRPr kumimoji="0" lang="en-US" sz="3800" b="0" i="0" u="none" strike="noStrike" cap="all" spc="0" normalizeH="0" baseline="0" dirty="0">
              <a:ln>
                <a:noFill/>
              </a:ln>
              <a:solidFill>
                <a:srgbClr val="C52060"/>
              </a:solidFill>
              <a:effectLst/>
              <a:uFillTx/>
              <a:latin typeface="+mj-lt"/>
              <a:ea typeface="DIN Condensed Bold"/>
              <a:cs typeface="DIN Condensed Bold"/>
              <a:sym typeface="DIN Condensed Bold"/>
            </a:endParaRPr>
          </a:p>
        </p:txBody>
      </p:sp>
      <p:graphicFrame>
        <p:nvGraphicFramePr>
          <p:cNvPr id="53" name="Table 52">
            <a:extLst>
              <a:ext uri="{FF2B5EF4-FFF2-40B4-BE49-F238E27FC236}">
                <a16:creationId xmlns:a16="http://schemas.microsoft.com/office/drawing/2014/main" id="{6B4664BC-B2EF-25FF-C15A-955267B8A673}"/>
              </a:ext>
            </a:extLst>
          </p:cNvPr>
          <p:cNvGraphicFramePr>
            <a:graphicFrameLocks noGrp="1"/>
          </p:cNvGraphicFramePr>
          <p:nvPr>
            <p:extLst>
              <p:ext uri="{D42A27DB-BD31-4B8C-83A1-F6EECF244321}">
                <p14:modId xmlns:p14="http://schemas.microsoft.com/office/powerpoint/2010/main" val="2912964590"/>
              </p:ext>
            </p:extLst>
          </p:nvPr>
        </p:nvGraphicFramePr>
        <p:xfrm>
          <a:off x="2159000" y="3572139"/>
          <a:ext cx="10033000" cy="8992537"/>
        </p:xfrm>
        <a:graphic>
          <a:graphicData uri="http://schemas.openxmlformats.org/drawingml/2006/table">
            <a:tbl>
              <a:tblPr firstRow="1" bandRow="1">
                <a:tableStyleId>{5940675A-B579-460E-94D1-54222C63F5DA}</a:tableStyleId>
              </a:tblPr>
              <a:tblGrid>
                <a:gridCol w="5016500">
                  <a:extLst>
                    <a:ext uri="{9D8B030D-6E8A-4147-A177-3AD203B41FA5}">
                      <a16:colId xmlns:a16="http://schemas.microsoft.com/office/drawing/2014/main" val="3399294042"/>
                    </a:ext>
                  </a:extLst>
                </a:gridCol>
                <a:gridCol w="5016500">
                  <a:extLst>
                    <a:ext uri="{9D8B030D-6E8A-4147-A177-3AD203B41FA5}">
                      <a16:colId xmlns:a16="http://schemas.microsoft.com/office/drawing/2014/main" val="1451783524"/>
                    </a:ext>
                  </a:extLst>
                </a:gridCol>
              </a:tblGrid>
              <a:tr h="2361489">
                <a:tc gridSpan="2">
                  <a:txBody>
                    <a:bodyPr/>
                    <a:lstStyle/>
                    <a:p>
                      <a:endParaRPr lang="en-US" dirty="0">
                        <a:solidFill>
                          <a:schemeClr val="bg1"/>
                        </a:solidFill>
                      </a:endParaRPr>
                    </a:p>
                  </a:txBody>
                  <a:tcPr>
                    <a:solidFill>
                      <a:schemeClr val="tx1">
                        <a:lumMod val="20000"/>
                        <a:lumOff val="80000"/>
                      </a:schemeClr>
                    </a:solidFill>
                  </a:tcPr>
                </a:tc>
                <a:tc hMerge="1">
                  <a:txBody>
                    <a:bodyPr/>
                    <a:lstStyle/>
                    <a:p>
                      <a:endParaRPr lang="en-US" dirty="0">
                        <a:solidFill>
                          <a:schemeClr val="bg1"/>
                        </a:solidFill>
                      </a:endParaRPr>
                    </a:p>
                  </a:txBody>
                  <a:tcPr>
                    <a:solidFill>
                      <a:schemeClr val="tx1">
                        <a:lumMod val="20000"/>
                        <a:lumOff val="80000"/>
                      </a:schemeClr>
                    </a:solidFill>
                  </a:tcPr>
                </a:tc>
                <a:extLst>
                  <a:ext uri="{0D108BD9-81ED-4DB2-BD59-A6C34878D82A}">
                    <a16:rowId xmlns:a16="http://schemas.microsoft.com/office/drawing/2014/main" val="2676565202"/>
                  </a:ext>
                </a:extLst>
              </a:tr>
              <a:tr h="236220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74986606"/>
                  </a:ext>
                </a:extLst>
              </a:tr>
              <a:tr h="4268848">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7544094"/>
                  </a:ext>
                </a:extLst>
              </a:tr>
            </a:tbl>
          </a:graphicData>
        </a:graphic>
      </p:graphicFrame>
      <p:pic>
        <p:nvPicPr>
          <p:cNvPr id="54" name="Picture 53">
            <a:extLst>
              <a:ext uri="{FF2B5EF4-FFF2-40B4-BE49-F238E27FC236}">
                <a16:creationId xmlns:a16="http://schemas.microsoft.com/office/drawing/2014/main" id="{F959D4CA-D742-368D-AA28-0E6E79C77B8B}"/>
              </a:ext>
            </a:extLst>
          </p:cNvPr>
          <p:cNvPicPr>
            <a:picLocks noChangeAspect="1"/>
          </p:cNvPicPr>
          <p:nvPr/>
        </p:nvPicPr>
        <p:blipFill>
          <a:blip r:embed="rId2"/>
          <a:stretch>
            <a:fillRect/>
          </a:stretch>
        </p:blipFill>
        <p:spPr>
          <a:xfrm>
            <a:off x="6234194" y="3845842"/>
            <a:ext cx="1950431" cy="1950431"/>
          </a:xfrm>
          <a:prstGeom prst="rect">
            <a:avLst/>
          </a:prstGeom>
        </p:spPr>
      </p:pic>
      <p:pic>
        <p:nvPicPr>
          <p:cNvPr id="55" name="Picture 54">
            <a:extLst>
              <a:ext uri="{FF2B5EF4-FFF2-40B4-BE49-F238E27FC236}">
                <a16:creationId xmlns:a16="http://schemas.microsoft.com/office/drawing/2014/main" id="{B2A9EA8C-6E43-7339-70DD-0EA570465CB9}"/>
              </a:ext>
            </a:extLst>
          </p:cNvPr>
          <p:cNvPicPr>
            <a:picLocks noChangeAspect="1"/>
          </p:cNvPicPr>
          <p:nvPr/>
        </p:nvPicPr>
        <p:blipFill>
          <a:blip r:embed="rId3"/>
          <a:stretch>
            <a:fillRect/>
          </a:stretch>
        </p:blipFill>
        <p:spPr>
          <a:xfrm>
            <a:off x="3937000" y="6307647"/>
            <a:ext cx="1625600" cy="1625600"/>
          </a:xfrm>
          <a:prstGeom prst="rect">
            <a:avLst/>
          </a:prstGeom>
        </p:spPr>
      </p:pic>
      <p:pic>
        <p:nvPicPr>
          <p:cNvPr id="56" name="Picture 55">
            <a:extLst>
              <a:ext uri="{FF2B5EF4-FFF2-40B4-BE49-F238E27FC236}">
                <a16:creationId xmlns:a16="http://schemas.microsoft.com/office/drawing/2014/main" id="{6F87EDB4-2A74-2C63-844E-05A7D74D48F9}"/>
              </a:ext>
            </a:extLst>
          </p:cNvPr>
          <p:cNvPicPr>
            <a:picLocks noChangeAspect="1"/>
          </p:cNvPicPr>
          <p:nvPr/>
        </p:nvPicPr>
        <p:blipFill>
          <a:blip r:embed="rId4"/>
          <a:stretch>
            <a:fillRect/>
          </a:stretch>
        </p:blipFill>
        <p:spPr>
          <a:xfrm>
            <a:off x="8930894" y="6211461"/>
            <a:ext cx="1625600" cy="1625600"/>
          </a:xfrm>
          <a:prstGeom prst="rect">
            <a:avLst/>
          </a:prstGeom>
        </p:spPr>
      </p:pic>
      <p:pic>
        <p:nvPicPr>
          <p:cNvPr id="57" name="Picture 56">
            <a:extLst>
              <a:ext uri="{FF2B5EF4-FFF2-40B4-BE49-F238E27FC236}">
                <a16:creationId xmlns:a16="http://schemas.microsoft.com/office/drawing/2014/main" id="{069FF780-E004-26A5-3C04-7B67EE784F5F}"/>
              </a:ext>
            </a:extLst>
          </p:cNvPr>
          <p:cNvPicPr>
            <a:picLocks noChangeAspect="1"/>
          </p:cNvPicPr>
          <p:nvPr/>
        </p:nvPicPr>
        <p:blipFill>
          <a:blip r:embed="rId5"/>
          <a:stretch>
            <a:fillRect/>
          </a:stretch>
        </p:blipFill>
        <p:spPr>
          <a:xfrm>
            <a:off x="8133439" y="10092930"/>
            <a:ext cx="1536737" cy="1536737"/>
          </a:xfrm>
          <a:prstGeom prst="rect">
            <a:avLst/>
          </a:prstGeom>
        </p:spPr>
      </p:pic>
      <p:pic>
        <p:nvPicPr>
          <p:cNvPr id="58" name="Picture 57">
            <a:extLst>
              <a:ext uri="{FF2B5EF4-FFF2-40B4-BE49-F238E27FC236}">
                <a16:creationId xmlns:a16="http://schemas.microsoft.com/office/drawing/2014/main" id="{0807A326-DB9D-ECE6-B100-4B5B66B029C7}"/>
              </a:ext>
            </a:extLst>
          </p:cNvPr>
          <p:cNvPicPr>
            <a:picLocks noChangeAspect="1"/>
          </p:cNvPicPr>
          <p:nvPr/>
        </p:nvPicPr>
        <p:blipFill>
          <a:blip r:embed="rId6"/>
          <a:stretch>
            <a:fillRect/>
          </a:stretch>
        </p:blipFill>
        <p:spPr>
          <a:xfrm>
            <a:off x="3965794" y="9485345"/>
            <a:ext cx="1215171" cy="1215171"/>
          </a:xfrm>
          <a:prstGeom prst="rect">
            <a:avLst/>
          </a:prstGeom>
        </p:spPr>
      </p:pic>
      <p:pic>
        <p:nvPicPr>
          <p:cNvPr id="59" name="Picture 58">
            <a:extLst>
              <a:ext uri="{FF2B5EF4-FFF2-40B4-BE49-F238E27FC236}">
                <a16:creationId xmlns:a16="http://schemas.microsoft.com/office/drawing/2014/main" id="{60CCE3ED-B4FC-1DA4-42C5-783BD9A7AB7B}"/>
              </a:ext>
            </a:extLst>
          </p:cNvPr>
          <p:cNvPicPr>
            <a:picLocks noChangeAspect="1"/>
          </p:cNvPicPr>
          <p:nvPr/>
        </p:nvPicPr>
        <p:blipFill>
          <a:blip r:embed="rId5"/>
          <a:stretch>
            <a:fillRect/>
          </a:stretch>
        </p:blipFill>
        <p:spPr>
          <a:xfrm>
            <a:off x="5605102" y="8853272"/>
            <a:ext cx="1228148" cy="1228148"/>
          </a:xfrm>
          <a:prstGeom prst="rect">
            <a:avLst/>
          </a:prstGeom>
        </p:spPr>
      </p:pic>
      <p:pic>
        <p:nvPicPr>
          <p:cNvPr id="60" name="Picture 59">
            <a:extLst>
              <a:ext uri="{FF2B5EF4-FFF2-40B4-BE49-F238E27FC236}">
                <a16:creationId xmlns:a16="http://schemas.microsoft.com/office/drawing/2014/main" id="{E137FFAC-1FAF-CE7D-CA95-B68A45630416}"/>
              </a:ext>
            </a:extLst>
          </p:cNvPr>
          <p:cNvPicPr>
            <a:picLocks noChangeAspect="1"/>
          </p:cNvPicPr>
          <p:nvPr/>
        </p:nvPicPr>
        <p:blipFill>
          <a:blip r:embed="rId5"/>
          <a:stretch>
            <a:fillRect/>
          </a:stretch>
        </p:blipFill>
        <p:spPr>
          <a:xfrm>
            <a:off x="5562600" y="10448035"/>
            <a:ext cx="1216152" cy="1216152"/>
          </a:xfrm>
          <a:prstGeom prst="rect">
            <a:avLst/>
          </a:prstGeom>
        </p:spPr>
      </p:pic>
      <p:cxnSp>
        <p:nvCxnSpPr>
          <p:cNvPr id="61" name="Straight Arrow Connector 60">
            <a:extLst>
              <a:ext uri="{FF2B5EF4-FFF2-40B4-BE49-F238E27FC236}">
                <a16:creationId xmlns:a16="http://schemas.microsoft.com/office/drawing/2014/main" id="{FC7F1CF9-CA1A-6082-ED6B-D03CA9A150CA}"/>
              </a:ext>
            </a:extLst>
          </p:cNvPr>
          <p:cNvCxnSpPr>
            <a:endCxn id="59" idx="3"/>
          </p:cNvCxnSpPr>
          <p:nvPr/>
        </p:nvCxnSpPr>
        <p:spPr>
          <a:xfrm flipH="1" flipV="1">
            <a:off x="6833250" y="9467346"/>
            <a:ext cx="1300189" cy="153445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81E0146B-18A5-B985-B559-5A49177D8325}"/>
              </a:ext>
            </a:extLst>
          </p:cNvPr>
          <p:cNvCxnSpPr>
            <a:endCxn id="58" idx="3"/>
          </p:cNvCxnSpPr>
          <p:nvPr/>
        </p:nvCxnSpPr>
        <p:spPr>
          <a:xfrm flipH="1" flipV="1">
            <a:off x="5180965" y="10092931"/>
            <a:ext cx="2952474" cy="90887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E19A28F1-D52D-66B0-3FD5-FBD8B96DD78C}"/>
              </a:ext>
            </a:extLst>
          </p:cNvPr>
          <p:cNvCxnSpPr/>
          <p:nvPr/>
        </p:nvCxnSpPr>
        <p:spPr>
          <a:xfrm flipH="1">
            <a:off x="6578600" y="11001802"/>
            <a:ext cx="1554839" cy="10153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64" name="TextBox 63">
            <a:extLst>
              <a:ext uri="{FF2B5EF4-FFF2-40B4-BE49-F238E27FC236}">
                <a16:creationId xmlns:a16="http://schemas.microsoft.com/office/drawing/2014/main" id="{3A40CBCD-BF86-0287-6BA2-04F10E99B1A5}"/>
              </a:ext>
            </a:extLst>
          </p:cNvPr>
          <p:cNvSpPr txBox="1"/>
          <p:nvPr/>
        </p:nvSpPr>
        <p:spPr>
          <a:xfrm>
            <a:off x="9554331" y="10819758"/>
            <a:ext cx="3406038" cy="11214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l" defTabSz="821531" rtl="0" fontAlgn="auto" latinLnBrk="0" hangingPunct="0">
              <a:lnSpc>
                <a:spcPct val="100000"/>
              </a:lnSpc>
              <a:spcBef>
                <a:spcPts val="3300"/>
              </a:spcBef>
              <a:spcAft>
                <a:spcPts val="0"/>
              </a:spcAft>
              <a:buClrTx/>
              <a:buSzTx/>
              <a:buFontTx/>
              <a:buNone/>
              <a:tabLst/>
            </a:pPr>
            <a:r>
              <a:rPr kumimoji="0" lang="en-US" sz="3600" b="0" i="0" u="none" strike="noStrike" cap="none" spc="0" normalizeH="0" baseline="0" dirty="0">
                <a:ln>
                  <a:noFill/>
                </a:ln>
                <a:solidFill>
                  <a:schemeClr val="bg1"/>
                </a:solidFill>
                <a:effectLst/>
                <a:uFillTx/>
                <a:latin typeface="+mn-lt"/>
                <a:ea typeface="Avenir Next Medium"/>
                <a:cs typeface="Avenir Next Medium"/>
                <a:sym typeface="Avenir Next Medium"/>
              </a:rPr>
              <a:t>John</a:t>
            </a:r>
          </a:p>
        </p:txBody>
      </p:sp>
    </p:spTree>
    <p:extLst>
      <p:ext uri="{BB962C8B-B14F-4D97-AF65-F5344CB8AC3E}">
        <p14:creationId xmlns:p14="http://schemas.microsoft.com/office/powerpoint/2010/main" val="112690959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04FB6-F664-1B8A-DE05-3EA0D62D7CB1}"/>
            </a:ext>
          </a:extLst>
        </p:cNvPr>
        <p:cNvGrpSpPr/>
        <p:nvPr/>
      </p:nvGrpSpPr>
      <p:grpSpPr>
        <a:xfrm>
          <a:off x="0" y="0"/>
          <a:ext cx="0" cy="0"/>
          <a:chOff x="0" y="0"/>
          <a:chExt cx="0" cy="0"/>
        </a:xfrm>
      </p:grpSpPr>
      <p:sp>
        <p:nvSpPr>
          <p:cNvPr id="46" name="Rounded Rectangle 45">
            <a:extLst>
              <a:ext uri="{FF2B5EF4-FFF2-40B4-BE49-F238E27FC236}">
                <a16:creationId xmlns:a16="http://schemas.microsoft.com/office/drawing/2014/main" id="{D045A926-6022-73B0-1F01-8BAB25C3FD32}"/>
              </a:ext>
            </a:extLst>
          </p:cNvPr>
          <p:cNvSpPr/>
          <p:nvPr/>
        </p:nvSpPr>
        <p:spPr>
          <a:xfrm>
            <a:off x="13970000" y="4896253"/>
            <a:ext cx="8153719" cy="6698436"/>
          </a:xfrm>
          <a:prstGeom prst="roundRect">
            <a:avLst/>
          </a:prstGeom>
          <a:solidFill>
            <a:srgbClr val="48AAA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dirty="0">
              <a:ln>
                <a:noFill/>
              </a:ln>
              <a:solidFill>
                <a:srgbClr val="FFFFFF"/>
              </a:solidFill>
              <a:effectLst/>
              <a:uFillTx/>
              <a:latin typeface="DIN Condensed Bold"/>
              <a:ea typeface="DIN Condensed Bold"/>
              <a:cs typeface="DIN Condensed Bold"/>
              <a:sym typeface="DIN Condensed Bold"/>
            </a:endParaRPr>
          </a:p>
        </p:txBody>
      </p:sp>
      <p:sp>
        <p:nvSpPr>
          <p:cNvPr id="3" name="Title 2">
            <a:extLst>
              <a:ext uri="{FF2B5EF4-FFF2-40B4-BE49-F238E27FC236}">
                <a16:creationId xmlns:a16="http://schemas.microsoft.com/office/drawing/2014/main" id="{E6EB2CFA-72DB-683D-D064-A1BAD05AB568}"/>
              </a:ext>
            </a:extLst>
          </p:cNvPr>
          <p:cNvSpPr>
            <a:spLocks noGrp="1"/>
          </p:cNvSpPr>
          <p:nvPr>
            <p:ph type="title"/>
          </p:nvPr>
        </p:nvSpPr>
        <p:spPr>
          <a:xfrm>
            <a:off x="1171654" y="2121311"/>
            <a:ext cx="19006106" cy="1017985"/>
          </a:xfrm>
        </p:spPr>
        <p:txBody>
          <a:bodyPr>
            <a:normAutofit fontScale="90000"/>
          </a:bodyPr>
          <a:lstStyle/>
          <a:p>
            <a:r>
              <a:rPr lang="en-US" sz="4400" dirty="0">
                <a:solidFill>
                  <a:srgbClr val="C00000"/>
                </a:solidFill>
              </a:rPr>
              <a:t>Taking a step back: What is one way to think about unobserved confounding?</a:t>
            </a: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D56B6AC1-5F36-90B1-A02C-7716AA7E984E}"/>
                  </a:ext>
                </a:extLst>
              </p:cNvPr>
              <p:cNvSpPr txBox="1"/>
              <p:nvPr/>
            </p:nvSpPr>
            <p:spPr>
              <a:xfrm>
                <a:off x="14140187" y="5305258"/>
                <a:ext cx="8153719" cy="59109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57200" indent="-457200">
                  <a:buFont typeface="Arial" panose="020B0604020202020204" pitchFamily="34" charset="0"/>
                  <a:buChar char="•"/>
                </a:pPr>
                <a:r>
                  <a:rPr lang="en-US" sz="4000" dirty="0">
                    <a:solidFill>
                      <a:srgbClr val="F7F7F7"/>
                    </a:solidFill>
                    <a:latin typeface="+mn-lt"/>
                  </a:rPr>
                  <a:t>But John had a recurrence, and Mary, Peter and Tom didn’t</a:t>
                </a:r>
              </a:p>
              <a:p>
                <a:pPr marL="457200" indent="-457200">
                  <a:buFont typeface="Arial" panose="020B0604020202020204" pitchFamily="34" charset="0"/>
                  <a:buChar char="•"/>
                </a:pPr>
                <a:r>
                  <a:rPr lang="en-US" sz="4000" dirty="0">
                    <a:solidFill>
                      <a:srgbClr val="F7F7F7"/>
                    </a:solidFill>
                    <a:latin typeface="+mn-lt"/>
                  </a:rPr>
                  <a:t>There must be a hidden factor that differentiated John from the rest</a:t>
                </a:r>
              </a:p>
              <a:p>
                <a:pPr marL="457200" indent="-457200">
                  <a:buFont typeface="Arial" panose="020B0604020202020204" pitchFamily="34" charset="0"/>
                  <a:buChar char="•"/>
                </a:pPr>
                <a:r>
                  <a:rPr lang="en-US" sz="4000" dirty="0">
                    <a:solidFill>
                      <a:srgbClr val="F7F7F7"/>
                    </a:solidFill>
                    <a:latin typeface="+mn-lt"/>
                  </a:rPr>
                  <a:t>We are calculating this unobserved feature for John: </a:t>
                </a:r>
                <a14:m>
                  <m:oMath xmlns:m="http://schemas.openxmlformats.org/officeDocument/2006/math">
                    <m:sSub>
                      <m:sSubPr>
                        <m:ctrlPr>
                          <a:rPr lang="en-US" sz="4000" b="0" i="1" smtClean="0">
                            <a:solidFill>
                              <a:srgbClr val="F7F7F7"/>
                            </a:solidFill>
                            <a:latin typeface="Cambria Math" panose="02040503050406030204" pitchFamily="18" charset="0"/>
                          </a:rPr>
                        </m:ctrlPr>
                      </m:sSubPr>
                      <m:e>
                        <m:r>
                          <m:rPr>
                            <m:sty m:val="p"/>
                          </m:rPr>
                          <a:rPr lang="en-US" sz="4000" b="0" i="0" smtClean="0">
                            <a:solidFill>
                              <a:srgbClr val="F7F7F7"/>
                            </a:solidFill>
                            <a:latin typeface="Cambria Math" panose="02040503050406030204" pitchFamily="18" charset="0"/>
                          </a:rPr>
                          <m:t>U</m:t>
                        </m:r>
                      </m:e>
                      <m:sub>
                        <m:r>
                          <m:rPr>
                            <m:sty m:val="p"/>
                          </m:rPr>
                          <a:rPr lang="en-US" sz="4000" b="0" i="0" smtClean="0">
                            <a:solidFill>
                              <a:srgbClr val="F7F7F7"/>
                            </a:solidFill>
                            <a:latin typeface="Cambria Math" panose="02040503050406030204" pitchFamily="18" charset="0"/>
                          </a:rPr>
                          <m:t>John</m:t>
                        </m:r>
                      </m:sub>
                    </m:sSub>
                  </m:oMath>
                </a14:m>
                <a:endParaRPr lang="en-US" sz="4000" b="1" dirty="0">
                  <a:solidFill>
                    <a:srgbClr val="F7F7F7"/>
                  </a:solidFill>
                  <a:latin typeface="+mn-lt"/>
                </a:endParaRPr>
              </a:p>
            </p:txBody>
          </p:sp>
        </mc:Choice>
        <mc:Fallback xmlns="">
          <p:sp>
            <p:nvSpPr>
              <p:cNvPr id="47" name="TextBox 46">
                <a:extLst>
                  <a:ext uri="{FF2B5EF4-FFF2-40B4-BE49-F238E27FC236}">
                    <a16:creationId xmlns:a16="http://schemas.microsoft.com/office/drawing/2014/main" id="{D56B6AC1-5F36-90B1-A02C-7716AA7E984E}"/>
                  </a:ext>
                </a:extLst>
              </p:cNvPr>
              <p:cNvSpPr txBox="1">
                <a:spLocks noRot="1" noChangeAspect="1" noMove="1" noResize="1" noEditPoints="1" noAdjustHandles="1" noChangeArrowheads="1" noChangeShapeType="1" noTextEdit="1"/>
              </p:cNvSpPr>
              <p:nvPr/>
            </p:nvSpPr>
            <p:spPr>
              <a:xfrm>
                <a:off x="14140187" y="5305258"/>
                <a:ext cx="8153719" cy="5910914"/>
              </a:xfrm>
              <a:prstGeom prst="rect">
                <a:avLst/>
              </a:prstGeom>
              <a:blipFill>
                <a:blip r:embed="rId2"/>
                <a:stretch>
                  <a:fillRect l="-2488" t="-1927" r="-311" b="-857"/>
                </a:stretch>
              </a:blipFill>
              <a:ln w="12700" cap="flat">
                <a:noFill/>
                <a:miter lim="400000"/>
              </a:ln>
              <a:effectLst/>
            </p:spPr>
            <p:txBody>
              <a:bodyPr/>
              <a:lstStyle/>
              <a:p>
                <a:r>
                  <a:rPr lang="en-US">
                    <a:noFill/>
                  </a:rPr>
                  <a:t> </a:t>
                </a:r>
              </a:p>
            </p:txBody>
          </p:sp>
        </mc:Fallback>
      </mc:AlternateContent>
      <p:sp>
        <p:nvSpPr>
          <p:cNvPr id="11" name="Rectangle 10">
            <a:extLst>
              <a:ext uri="{FF2B5EF4-FFF2-40B4-BE49-F238E27FC236}">
                <a16:creationId xmlns:a16="http://schemas.microsoft.com/office/drawing/2014/main" id="{F1CE5970-2088-336A-2DC5-0107C6ECAF25}"/>
              </a:ext>
            </a:extLst>
          </p:cNvPr>
          <p:cNvSpPr/>
          <p:nvPr/>
        </p:nvSpPr>
        <p:spPr>
          <a:xfrm>
            <a:off x="23561040" y="12891795"/>
            <a:ext cx="457200" cy="610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r" defTabSz="821531" rtl="0" fontAlgn="auto" latinLnBrk="0" hangingPunct="0">
              <a:lnSpc>
                <a:spcPct val="80000"/>
              </a:lnSpc>
              <a:spcBef>
                <a:spcPts val="0"/>
              </a:spcBef>
              <a:spcAft>
                <a:spcPts val="0"/>
              </a:spcAft>
              <a:buClrTx/>
              <a:buSzTx/>
              <a:buFontTx/>
              <a:buNone/>
              <a:tabLst/>
            </a:pPr>
            <a:r>
              <a:rPr kumimoji="0" lang="en-US" sz="3800" b="0" i="0" u="none" strike="noStrike" cap="all" spc="0" normalizeH="0" baseline="0" dirty="0">
                <a:ln>
                  <a:noFill/>
                </a:ln>
                <a:solidFill>
                  <a:srgbClr val="C52060"/>
                </a:solidFill>
                <a:effectLst/>
                <a:uFillTx/>
                <a:latin typeface="+mj-lt"/>
                <a:ea typeface="DIN Condensed Bold"/>
                <a:cs typeface="DIN Condensed Bold"/>
                <a:sym typeface="DIN Condensed Bold"/>
              </a:rPr>
              <a:t>9</a:t>
            </a:r>
          </a:p>
        </p:txBody>
      </p:sp>
      <p:graphicFrame>
        <p:nvGraphicFramePr>
          <p:cNvPr id="12" name="Table 11">
            <a:extLst>
              <a:ext uri="{FF2B5EF4-FFF2-40B4-BE49-F238E27FC236}">
                <a16:creationId xmlns:a16="http://schemas.microsoft.com/office/drawing/2014/main" id="{136CE10C-2E28-F4EB-A87C-25E9AE99CAA4}"/>
              </a:ext>
            </a:extLst>
          </p:cNvPr>
          <p:cNvGraphicFramePr>
            <a:graphicFrameLocks noGrp="1"/>
          </p:cNvGraphicFramePr>
          <p:nvPr>
            <p:extLst>
              <p:ext uri="{D42A27DB-BD31-4B8C-83A1-F6EECF244321}">
                <p14:modId xmlns:p14="http://schemas.microsoft.com/office/powerpoint/2010/main" val="2912964590"/>
              </p:ext>
            </p:extLst>
          </p:nvPr>
        </p:nvGraphicFramePr>
        <p:xfrm>
          <a:off x="2159000" y="3572139"/>
          <a:ext cx="10033000" cy="8992537"/>
        </p:xfrm>
        <a:graphic>
          <a:graphicData uri="http://schemas.openxmlformats.org/drawingml/2006/table">
            <a:tbl>
              <a:tblPr firstRow="1" bandRow="1">
                <a:tableStyleId>{5940675A-B579-460E-94D1-54222C63F5DA}</a:tableStyleId>
              </a:tblPr>
              <a:tblGrid>
                <a:gridCol w="5016500">
                  <a:extLst>
                    <a:ext uri="{9D8B030D-6E8A-4147-A177-3AD203B41FA5}">
                      <a16:colId xmlns:a16="http://schemas.microsoft.com/office/drawing/2014/main" val="3399294042"/>
                    </a:ext>
                  </a:extLst>
                </a:gridCol>
                <a:gridCol w="5016500">
                  <a:extLst>
                    <a:ext uri="{9D8B030D-6E8A-4147-A177-3AD203B41FA5}">
                      <a16:colId xmlns:a16="http://schemas.microsoft.com/office/drawing/2014/main" val="1451783524"/>
                    </a:ext>
                  </a:extLst>
                </a:gridCol>
              </a:tblGrid>
              <a:tr h="2361489">
                <a:tc gridSpan="2">
                  <a:txBody>
                    <a:bodyPr/>
                    <a:lstStyle/>
                    <a:p>
                      <a:endParaRPr lang="en-US" dirty="0">
                        <a:solidFill>
                          <a:schemeClr val="bg1"/>
                        </a:solidFill>
                      </a:endParaRPr>
                    </a:p>
                  </a:txBody>
                  <a:tcPr>
                    <a:solidFill>
                      <a:schemeClr val="tx1">
                        <a:lumMod val="20000"/>
                        <a:lumOff val="80000"/>
                      </a:schemeClr>
                    </a:solidFill>
                  </a:tcPr>
                </a:tc>
                <a:tc hMerge="1">
                  <a:txBody>
                    <a:bodyPr/>
                    <a:lstStyle/>
                    <a:p>
                      <a:endParaRPr lang="en-US" dirty="0">
                        <a:solidFill>
                          <a:schemeClr val="bg1"/>
                        </a:solidFill>
                      </a:endParaRPr>
                    </a:p>
                  </a:txBody>
                  <a:tcPr>
                    <a:solidFill>
                      <a:schemeClr val="tx1">
                        <a:lumMod val="20000"/>
                        <a:lumOff val="80000"/>
                      </a:schemeClr>
                    </a:solidFill>
                  </a:tcPr>
                </a:tc>
                <a:extLst>
                  <a:ext uri="{0D108BD9-81ED-4DB2-BD59-A6C34878D82A}">
                    <a16:rowId xmlns:a16="http://schemas.microsoft.com/office/drawing/2014/main" val="2676565202"/>
                  </a:ext>
                </a:extLst>
              </a:tr>
              <a:tr h="236220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74986606"/>
                  </a:ext>
                </a:extLst>
              </a:tr>
              <a:tr h="4268848">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7544094"/>
                  </a:ext>
                </a:extLst>
              </a:tr>
            </a:tbl>
          </a:graphicData>
        </a:graphic>
      </p:graphicFrame>
      <p:pic>
        <p:nvPicPr>
          <p:cNvPr id="13" name="Picture 12">
            <a:extLst>
              <a:ext uri="{FF2B5EF4-FFF2-40B4-BE49-F238E27FC236}">
                <a16:creationId xmlns:a16="http://schemas.microsoft.com/office/drawing/2014/main" id="{E0AA2496-45F6-4E3A-EB9F-542B323995B3}"/>
              </a:ext>
            </a:extLst>
          </p:cNvPr>
          <p:cNvPicPr>
            <a:picLocks noChangeAspect="1"/>
          </p:cNvPicPr>
          <p:nvPr/>
        </p:nvPicPr>
        <p:blipFill>
          <a:blip r:embed="rId3"/>
          <a:stretch>
            <a:fillRect/>
          </a:stretch>
        </p:blipFill>
        <p:spPr>
          <a:xfrm>
            <a:off x="6234194" y="3845842"/>
            <a:ext cx="1950431" cy="1950431"/>
          </a:xfrm>
          <a:prstGeom prst="rect">
            <a:avLst/>
          </a:prstGeom>
        </p:spPr>
      </p:pic>
      <p:pic>
        <p:nvPicPr>
          <p:cNvPr id="14" name="Picture 13">
            <a:extLst>
              <a:ext uri="{FF2B5EF4-FFF2-40B4-BE49-F238E27FC236}">
                <a16:creationId xmlns:a16="http://schemas.microsoft.com/office/drawing/2014/main" id="{B6E00106-2CD4-8905-86D6-9A5A342E1F49}"/>
              </a:ext>
            </a:extLst>
          </p:cNvPr>
          <p:cNvPicPr>
            <a:picLocks noChangeAspect="1"/>
          </p:cNvPicPr>
          <p:nvPr/>
        </p:nvPicPr>
        <p:blipFill>
          <a:blip r:embed="rId4"/>
          <a:stretch>
            <a:fillRect/>
          </a:stretch>
        </p:blipFill>
        <p:spPr>
          <a:xfrm>
            <a:off x="3937000" y="6307647"/>
            <a:ext cx="1625600" cy="1625600"/>
          </a:xfrm>
          <a:prstGeom prst="rect">
            <a:avLst/>
          </a:prstGeom>
        </p:spPr>
      </p:pic>
      <p:pic>
        <p:nvPicPr>
          <p:cNvPr id="15" name="Picture 14">
            <a:extLst>
              <a:ext uri="{FF2B5EF4-FFF2-40B4-BE49-F238E27FC236}">
                <a16:creationId xmlns:a16="http://schemas.microsoft.com/office/drawing/2014/main" id="{2E46957B-AE3B-3DC4-5CF1-5E689C912446}"/>
              </a:ext>
            </a:extLst>
          </p:cNvPr>
          <p:cNvPicPr>
            <a:picLocks noChangeAspect="1"/>
          </p:cNvPicPr>
          <p:nvPr/>
        </p:nvPicPr>
        <p:blipFill>
          <a:blip r:embed="rId5"/>
          <a:stretch>
            <a:fillRect/>
          </a:stretch>
        </p:blipFill>
        <p:spPr>
          <a:xfrm>
            <a:off x="8930894" y="6211461"/>
            <a:ext cx="1625600" cy="1625600"/>
          </a:xfrm>
          <a:prstGeom prst="rect">
            <a:avLst/>
          </a:prstGeom>
        </p:spPr>
      </p:pic>
      <p:pic>
        <p:nvPicPr>
          <p:cNvPr id="16" name="Picture 15">
            <a:extLst>
              <a:ext uri="{FF2B5EF4-FFF2-40B4-BE49-F238E27FC236}">
                <a16:creationId xmlns:a16="http://schemas.microsoft.com/office/drawing/2014/main" id="{7CA7C980-BE1B-7927-6A13-F6E31EDED4D8}"/>
              </a:ext>
            </a:extLst>
          </p:cNvPr>
          <p:cNvPicPr>
            <a:picLocks noChangeAspect="1"/>
          </p:cNvPicPr>
          <p:nvPr/>
        </p:nvPicPr>
        <p:blipFill>
          <a:blip r:embed="rId6"/>
          <a:stretch>
            <a:fillRect/>
          </a:stretch>
        </p:blipFill>
        <p:spPr>
          <a:xfrm>
            <a:off x="8133439" y="10092930"/>
            <a:ext cx="1536737" cy="1536737"/>
          </a:xfrm>
          <a:prstGeom prst="rect">
            <a:avLst/>
          </a:prstGeom>
        </p:spPr>
      </p:pic>
      <p:pic>
        <p:nvPicPr>
          <p:cNvPr id="17" name="Picture 16">
            <a:extLst>
              <a:ext uri="{FF2B5EF4-FFF2-40B4-BE49-F238E27FC236}">
                <a16:creationId xmlns:a16="http://schemas.microsoft.com/office/drawing/2014/main" id="{691FE216-F49F-CE9C-BAAB-5AE249335F9A}"/>
              </a:ext>
            </a:extLst>
          </p:cNvPr>
          <p:cNvPicPr>
            <a:picLocks noChangeAspect="1"/>
          </p:cNvPicPr>
          <p:nvPr/>
        </p:nvPicPr>
        <p:blipFill>
          <a:blip r:embed="rId7"/>
          <a:stretch>
            <a:fillRect/>
          </a:stretch>
        </p:blipFill>
        <p:spPr>
          <a:xfrm>
            <a:off x="3965794" y="9485345"/>
            <a:ext cx="1215171" cy="1215171"/>
          </a:xfrm>
          <a:prstGeom prst="rect">
            <a:avLst/>
          </a:prstGeom>
        </p:spPr>
      </p:pic>
      <p:pic>
        <p:nvPicPr>
          <p:cNvPr id="18" name="Picture 17">
            <a:extLst>
              <a:ext uri="{FF2B5EF4-FFF2-40B4-BE49-F238E27FC236}">
                <a16:creationId xmlns:a16="http://schemas.microsoft.com/office/drawing/2014/main" id="{292A4389-0A17-46B2-532E-078C7090EB77}"/>
              </a:ext>
            </a:extLst>
          </p:cNvPr>
          <p:cNvPicPr>
            <a:picLocks noChangeAspect="1"/>
          </p:cNvPicPr>
          <p:nvPr/>
        </p:nvPicPr>
        <p:blipFill>
          <a:blip r:embed="rId6"/>
          <a:stretch>
            <a:fillRect/>
          </a:stretch>
        </p:blipFill>
        <p:spPr>
          <a:xfrm>
            <a:off x="5605102" y="8853272"/>
            <a:ext cx="1228148" cy="1228148"/>
          </a:xfrm>
          <a:prstGeom prst="rect">
            <a:avLst/>
          </a:prstGeom>
        </p:spPr>
      </p:pic>
      <p:pic>
        <p:nvPicPr>
          <p:cNvPr id="19" name="Picture 18">
            <a:extLst>
              <a:ext uri="{FF2B5EF4-FFF2-40B4-BE49-F238E27FC236}">
                <a16:creationId xmlns:a16="http://schemas.microsoft.com/office/drawing/2014/main" id="{A278B4E8-7A90-F585-23E8-2D6F2CB13F2A}"/>
              </a:ext>
            </a:extLst>
          </p:cNvPr>
          <p:cNvPicPr>
            <a:picLocks noChangeAspect="1"/>
          </p:cNvPicPr>
          <p:nvPr/>
        </p:nvPicPr>
        <p:blipFill>
          <a:blip r:embed="rId6"/>
          <a:stretch>
            <a:fillRect/>
          </a:stretch>
        </p:blipFill>
        <p:spPr>
          <a:xfrm>
            <a:off x="5562600" y="10448035"/>
            <a:ext cx="1216152" cy="1216152"/>
          </a:xfrm>
          <a:prstGeom prst="rect">
            <a:avLst/>
          </a:prstGeom>
        </p:spPr>
      </p:pic>
      <p:cxnSp>
        <p:nvCxnSpPr>
          <p:cNvPr id="20" name="Straight Arrow Connector 19">
            <a:extLst>
              <a:ext uri="{FF2B5EF4-FFF2-40B4-BE49-F238E27FC236}">
                <a16:creationId xmlns:a16="http://schemas.microsoft.com/office/drawing/2014/main" id="{D99A73D3-5C34-F3F0-B857-FD4A558088DD}"/>
              </a:ext>
            </a:extLst>
          </p:cNvPr>
          <p:cNvCxnSpPr>
            <a:endCxn id="18" idx="3"/>
          </p:cNvCxnSpPr>
          <p:nvPr/>
        </p:nvCxnSpPr>
        <p:spPr>
          <a:xfrm flipH="1" flipV="1">
            <a:off x="6833250" y="9467346"/>
            <a:ext cx="1300189" cy="153445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46BFE579-5773-7A78-9C5F-2A9586654C0F}"/>
              </a:ext>
            </a:extLst>
          </p:cNvPr>
          <p:cNvCxnSpPr>
            <a:endCxn id="17" idx="3"/>
          </p:cNvCxnSpPr>
          <p:nvPr/>
        </p:nvCxnSpPr>
        <p:spPr>
          <a:xfrm flipH="1" flipV="1">
            <a:off x="5180965" y="10092931"/>
            <a:ext cx="2952474" cy="90887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F7896F81-8B36-A4CD-6F69-F21977FDE202}"/>
              </a:ext>
            </a:extLst>
          </p:cNvPr>
          <p:cNvCxnSpPr/>
          <p:nvPr/>
        </p:nvCxnSpPr>
        <p:spPr>
          <a:xfrm flipH="1">
            <a:off x="6578600" y="11001802"/>
            <a:ext cx="1554839" cy="10153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C5B2E4D1-5863-37C0-12F5-AC68ED8AF266}"/>
              </a:ext>
            </a:extLst>
          </p:cNvPr>
          <p:cNvSpPr txBox="1"/>
          <p:nvPr/>
        </p:nvSpPr>
        <p:spPr>
          <a:xfrm>
            <a:off x="9554331" y="10819758"/>
            <a:ext cx="3406038" cy="11214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l" defTabSz="821531" rtl="0" fontAlgn="auto" latinLnBrk="0" hangingPunct="0">
              <a:lnSpc>
                <a:spcPct val="100000"/>
              </a:lnSpc>
              <a:spcBef>
                <a:spcPts val="3300"/>
              </a:spcBef>
              <a:spcAft>
                <a:spcPts val="0"/>
              </a:spcAft>
              <a:buClrTx/>
              <a:buSzTx/>
              <a:buFontTx/>
              <a:buNone/>
              <a:tabLst/>
            </a:pPr>
            <a:r>
              <a:rPr kumimoji="0" lang="en-US" sz="3600" b="0" i="0" u="none" strike="noStrike" cap="none" spc="0" normalizeH="0" baseline="0" dirty="0">
                <a:ln>
                  <a:noFill/>
                </a:ln>
                <a:solidFill>
                  <a:schemeClr val="bg1"/>
                </a:solidFill>
                <a:effectLst/>
                <a:uFillTx/>
                <a:latin typeface="+mn-lt"/>
                <a:ea typeface="Avenir Next Medium"/>
                <a:cs typeface="Avenir Next Medium"/>
                <a:sym typeface="Avenir Next Medium"/>
              </a:rPr>
              <a:t>John</a:t>
            </a:r>
          </a:p>
        </p:txBody>
      </p:sp>
    </p:spTree>
    <p:extLst>
      <p:ext uri="{BB962C8B-B14F-4D97-AF65-F5344CB8AC3E}">
        <p14:creationId xmlns:p14="http://schemas.microsoft.com/office/powerpoint/2010/main" val="216011976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D7F74-E54B-48F6-9F06-6287E80DF2CD}"/>
            </a:ext>
          </a:extLst>
        </p:cNvPr>
        <p:cNvGrpSpPr/>
        <p:nvPr/>
      </p:nvGrpSpPr>
      <p:grpSpPr>
        <a:xfrm>
          <a:off x="0" y="0"/>
          <a:ext cx="0" cy="0"/>
          <a:chOff x="0" y="0"/>
          <a:chExt cx="0" cy="0"/>
        </a:xfrm>
      </p:grpSpPr>
      <p:sp>
        <p:nvSpPr>
          <p:cNvPr id="46" name="Rounded Rectangle 45">
            <a:extLst>
              <a:ext uri="{FF2B5EF4-FFF2-40B4-BE49-F238E27FC236}">
                <a16:creationId xmlns:a16="http://schemas.microsoft.com/office/drawing/2014/main" id="{3A85472A-FEA6-9B47-A76E-5E0E360C0339}"/>
              </a:ext>
            </a:extLst>
          </p:cNvPr>
          <p:cNvSpPr/>
          <p:nvPr/>
        </p:nvSpPr>
        <p:spPr>
          <a:xfrm>
            <a:off x="13998794" y="3226585"/>
            <a:ext cx="8323906" cy="9703947"/>
          </a:xfrm>
          <a:prstGeom prst="roundRect">
            <a:avLst/>
          </a:prstGeom>
          <a:solidFill>
            <a:srgbClr val="48AAA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dirty="0">
              <a:ln>
                <a:noFill/>
              </a:ln>
              <a:solidFill>
                <a:srgbClr val="FFFFFF"/>
              </a:solidFill>
              <a:effectLst/>
              <a:uFillTx/>
              <a:latin typeface="DIN Condensed Bold"/>
              <a:ea typeface="DIN Condensed Bold"/>
              <a:cs typeface="DIN Condensed Bold"/>
              <a:sym typeface="DIN Condensed Bold"/>
            </a:endParaRPr>
          </a:p>
        </p:txBody>
      </p:sp>
      <p:sp>
        <p:nvSpPr>
          <p:cNvPr id="3" name="Title 2">
            <a:extLst>
              <a:ext uri="{FF2B5EF4-FFF2-40B4-BE49-F238E27FC236}">
                <a16:creationId xmlns:a16="http://schemas.microsoft.com/office/drawing/2014/main" id="{DEF3102A-E079-2AF5-3216-EE59559A40BA}"/>
              </a:ext>
            </a:extLst>
          </p:cNvPr>
          <p:cNvSpPr>
            <a:spLocks noGrp="1"/>
          </p:cNvSpPr>
          <p:nvPr>
            <p:ph type="title"/>
          </p:nvPr>
        </p:nvSpPr>
        <p:spPr>
          <a:xfrm>
            <a:off x="1171654" y="2121311"/>
            <a:ext cx="19006106" cy="1017985"/>
          </a:xfrm>
        </p:spPr>
        <p:txBody>
          <a:bodyPr>
            <a:normAutofit/>
          </a:bodyPr>
          <a:lstStyle/>
          <a:p>
            <a:r>
              <a:rPr lang="en-US" sz="4400" dirty="0">
                <a:solidFill>
                  <a:srgbClr val="C00000"/>
                </a:solidFill>
              </a:rPr>
              <a:t>Calculating U</a:t>
            </a:r>
          </a:p>
        </p:txBody>
      </p:sp>
      <p:graphicFrame>
        <p:nvGraphicFramePr>
          <p:cNvPr id="5" name="Table 4">
            <a:extLst>
              <a:ext uri="{FF2B5EF4-FFF2-40B4-BE49-F238E27FC236}">
                <a16:creationId xmlns:a16="http://schemas.microsoft.com/office/drawing/2014/main" id="{1DAD1019-E5E8-0C5F-7E20-6E276500985A}"/>
              </a:ext>
            </a:extLst>
          </p:cNvPr>
          <p:cNvGraphicFramePr>
            <a:graphicFrameLocks noGrp="1"/>
          </p:cNvGraphicFramePr>
          <p:nvPr>
            <p:extLst>
              <p:ext uri="{D42A27DB-BD31-4B8C-83A1-F6EECF244321}">
                <p14:modId xmlns:p14="http://schemas.microsoft.com/office/powerpoint/2010/main" val="2679000354"/>
              </p:ext>
            </p:extLst>
          </p:nvPr>
        </p:nvGraphicFramePr>
        <p:xfrm>
          <a:off x="2159000" y="3572139"/>
          <a:ext cx="10033000" cy="8992537"/>
        </p:xfrm>
        <a:graphic>
          <a:graphicData uri="http://schemas.openxmlformats.org/drawingml/2006/table">
            <a:tbl>
              <a:tblPr firstRow="1" bandRow="1">
                <a:tableStyleId>{5940675A-B579-460E-94D1-54222C63F5DA}</a:tableStyleId>
              </a:tblPr>
              <a:tblGrid>
                <a:gridCol w="5016500">
                  <a:extLst>
                    <a:ext uri="{9D8B030D-6E8A-4147-A177-3AD203B41FA5}">
                      <a16:colId xmlns:a16="http://schemas.microsoft.com/office/drawing/2014/main" val="3399294042"/>
                    </a:ext>
                  </a:extLst>
                </a:gridCol>
                <a:gridCol w="5016500">
                  <a:extLst>
                    <a:ext uri="{9D8B030D-6E8A-4147-A177-3AD203B41FA5}">
                      <a16:colId xmlns:a16="http://schemas.microsoft.com/office/drawing/2014/main" val="1451783524"/>
                    </a:ext>
                  </a:extLst>
                </a:gridCol>
              </a:tblGrid>
              <a:tr h="2361489">
                <a:tc gridSpan="2">
                  <a:txBody>
                    <a:bodyPr/>
                    <a:lstStyle/>
                    <a:p>
                      <a:endParaRPr lang="en-US" dirty="0">
                        <a:solidFill>
                          <a:schemeClr val="bg1"/>
                        </a:solidFill>
                      </a:endParaRPr>
                    </a:p>
                  </a:txBody>
                  <a:tcPr>
                    <a:solidFill>
                      <a:schemeClr val="tx1">
                        <a:lumMod val="20000"/>
                        <a:lumOff val="80000"/>
                      </a:schemeClr>
                    </a:solidFill>
                  </a:tcPr>
                </a:tc>
                <a:tc hMerge="1">
                  <a:txBody>
                    <a:bodyPr/>
                    <a:lstStyle/>
                    <a:p>
                      <a:endParaRPr lang="en-US" dirty="0">
                        <a:solidFill>
                          <a:schemeClr val="bg1"/>
                        </a:solidFill>
                      </a:endParaRPr>
                    </a:p>
                  </a:txBody>
                  <a:tcPr>
                    <a:solidFill>
                      <a:schemeClr val="tx1">
                        <a:lumMod val="20000"/>
                        <a:lumOff val="80000"/>
                      </a:schemeClr>
                    </a:solidFill>
                  </a:tcPr>
                </a:tc>
                <a:extLst>
                  <a:ext uri="{0D108BD9-81ED-4DB2-BD59-A6C34878D82A}">
                    <a16:rowId xmlns:a16="http://schemas.microsoft.com/office/drawing/2014/main" val="2676565202"/>
                  </a:ext>
                </a:extLst>
              </a:tr>
              <a:tr h="236220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74986606"/>
                  </a:ext>
                </a:extLst>
              </a:tr>
              <a:tr h="4268848">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7544094"/>
                  </a:ext>
                </a:extLst>
              </a:tr>
            </a:tbl>
          </a:graphicData>
        </a:graphic>
      </p:graphicFrame>
      <p:pic>
        <p:nvPicPr>
          <p:cNvPr id="6" name="Picture 5">
            <a:extLst>
              <a:ext uri="{FF2B5EF4-FFF2-40B4-BE49-F238E27FC236}">
                <a16:creationId xmlns:a16="http://schemas.microsoft.com/office/drawing/2014/main" id="{9AA0D315-AF70-B121-CF16-763A742E9C08}"/>
              </a:ext>
            </a:extLst>
          </p:cNvPr>
          <p:cNvPicPr>
            <a:picLocks noChangeAspect="1"/>
          </p:cNvPicPr>
          <p:nvPr/>
        </p:nvPicPr>
        <p:blipFill>
          <a:blip r:embed="rId2"/>
          <a:stretch>
            <a:fillRect/>
          </a:stretch>
        </p:blipFill>
        <p:spPr>
          <a:xfrm>
            <a:off x="6234194" y="3845842"/>
            <a:ext cx="1950431" cy="1950431"/>
          </a:xfrm>
          <a:prstGeom prst="rect">
            <a:avLst/>
          </a:prstGeom>
        </p:spPr>
      </p:pic>
      <p:pic>
        <p:nvPicPr>
          <p:cNvPr id="7" name="Picture 6">
            <a:extLst>
              <a:ext uri="{FF2B5EF4-FFF2-40B4-BE49-F238E27FC236}">
                <a16:creationId xmlns:a16="http://schemas.microsoft.com/office/drawing/2014/main" id="{8B98DFF7-1BF6-9B09-308A-666889BA2B41}"/>
              </a:ext>
            </a:extLst>
          </p:cNvPr>
          <p:cNvPicPr>
            <a:picLocks noChangeAspect="1"/>
          </p:cNvPicPr>
          <p:nvPr/>
        </p:nvPicPr>
        <p:blipFill>
          <a:blip r:embed="rId3"/>
          <a:stretch>
            <a:fillRect/>
          </a:stretch>
        </p:blipFill>
        <p:spPr>
          <a:xfrm>
            <a:off x="3937000" y="6307647"/>
            <a:ext cx="1625600" cy="1625600"/>
          </a:xfrm>
          <a:prstGeom prst="rect">
            <a:avLst/>
          </a:prstGeom>
        </p:spPr>
      </p:pic>
      <p:pic>
        <p:nvPicPr>
          <p:cNvPr id="8" name="Picture 7">
            <a:extLst>
              <a:ext uri="{FF2B5EF4-FFF2-40B4-BE49-F238E27FC236}">
                <a16:creationId xmlns:a16="http://schemas.microsoft.com/office/drawing/2014/main" id="{862A2FDA-DF9F-8DE6-BB82-05766F403C49}"/>
              </a:ext>
            </a:extLst>
          </p:cNvPr>
          <p:cNvPicPr>
            <a:picLocks noChangeAspect="1"/>
          </p:cNvPicPr>
          <p:nvPr/>
        </p:nvPicPr>
        <p:blipFill>
          <a:blip r:embed="rId4"/>
          <a:stretch>
            <a:fillRect/>
          </a:stretch>
        </p:blipFill>
        <p:spPr>
          <a:xfrm>
            <a:off x="8930894" y="6211461"/>
            <a:ext cx="1625600" cy="1625600"/>
          </a:xfrm>
          <a:prstGeom prst="rect">
            <a:avLst/>
          </a:prstGeom>
        </p:spPr>
      </p:pic>
      <p:pic>
        <p:nvPicPr>
          <p:cNvPr id="49" name="Picture 48">
            <a:extLst>
              <a:ext uri="{FF2B5EF4-FFF2-40B4-BE49-F238E27FC236}">
                <a16:creationId xmlns:a16="http://schemas.microsoft.com/office/drawing/2014/main" id="{92EFA4D2-452D-E9FB-C72B-6446EA727FED}"/>
              </a:ext>
            </a:extLst>
          </p:cNvPr>
          <p:cNvPicPr>
            <a:picLocks noChangeAspect="1"/>
          </p:cNvPicPr>
          <p:nvPr/>
        </p:nvPicPr>
        <p:blipFill>
          <a:blip r:embed="rId5"/>
          <a:stretch>
            <a:fillRect/>
          </a:stretch>
        </p:blipFill>
        <p:spPr>
          <a:xfrm>
            <a:off x="8133439" y="10092930"/>
            <a:ext cx="1536737" cy="1536737"/>
          </a:xfrm>
          <a:prstGeom prst="rect">
            <a:avLst/>
          </a:prstGeom>
        </p:spPr>
      </p:pic>
      <p:pic>
        <p:nvPicPr>
          <p:cNvPr id="50" name="Picture 49">
            <a:extLst>
              <a:ext uri="{FF2B5EF4-FFF2-40B4-BE49-F238E27FC236}">
                <a16:creationId xmlns:a16="http://schemas.microsoft.com/office/drawing/2014/main" id="{283CBAD6-9B1D-8349-8493-3D55FDBB2DBE}"/>
              </a:ext>
            </a:extLst>
          </p:cNvPr>
          <p:cNvPicPr>
            <a:picLocks noChangeAspect="1"/>
          </p:cNvPicPr>
          <p:nvPr/>
        </p:nvPicPr>
        <p:blipFill>
          <a:blip r:embed="rId6"/>
          <a:stretch>
            <a:fillRect/>
          </a:stretch>
        </p:blipFill>
        <p:spPr>
          <a:xfrm>
            <a:off x="3965794" y="9485345"/>
            <a:ext cx="1215171" cy="1215171"/>
          </a:xfrm>
          <a:prstGeom prst="rect">
            <a:avLst/>
          </a:prstGeom>
        </p:spPr>
      </p:pic>
      <p:pic>
        <p:nvPicPr>
          <p:cNvPr id="51" name="Picture 50">
            <a:extLst>
              <a:ext uri="{FF2B5EF4-FFF2-40B4-BE49-F238E27FC236}">
                <a16:creationId xmlns:a16="http://schemas.microsoft.com/office/drawing/2014/main" id="{4F1E938F-4D1C-DC8D-2373-83FBDE6E1CCE}"/>
              </a:ext>
            </a:extLst>
          </p:cNvPr>
          <p:cNvPicPr>
            <a:picLocks noChangeAspect="1"/>
          </p:cNvPicPr>
          <p:nvPr/>
        </p:nvPicPr>
        <p:blipFill>
          <a:blip r:embed="rId5"/>
          <a:stretch>
            <a:fillRect/>
          </a:stretch>
        </p:blipFill>
        <p:spPr>
          <a:xfrm>
            <a:off x="5605102" y="8853272"/>
            <a:ext cx="1228148" cy="1228148"/>
          </a:xfrm>
          <a:prstGeom prst="rect">
            <a:avLst/>
          </a:prstGeom>
        </p:spPr>
      </p:pic>
      <p:pic>
        <p:nvPicPr>
          <p:cNvPr id="52" name="Picture 51">
            <a:extLst>
              <a:ext uri="{FF2B5EF4-FFF2-40B4-BE49-F238E27FC236}">
                <a16:creationId xmlns:a16="http://schemas.microsoft.com/office/drawing/2014/main" id="{D7BDDAA2-B68B-D643-63F8-40158736EF20}"/>
              </a:ext>
            </a:extLst>
          </p:cNvPr>
          <p:cNvPicPr>
            <a:picLocks noChangeAspect="1"/>
          </p:cNvPicPr>
          <p:nvPr/>
        </p:nvPicPr>
        <p:blipFill>
          <a:blip r:embed="rId5"/>
          <a:stretch>
            <a:fillRect/>
          </a:stretch>
        </p:blipFill>
        <p:spPr>
          <a:xfrm>
            <a:off x="5562600" y="10448035"/>
            <a:ext cx="1216152" cy="1216152"/>
          </a:xfrm>
          <a:prstGeom prst="rect">
            <a:avLst/>
          </a:prstGeom>
        </p:spPr>
      </p:pic>
      <p:cxnSp>
        <p:nvCxnSpPr>
          <p:cNvPr id="40" name="Straight Arrow Connector 39">
            <a:extLst>
              <a:ext uri="{FF2B5EF4-FFF2-40B4-BE49-F238E27FC236}">
                <a16:creationId xmlns:a16="http://schemas.microsoft.com/office/drawing/2014/main" id="{0574B513-6EB6-38D2-2F43-F722A7A0D4D1}"/>
              </a:ext>
            </a:extLst>
          </p:cNvPr>
          <p:cNvCxnSpPr>
            <a:endCxn id="51" idx="3"/>
          </p:cNvCxnSpPr>
          <p:nvPr/>
        </p:nvCxnSpPr>
        <p:spPr>
          <a:xfrm flipH="1" flipV="1">
            <a:off x="6833250" y="9467346"/>
            <a:ext cx="1300189" cy="153445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85BECBFC-720E-0691-CB26-4B743811A3B2}"/>
              </a:ext>
            </a:extLst>
          </p:cNvPr>
          <p:cNvCxnSpPr>
            <a:endCxn id="50" idx="3"/>
          </p:cNvCxnSpPr>
          <p:nvPr/>
        </p:nvCxnSpPr>
        <p:spPr>
          <a:xfrm flipH="1" flipV="1">
            <a:off x="5180965" y="10092931"/>
            <a:ext cx="2952474" cy="90887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207541D4-E8D6-F736-702E-D357099DD6DC}"/>
              </a:ext>
            </a:extLst>
          </p:cNvPr>
          <p:cNvCxnSpPr/>
          <p:nvPr/>
        </p:nvCxnSpPr>
        <p:spPr>
          <a:xfrm flipH="1">
            <a:off x="6578600" y="11001802"/>
            <a:ext cx="1554839" cy="10153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2294042-6CBF-6846-ED0C-2AD46B0D7FA7}"/>
                  </a:ext>
                </a:extLst>
              </p:cNvPr>
              <p:cNvSpPr txBox="1"/>
              <p:nvPr/>
            </p:nvSpPr>
            <p:spPr>
              <a:xfrm>
                <a:off x="14296392" y="3657674"/>
                <a:ext cx="8153719" cy="94413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4000" b="1" dirty="0">
                    <a:solidFill>
                      <a:srgbClr val="F7F7F7"/>
                    </a:solidFill>
                    <a:latin typeface="+mn-lt"/>
                  </a:rPr>
                  <a:t>Assumptions</a:t>
                </a:r>
              </a:p>
              <a:p>
                <a:pPr marL="742950" indent="-742950">
                  <a:buFont typeface="+mj-lt"/>
                  <a:buAutoNum type="arabicPeriod"/>
                </a:pPr>
                <a14:m>
                  <m:oMath xmlns:m="http://schemas.openxmlformats.org/officeDocument/2006/math">
                    <m:acc>
                      <m:accPr>
                        <m:chr m:val="̃"/>
                        <m:ctrlPr>
                          <a:rPr lang="en-US" sz="4000" b="1" i="1" smtClean="0">
                            <a:solidFill>
                              <a:srgbClr val="FFFFFF"/>
                            </a:solidFill>
                            <a:latin typeface="Cambria Math" panose="02040503050406030204" pitchFamily="18" charset="0"/>
                            <a:sym typeface="DIN Condensed Bold"/>
                          </a:rPr>
                        </m:ctrlPr>
                      </m:accPr>
                      <m:e>
                        <m:r>
                          <a:rPr lang="en-US" sz="4000" b="1" i="1" smtClean="0">
                            <a:solidFill>
                              <a:srgbClr val="FFFFFF"/>
                            </a:solidFill>
                            <a:latin typeface="Cambria Math" panose="02040503050406030204" pitchFamily="18" charset="0"/>
                            <a:sym typeface="DIN Condensed Bold"/>
                          </a:rPr>
                          <m:t>𝑼</m:t>
                        </m:r>
                      </m:e>
                    </m:acc>
                  </m:oMath>
                </a14:m>
                <a:r>
                  <a:rPr lang="en-US" sz="4000" dirty="0">
                    <a:solidFill>
                      <a:srgbClr val="F7F7F7"/>
                    </a:solidFill>
                    <a:latin typeface="+mn-lt"/>
                  </a:rPr>
                  <a:t> works as a factor that increases the patient’s chances of a bad outcome</a:t>
                </a:r>
              </a:p>
              <a:p>
                <a:pPr marL="742950" indent="-742950">
                  <a:buFont typeface="+mj-lt"/>
                  <a:buAutoNum type="arabicPeriod"/>
                </a:pPr>
                <a:r>
                  <a:rPr lang="en-US" sz="4000" dirty="0">
                    <a:solidFill>
                      <a:srgbClr val="F7F7F7"/>
                    </a:solidFill>
                    <a:latin typeface="+mn-lt"/>
                  </a:rPr>
                  <a:t> </a:t>
                </a:r>
                <a14:m>
                  <m:oMath xmlns:m="http://schemas.openxmlformats.org/officeDocument/2006/math">
                    <m:sSub>
                      <m:sSubPr>
                        <m:ctrlPr>
                          <a:rPr lang="en-US" sz="4000" i="1">
                            <a:solidFill>
                              <a:srgbClr val="F7F7F7"/>
                            </a:solidFill>
                            <a:latin typeface="Cambria Math" panose="02040503050406030204" pitchFamily="18" charset="0"/>
                          </a:rPr>
                        </m:ctrlPr>
                      </m:sSubPr>
                      <m:e>
                        <m:acc>
                          <m:accPr>
                            <m:chr m:val="̃"/>
                            <m:ctrlPr>
                              <a:rPr lang="en-US" sz="4000" i="1" smtClean="0">
                                <a:solidFill>
                                  <a:srgbClr val="F7F7F7"/>
                                </a:solidFill>
                                <a:latin typeface="Cambria Math" panose="02040503050406030204" pitchFamily="18" charset="0"/>
                              </a:rPr>
                            </m:ctrlPr>
                          </m:accPr>
                          <m:e>
                            <m:r>
                              <a:rPr lang="en-US" sz="4000" b="0" i="1" smtClean="0">
                                <a:solidFill>
                                  <a:srgbClr val="F7F7F7"/>
                                </a:solidFill>
                                <a:latin typeface="Cambria Math" panose="02040503050406030204" pitchFamily="18" charset="0"/>
                              </a:rPr>
                              <m:t>𝑈</m:t>
                            </m:r>
                          </m:e>
                        </m:acc>
                      </m:e>
                      <m:sub>
                        <m:r>
                          <m:rPr>
                            <m:sty m:val="p"/>
                          </m:rPr>
                          <a:rPr lang="en-US" sz="4000" b="0" i="0" smtClean="0">
                            <a:solidFill>
                              <a:srgbClr val="F7F7F7"/>
                            </a:solidFill>
                            <a:latin typeface="Cambria Math" panose="02040503050406030204" pitchFamily="18" charset="0"/>
                          </a:rPr>
                          <m:t>i</m:t>
                        </m:r>
                      </m:sub>
                    </m:sSub>
                    <m:r>
                      <a:rPr lang="en-US" sz="4000" b="0" i="1" smtClean="0">
                        <a:solidFill>
                          <a:srgbClr val="F7F7F7"/>
                        </a:solidFill>
                        <a:latin typeface="Cambria Math" panose="02040503050406030204" pitchFamily="18" charset="0"/>
                      </a:rPr>
                      <m:t>=0</m:t>
                    </m:r>
                  </m:oMath>
                </a14:m>
                <a:r>
                  <a:rPr lang="en-US" sz="4000" dirty="0">
                    <a:solidFill>
                      <a:srgbClr val="F7F7F7"/>
                    </a:solidFill>
                    <a:latin typeface="+mn-lt"/>
                  </a:rPr>
                  <a:t> for all patients </a:t>
                </a:r>
                <a:r>
                  <a:rPr lang="en-US" sz="4000" dirty="0" err="1">
                    <a:solidFill>
                      <a:srgbClr val="F7F7F7"/>
                    </a:solidFill>
                    <a:latin typeface="+mn-lt"/>
                  </a:rPr>
                  <a:t>i</a:t>
                </a:r>
                <a:r>
                  <a:rPr lang="en-US" sz="4000" dirty="0">
                    <a:solidFill>
                      <a:srgbClr val="F7F7F7"/>
                    </a:solidFill>
                    <a:latin typeface="+mn-lt"/>
                  </a:rPr>
                  <a:t> that had a good outcome.                      (i.e. </a:t>
                </a:r>
                <a14:m>
                  <m:oMath xmlns:m="http://schemas.openxmlformats.org/officeDocument/2006/math">
                    <m:sSub>
                      <m:sSubPr>
                        <m:ctrlPr>
                          <a:rPr lang="en-US" sz="4000" i="1" smtClean="0">
                            <a:solidFill>
                              <a:srgbClr val="F7F7F7"/>
                            </a:solidFill>
                            <a:latin typeface="Cambria Math" panose="02040503050406030204" pitchFamily="18" charset="0"/>
                          </a:rPr>
                        </m:ctrlPr>
                      </m:sSubPr>
                      <m:e>
                        <m:acc>
                          <m:accPr>
                            <m:chr m:val="̃"/>
                            <m:ctrlPr>
                              <a:rPr lang="en-US" sz="4000" i="1" smtClean="0">
                                <a:solidFill>
                                  <a:srgbClr val="F7F7F7"/>
                                </a:solidFill>
                                <a:latin typeface="Cambria Math" panose="02040503050406030204" pitchFamily="18" charset="0"/>
                              </a:rPr>
                            </m:ctrlPr>
                          </m:accPr>
                          <m:e>
                            <m:r>
                              <a:rPr lang="en-US" sz="4000" b="0" i="1" smtClean="0">
                                <a:solidFill>
                                  <a:srgbClr val="F7F7F7"/>
                                </a:solidFill>
                                <a:latin typeface="Cambria Math" panose="02040503050406030204" pitchFamily="18" charset="0"/>
                              </a:rPr>
                              <m:t>𝑈</m:t>
                            </m:r>
                          </m:e>
                        </m:acc>
                      </m:e>
                      <m:sub>
                        <m:r>
                          <m:rPr>
                            <m:sty m:val="p"/>
                          </m:rPr>
                          <a:rPr lang="en-US" sz="4000" b="0" i="0" smtClean="0">
                            <a:solidFill>
                              <a:srgbClr val="F7F7F7"/>
                            </a:solidFill>
                            <a:latin typeface="Cambria Math" panose="02040503050406030204" pitchFamily="18" charset="0"/>
                          </a:rPr>
                          <m:t>Mary</m:t>
                        </m:r>
                      </m:sub>
                    </m:sSub>
                    <m:r>
                      <a:rPr lang="en-US" sz="4000" b="0" i="0" smtClean="0">
                        <a:solidFill>
                          <a:srgbClr val="F7F7F7"/>
                        </a:solidFill>
                        <a:latin typeface="Cambria Math" panose="02040503050406030204" pitchFamily="18" charset="0"/>
                      </a:rPr>
                      <m:t>=</m:t>
                    </m:r>
                    <m:sSub>
                      <m:sSubPr>
                        <m:ctrlPr>
                          <a:rPr lang="en-US" sz="4000" i="1">
                            <a:solidFill>
                              <a:srgbClr val="F7F7F7"/>
                            </a:solidFill>
                            <a:latin typeface="Cambria Math" panose="02040503050406030204" pitchFamily="18" charset="0"/>
                          </a:rPr>
                        </m:ctrlPr>
                      </m:sSubPr>
                      <m:e>
                        <m:acc>
                          <m:accPr>
                            <m:chr m:val="̃"/>
                            <m:ctrlPr>
                              <a:rPr lang="en-US" sz="4000" i="1" smtClean="0">
                                <a:solidFill>
                                  <a:srgbClr val="F7F7F7"/>
                                </a:solidFill>
                                <a:latin typeface="Cambria Math" panose="02040503050406030204" pitchFamily="18" charset="0"/>
                              </a:rPr>
                            </m:ctrlPr>
                          </m:accPr>
                          <m:e>
                            <m:r>
                              <a:rPr lang="en-US" sz="4000" b="0" i="1" smtClean="0">
                                <a:solidFill>
                                  <a:srgbClr val="F7F7F7"/>
                                </a:solidFill>
                                <a:latin typeface="Cambria Math" panose="02040503050406030204" pitchFamily="18" charset="0"/>
                              </a:rPr>
                              <m:t>𝑈</m:t>
                            </m:r>
                          </m:e>
                        </m:acc>
                      </m:e>
                      <m:sub>
                        <m:r>
                          <m:rPr>
                            <m:sty m:val="p"/>
                          </m:rPr>
                          <a:rPr lang="en-US" sz="4000" b="0" i="0" smtClean="0">
                            <a:solidFill>
                              <a:srgbClr val="F7F7F7"/>
                            </a:solidFill>
                            <a:latin typeface="Cambria Math" panose="02040503050406030204" pitchFamily="18" charset="0"/>
                          </a:rPr>
                          <m:t>Peter</m:t>
                        </m:r>
                      </m:sub>
                    </m:sSub>
                    <m:r>
                      <a:rPr lang="en-US" sz="4000" b="0" i="1" smtClean="0">
                        <a:solidFill>
                          <a:srgbClr val="F7F7F7"/>
                        </a:solidFill>
                        <a:latin typeface="Cambria Math" panose="02040503050406030204" pitchFamily="18" charset="0"/>
                      </a:rPr>
                      <m:t>=</m:t>
                    </m:r>
                    <m:sSub>
                      <m:sSubPr>
                        <m:ctrlPr>
                          <a:rPr lang="en-US" sz="4000" i="1">
                            <a:solidFill>
                              <a:srgbClr val="F7F7F7"/>
                            </a:solidFill>
                            <a:latin typeface="Cambria Math" panose="02040503050406030204" pitchFamily="18" charset="0"/>
                          </a:rPr>
                        </m:ctrlPr>
                      </m:sSubPr>
                      <m:e>
                        <m:acc>
                          <m:accPr>
                            <m:chr m:val="̃"/>
                            <m:ctrlPr>
                              <a:rPr lang="en-US" sz="4000" i="1" smtClean="0">
                                <a:solidFill>
                                  <a:srgbClr val="F7F7F7"/>
                                </a:solidFill>
                                <a:latin typeface="Cambria Math" panose="02040503050406030204" pitchFamily="18" charset="0"/>
                              </a:rPr>
                            </m:ctrlPr>
                          </m:accPr>
                          <m:e>
                            <m:r>
                              <a:rPr lang="en-US" sz="4000" b="0" i="1" smtClean="0">
                                <a:solidFill>
                                  <a:srgbClr val="F7F7F7"/>
                                </a:solidFill>
                                <a:latin typeface="Cambria Math" panose="02040503050406030204" pitchFamily="18" charset="0"/>
                              </a:rPr>
                              <m:t>𝑈</m:t>
                            </m:r>
                          </m:e>
                        </m:acc>
                      </m:e>
                      <m:sub>
                        <m:r>
                          <m:rPr>
                            <m:sty m:val="p"/>
                          </m:rPr>
                          <a:rPr lang="en-US" sz="4000" b="0" i="0" smtClean="0">
                            <a:solidFill>
                              <a:srgbClr val="F7F7F7"/>
                            </a:solidFill>
                            <a:latin typeface="Cambria Math" panose="02040503050406030204" pitchFamily="18" charset="0"/>
                          </a:rPr>
                          <m:t>Tom</m:t>
                        </m:r>
                      </m:sub>
                    </m:sSub>
                    <m:r>
                      <a:rPr lang="en-US" sz="4000" b="0" i="1" smtClean="0">
                        <a:solidFill>
                          <a:srgbClr val="F7F7F7"/>
                        </a:solidFill>
                        <a:latin typeface="Cambria Math" panose="02040503050406030204" pitchFamily="18" charset="0"/>
                      </a:rPr>
                      <m:t>=0</m:t>
                    </m:r>
                  </m:oMath>
                </a14:m>
                <a:r>
                  <a:rPr lang="en-US" sz="4000" dirty="0">
                    <a:solidFill>
                      <a:srgbClr val="F7F7F7"/>
                    </a:solidFill>
                    <a:latin typeface="+mn-lt"/>
                  </a:rPr>
                  <a:t>)</a:t>
                </a:r>
              </a:p>
              <a:p>
                <a:pPr marL="742950" indent="-742950">
                  <a:buFont typeface="+mj-lt"/>
                  <a:buAutoNum type="arabicPeriod"/>
                </a:pPr>
                <a:r>
                  <a:rPr lang="en-US" sz="4000" dirty="0">
                    <a:solidFill>
                      <a:srgbClr val="F7F7F7"/>
                    </a:solidFill>
                  </a:rPr>
                  <a:t> </a:t>
                </a:r>
                <a14:m>
                  <m:oMath xmlns:m="http://schemas.openxmlformats.org/officeDocument/2006/math">
                    <m:sSub>
                      <m:sSubPr>
                        <m:ctrlPr>
                          <a:rPr lang="en-US" sz="4000" i="1">
                            <a:solidFill>
                              <a:srgbClr val="F7F7F7"/>
                            </a:solidFill>
                            <a:latin typeface="Cambria Math" panose="02040503050406030204" pitchFamily="18" charset="0"/>
                          </a:rPr>
                        </m:ctrlPr>
                      </m:sSubPr>
                      <m:e>
                        <m:r>
                          <a:rPr lang="en-US" sz="4000" b="0" i="0" smtClean="0">
                            <a:solidFill>
                              <a:srgbClr val="F7F7F7"/>
                            </a:solidFill>
                            <a:latin typeface="Cambria Math" panose="02040503050406030204" pitchFamily="18" charset="0"/>
                          </a:rPr>
                          <m:t>0 </m:t>
                        </m:r>
                        <m:r>
                          <a:rPr lang="en-US" sz="4000" b="0" i="1" smtClean="0">
                            <a:solidFill>
                              <a:srgbClr val="F7F7F7"/>
                            </a:solidFill>
                            <a:latin typeface="Cambria Math" panose="02040503050406030204" pitchFamily="18" charset="0"/>
                            <a:ea typeface="Cambria Math" panose="02040503050406030204" pitchFamily="18" charset="0"/>
                          </a:rPr>
                          <m:t>≤</m:t>
                        </m:r>
                        <m:acc>
                          <m:accPr>
                            <m:chr m:val="̃"/>
                            <m:ctrlPr>
                              <a:rPr lang="en-US" sz="4000" b="0" i="1" smtClean="0">
                                <a:solidFill>
                                  <a:srgbClr val="F7F7F7"/>
                                </a:solidFill>
                                <a:latin typeface="Cambria Math" panose="02040503050406030204" pitchFamily="18" charset="0"/>
                                <a:ea typeface="Cambria Math" panose="02040503050406030204" pitchFamily="18" charset="0"/>
                              </a:rPr>
                            </m:ctrlPr>
                          </m:accPr>
                          <m:e>
                            <m:r>
                              <a:rPr lang="en-US" sz="4000" b="0" i="1" smtClean="0">
                                <a:solidFill>
                                  <a:srgbClr val="F7F7F7"/>
                                </a:solidFill>
                                <a:latin typeface="Cambria Math" panose="02040503050406030204" pitchFamily="18" charset="0"/>
                                <a:ea typeface="Cambria Math" panose="02040503050406030204" pitchFamily="18" charset="0"/>
                              </a:rPr>
                              <m:t>𝑈</m:t>
                            </m:r>
                          </m:e>
                        </m:acc>
                      </m:e>
                      <m:sub>
                        <m:r>
                          <m:rPr>
                            <m:sty m:val="p"/>
                          </m:rPr>
                          <a:rPr lang="en-US" sz="4000">
                            <a:solidFill>
                              <a:srgbClr val="F7F7F7"/>
                            </a:solidFill>
                            <a:latin typeface="Cambria Math" panose="02040503050406030204" pitchFamily="18" charset="0"/>
                          </a:rPr>
                          <m:t>i</m:t>
                        </m:r>
                      </m:sub>
                    </m:sSub>
                    <m:r>
                      <a:rPr lang="en-US" sz="4000" i="1" smtClean="0">
                        <a:solidFill>
                          <a:srgbClr val="F7F7F7"/>
                        </a:solidFill>
                        <a:latin typeface="Cambria Math" panose="02040503050406030204" pitchFamily="18" charset="0"/>
                        <a:ea typeface="Cambria Math" panose="02040503050406030204" pitchFamily="18" charset="0"/>
                      </a:rPr>
                      <m:t>≤</m:t>
                    </m:r>
                    <m:r>
                      <a:rPr lang="en-US" sz="4000" b="0" i="1" smtClean="0">
                        <a:solidFill>
                          <a:srgbClr val="F7F7F7"/>
                        </a:solidFill>
                        <a:latin typeface="Cambria Math" panose="02040503050406030204" pitchFamily="18" charset="0"/>
                        <a:ea typeface="Cambria Math" panose="02040503050406030204" pitchFamily="18" charset="0"/>
                      </a:rPr>
                      <m:t>1</m:t>
                    </m:r>
                  </m:oMath>
                </a14:m>
                <a:r>
                  <a:rPr lang="en-US" sz="4000" dirty="0">
                    <a:solidFill>
                      <a:srgbClr val="F7F7F7"/>
                    </a:solidFill>
                    <a:latin typeface="+mn-lt"/>
                  </a:rPr>
                  <a:t> for all patients </a:t>
                </a:r>
                <a14:m>
                  <m:oMath xmlns:m="http://schemas.openxmlformats.org/officeDocument/2006/math">
                    <m:r>
                      <m:rPr>
                        <m:sty m:val="p"/>
                      </m:rPr>
                      <a:rPr lang="en-US" sz="4000" b="0" i="0" smtClean="0">
                        <a:solidFill>
                          <a:srgbClr val="F7F7F7"/>
                        </a:solidFill>
                        <a:latin typeface="Cambria Math" panose="02040503050406030204" pitchFamily="18" charset="0"/>
                      </a:rPr>
                      <m:t>i</m:t>
                    </m:r>
                  </m:oMath>
                </a14:m>
                <a:r>
                  <a:rPr lang="en-US" sz="4000" dirty="0">
                    <a:solidFill>
                      <a:srgbClr val="F7F7F7"/>
                    </a:solidFill>
                    <a:latin typeface="+mn-lt"/>
                  </a:rPr>
                  <a:t> that had a bad outcome               (i.e. </a:t>
                </a:r>
                <a14:m>
                  <m:oMath xmlns:m="http://schemas.openxmlformats.org/officeDocument/2006/math">
                    <m:sSub>
                      <m:sSubPr>
                        <m:ctrlPr>
                          <a:rPr lang="en-US" sz="4000" i="1">
                            <a:solidFill>
                              <a:srgbClr val="F7F7F7"/>
                            </a:solidFill>
                            <a:latin typeface="Cambria Math" panose="02040503050406030204" pitchFamily="18" charset="0"/>
                          </a:rPr>
                        </m:ctrlPr>
                      </m:sSubPr>
                      <m:e>
                        <m:r>
                          <a:rPr lang="en-US" sz="4000">
                            <a:solidFill>
                              <a:srgbClr val="F7F7F7"/>
                            </a:solidFill>
                            <a:latin typeface="Cambria Math" panose="02040503050406030204" pitchFamily="18" charset="0"/>
                          </a:rPr>
                          <m:t>0 </m:t>
                        </m:r>
                        <m:r>
                          <a:rPr lang="en-US" sz="4000" i="1">
                            <a:solidFill>
                              <a:srgbClr val="F7F7F7"/>
                            </a:solidFill>
                            <a:latin typeface="Cambria Math" panose="02040503050406030204" pitchFamily="18" charset="0"/>
                            <a:ea typeface="Cambria Math" panose="02040503050406030204" pitchFamily="18" charset="0"/>
                          </a:rPr>
                          <m:t>≤</m:t>
                        </m:r>
                        <m:acc>
                          <m:accPr>
                            <m:chr m:val="̃"/>
                            <m:ctrlPr>
                              <a:rPr lang="en-US" sz="4000" i="1" smtClean="0">
                                <a:solidFill>
                                  <a:srgbClr val="F7F7F7"/>
                                </a:solidFill>
                                <a:latin typeface="Cambria Math" panose="02040503050406030204" pitchFamily="18" charset="0"/>
                                <a:ea typeface="Cambria Math" panose="02040503050406030204" pitchFamily="18" charset="0"/>
                              </a:rPr>
                            </m:ctrlPr>
                          </m:accPr>
                          <m:e>
                            <m:r>
                              <a:rPr lang="en-US" sz="4000" b="0" i="1" smtClean="0">
                                <a:solidFill>
                                  <a:srgbClr val="F7F7F7"/>
                                </a:solidFill>
                                <a:latin typeface="Cambria Math" panose="02040503050406030204" pitchFamily="18" charset="0"/>
                                <a:ea typeface="Cambria Math" panose="02040503050406030204" pitchFamily="18" charset="0"/>
                              </a:rPr>
                              <m:t>𝑈</m:t>
                            </m:r>
                          </m:e>
                        </m:acc>
                      </m:e>
                      <m:sub>
                        <m:r>
                          <m:rPr>
                            <m:sty m:val="p"/>
                          </m:rPr>
                          <a:rPr lang="en-US" sz="4000" b="0" i="0" smtClean="0">
                            <a:solidFill>
                              <a:srgbClr val="F7F7F7"/>
                            </a:solidFill>
                            <a:latin typeface="Cambria Math" panose="02040503050406030204" pitchFamily="18" charset="0"/>
                          </a:rPr>
                          <m:t>John</m:t>
                        </m:r>
                      </m:sub>
                    </m:sSub>
                    <m:r>
                      <a:rPr lang="en-US" sz="4000" i="1">
                        <a:solidFill>
                          <a:srgbClr val="F7F7F7"/>
                        </a:solidFill>
                        <a:latin typeface="Cambria Math" panose="02040503050406030204" pitchFamily="18" charset="0"/>
                        <a:ea typeface="Cambria Math" panose="02040503050406030204" pitchFamily="18" charset="0"/>
                      </a:rPr>
                      <m:t>≤1</m:t>
                    </m:r>
                  </m:oMath>
                </a14:m>
                <a:r>
                  <a:rPr lang="en-US" sz="4000" dirty="0">
                    <a:solidFill>
                      <a:srgbClr val="F7F7F7"/>
                    </a:solidFill>
                    <a:latin typeface="+mn-lt"/>
                  </a:rPr>
                  <a:t>)</a:t>
                </a:r>
              </a:p>
              <a:p>
                <a:pPr marL="742950" indent="-742950">
                  <a:buFont typeface="+mj-lt"/>
                  <a:buAutoNum type="arabicPeriod"/>
                </a:pPr>
                <a:r>
                  <a:rPr lang="en-US" sz="4000" dirty="0">
                    <a:solidFill>
                      <a:srgbClr val="F7F7F7"/>
                    </a:solidFill>
                    <a:latin typeface="+mn-lt"/>
                  </a:rPr>
                  <a:t>John, Mary, Peter and Tom have similar treatment effect</a:t>
                </a:r>
              </a:p>
            </p:txBody>
          </p:sp>
        </mc:Choice>
        <mc:Fallback>
          <p:sp>
            <p:nvSpPr>
              <p:cNvPr id="4" name="TextBox 3">
                <a:extLst>
                  <a:ext uri="{FF2B5EF4-FFF2-40B4-BE49-F238E27FC236}">
                    <a16:creationId xmlns:a16="http://schemas.microsoft.com/office/drawing/2014/main" id="{A2294042-6CBF-6846-ED0C-2AD46B0D7FA7}"/>
                  </a:ext>
                </a:extLst>
              </p:cNvPr>
              <p:cNvSpPr txBox="1">
                <a:spLocks noRot="1" noChangeAspect="1" noMove="1" noResize="1" noEditPoints="1" noAdjustHandles="1" noChangeArrowheads="1" noChangeShapeType="1" noTextEdit="1"/>
              </p:cNvSpPr>
              <p:nvPr/>
            </p:nvSpPr>
            <p:spPr>
              <a:xfrm>
                <a:off x="14296392" y="3657674"/>
                <a:ext cx="8153719" cy="9441303"/>
              </a:xfrm>
              <a:prstGeom prst="rect">
                <a:avLst/>
              </a:prstGeom>
              <a:blipFill>
                <a:blip r:embed="rId7"/>
                <a:stretch>
                  <a:fillRect l="-3266" t="-1210" r="-3577" b="-1075"/>
                </a:stretch>
              </a:blipFill>
              <a:ln w="12700" cap="flat">
                <a:noFill/>
                <a:miter lim="400000"/>
              </a:ln>
              <a:effectLst/>
            </p:spPr>
            <p:txBody>
              <a:bodyPr/>
              <a:lstStyle/>
              <a:p>
                <a:r>
                  <a:rPr lang="en-US">
                    <a:noFill/>
                  </a:rPr>
                  <a:t> </a:t>
                </a:r>
              </a:p>
            </p:txBody>
          </p:sp>
        </mc:Fallback>
      </mc:AlternateContent>
      <p:sp>
        <p:nvSpPr>
          <p:cNvPr id="11" name="Rectangle 10">
            <a:extLst>
              <a:ext uri="{FF2B5EF4-FFF2-40B4-BE49-F238E27FC236}">
                <a16:creationId xmlns:a16="http://schemas.microsoft.com/office/drawing/2014/main" id="{AD65DDFC-1845-05A4-A4F4-FAA1BEF126F5}"/>
              </a:ext>
            </a:extLst>
          </p:cNvPr>
          <p:cNvSpPr/>
          <p:nvPr/>
        </p:nvSpPr>
        <p:spPr>
          <a:xfrm>
            <a:off x="23357840" y="12890036"/>
            <a:ext cx="822960" cy="6120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r" defTabSz="821531" rtl="0" fontAlgn="auto" latinLnBrk="0" hangingPunct="0">
              <a:lnSpc>
                <a:spcPct val="80000"/>
              </a:lnSpc>
              <a:spcBef>
                <a:spcPts val="0"/>
              </a:spcBef>
              <a:spcAft>
                <a:spcPts val="0"/>
              </a:spcAft>
              <a:buClrTx/>
              <a:buSzTx/>
              <a:buFontTx/>
              <a:buNone/>
              <a:tabLst/>
            </a:pPr>
            <a:r>
              <a:rPr lang="en-US" sz="3800" cap="all" dirty="0">
                <a:solidFill>
                  <a:srgbClr val="C52060"/>
                </a:solidFill>
                <a:latin typeface="+mj-lt"/>
                <a:ea typeface="DIN Condensed Bold"/>
                <a:cs typeface="DIN Condensed Bold"/>
                <a:sym typeface="DIN Condensed Bold"/>
              </a:rPr>
              <a:t>10</a:t>
            </a:r>
            <a:endParaRPr kumimoji="0" lang="en-US" sz="3800" b="0" i="0" u="none" strike="noStrike" cap="all" spc="0" normalizeH="0" baseline="0" dirty="0">
              <a:ln>
                <a:noFill/>
              </a:ln>
              <a:solidFill>
                <a:srgbClr val="C52060"/>
              </a:solidFill>
              <a:effectLst/>
              <a:uFillTx/>
              <a:latin typeface="+mj-lt"/>
              <a:ea typeface="DIN Condensed Bold"/>
              <a:cs typeface="DIN Condensed Bold"/>
              <a:sym typeface="DIN Condensed Bold"/>
            </a:endParaRPr>
          </a:p>
        </p:txBody>
      </p:sp>
      <p:sp>
        <p:nvSpPr>
          <p:cNvPr id="12" name="TextBox 11">
            <a:extLst>
              <a:ext uri="{FF2B5EF4-FFF2-40B4-BE49-F238E27FC236}">
                <a16:creationId xmlns:a16="http://schemas.microsoft.com/office/drawing/2014/main" id="{09B03493-AEB3-86DE-4929-8F9BEF2C1909}"/>
              </a:ext>
            </a:extLst>
          </p:cNvPr>
          <p:cNvSpPr txBox="1"/>
          <p:nvPr/>
        </p:nvSpPr>
        <p:spPr>
          <a:xfrm>
            <a:off x="9554331" y="10819758"/>
            <a:ext cx="3406038" cy="11214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l" defTabSz="821531" rtl="0" fontAlgn="auto" latinLnBrk="0" hangingPunct="0">
              <a:lnSpc>
                <a:spcPct val="100000"/>
              </a:lnSpc>
              <a:spcBef>
                <a:spcPts val="3300"/>
              </a:spcBef>
              <a:spcAft>
                <a:spcPts val="0"/>
              </a:spcAft>
              <a:buClrTx/>
              <a:buSzTx/>
              <a:buFontTx/>
              <a:buNone/>
              <a:tabLst/>
            </a:pPr>
            <a:r>
              <a:rPr kumimoji="0" lang="en-US" sz="3600" b="0" i="0" u="none" strike="noStrike" cap="none" spc="0" normalizeH="0" baseline="0" dirty="0">
                <a:ln>
                  <a:noFill/>
                </a:ln>
                <a:solidFill>
                  <a:schemeClr val="bg1"/>
                </a:solidFill>
                <a:effectLst/>
                <a:uFillTx/>
                <a:latin typeface="+mn-lt"/>
                <a:ea typeface="Avenir Next Medium"/>
                <a:cs typeface="Avenir Next Medium"/>
                <a:sym typeface="Avenir Next Medium"/>
              </a:rPr>
              <a:t>John</a:t>
            </a:r>
          </a:p>
        </p:txBody>
      </p:sp>
    </p:spTree>
    <p:extLst>
      <p:ext uri="{BB962C8B-B14F-4D97-AF65-F5344CB8AC3E}">
        <p14:creationId xmlns:p14="http://schemas.microsoft.com/office/powerpoint/2010/main" val="364966967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BC645-D4D9-E921-C293-BA58E23DB70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264601-88AC-07D4-2E38-F67948B48CB2}"/>
              </a:ext>
            </a:extLst>
          </p:cNvPr>
          <p:cNvSpPr>
            <a:spLocks noGrp="1"/>
          </p:cNvSpPr>
          <p:nvPr>
            <p:ph type="title"/>
          </p:nvPr>
        </p:nvSpPr>
        <p:spPr>
          <a:xfrm>
            <a:off x="1171654" y="2121311"/>
            <a:ext cx="19006106" cy="1017985"/>
          </a:xfrm>
        </p:spPr>
        <p:txBody>
          <a:bodyPr>
            <a:normAutofit/>
          </a:bodyPr>
          <a:lstStyle/>
          <a:p>
            <a:r>
              <a:rPr lang="en-US" sz="4400" dirty="0">
                <a:solidFill>
                  <a:srgbClr val="C00000"/>
                </a:solidFill>
              </a:rPr>
              <a:t>Calculating U</a:t>
            </a:r>
          </a:p>
        </p:txBody>
      </p:sp>
      <p:graphicFrame>
        <p:nvGraphicFramePr>
          <p:cNvPr id="5" name="Table 4">
            <a:extLst>
              <a:ext uri="{FF2B5EF4-FFF2-40B4-BE49-F238E27FC236}">
                <a16:creationId xmlns:a16="http://schemas.microsoft.com/office/drawing/2014/main" id="{8B9C78DE-6472-D0FB-DE5A-4D7F831519E9}"/>
              </a:ext>
            </a:extLst>
          </p:cNvPr>
          <p:cNvGraphicFramePr>
            <a:graphicFrameLocks noGrp="1"/>
          </p:cNvGraphicFramePr>
          <p:nvPr>
            <p:extLst>
              <p:ext uri="{D42A27DB-BD31-4B8C-83A1-F6EECF244321}">
                <p14:modId xmlns:p14="http://schemas.microsoft.com/office/powerpoint/2010/main" val="3557882652"/>
              </p:ext>
            </p:extLst>
          </p:nvPr>
        </p:nvGraphicFramePr>
        <p:xfrm>
          <a:off x="2159000" y="3560511"/>
          <a:ext cx="10033000" cy="8992537"/>
        </p:xfrm>
        <a:graphic>
          <a:graphicData uri="http://schemas.openxmlformats.org/drawingml/2006/table">
            <a:tbl>
              <a:tblPr firstRow="1" bandRow="1">
                <a:tableStyleId>{5940675A-B579-460E-94D1-54222C63F5DA}</a:tableStyleId>
              </a:tblPr>
              <a:tblGrid>
                <a:gridCol w="5016500">
                  <a:extLst>
                    <a:ext uri="{9D8B030D-6E8A-4147-A177-3AD203B41FA5}">
                      <a16:colId xmlns:a16="http://schemas.microsoft.com/office/drawing/2014/main" val="3399294042"/>
                    </a:ext>
                  </a:extLst>
                </a:gridCol>
                <a:gridCol w="5016500">
                  <a:extLst>
                    <a:ext uri="{9D8B030D-6E8A-4147-A177-3AD203B41FA5}">
                      <a16:colId xmlns:a16="http://schemas.microsoft.com/office/drawing/2014/main" val="1451783524"/>
                    </a:ext>
                  </a:extLst>
                </a:gridCol>
              </a:tblGrid>
              <a:tr h="2361489">
                <a:tc gridSpan="2">
                  <a:txBody>
                    <a:bodyPr/>
                    <a:lstStyle/>
                    <a:p>
                      <a:endParaRPr lang="en-US" dirty="0">
                        <a:solidFill>
                          <a:schemeClr val="bg1"/>
                        </a:solidFill>
                      </a:endParaRPr>
                    </a:p>
                  </a:txBody>
                  <a:tcPr>
                    <a:solidFill>
                      <a:schemeClr val="tx1">
                        <a:lumMod val="20000"/>
                        <a:lumOff val="80000"/>
                      </a:schemeClr>
                    </a:solidFill>
                  </a:tcPr>
                </a:tc>
                <a:tc hMerge="1">
                  <a:txBody>
                    <a:bodyPr/>
                    <a:lstStyle/>
                    <a:p>
                      <a:endParaRPr lang="en-US" dirty="0">
                        <a:solidFill>
                          <a:schemeClr val="bg1"/>
                        </a:solidFill>
                      </a:endParaRPr>
                    </a:p>
                  </a:txBody>
                  <a:tcPr>
                    <a:solidFill>
                      <a:schemeClr val="tx1">
                        <a:lumMod val="20000"/>
                        <a:lumOff val="80000"/>
                      </a:schemeClr>
                    </a:solidFill>
                  </a:tcPr>
                </a:tc>
                <a:extLst>
                  <a:ext uri="{0D108BD9-81ED-4DB2-BD59-A6C34878D82A}">
                    <a16:rowId xmlns:a16="http://schemas.microsoft.com/office/drawing/2014/main" val="2676565202"/>
                  </a:ext>
                </a:extLst>
              </a:tr>
              <a:tr h="236220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74986606"/>
                  </a:ext>
                </a:extLst>
              </a:tr>
              <a:tr h="4268848">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7544094"/>
                  </a:ext>
                </a:extLst>
              </a:tr>
            </a:tbl>
          </a:graphicData>
        </a:graphic>
      </p:graphicFrame>
      <p:pic>
        <p:nvPicPr>
          <p:cNvPr id="6" name="Picture 5">
            <a:extLst>
              <a:ext uri="{FF2B5EF4-FFF2-40B4-BE49-F238E27FC236}">
                <a16:creationId xmlns:a16="http://schemas.microsoft.com/office/drawing/2014/main" id="{E6BF26C8-F487-4E57-AB66-49ADECB494D4}"/>
              </a:ext>
            </a:extLst>
          </p:cNvPr>
          <p:cNvPicPr>
            <a:picLocks noChangeAspect="1"/>
          </p:cNvPicPr>
          <p:nvPr/>
        </p:nvPicPr>
        <p:blipFill>
          <a:blip r:embed="rId2"/>
          <a:stretch>
            <a:fillRect/>
          </a:stretch>
        </p:blipFill>
        <p:spPr>
          <a:xfrm>
            <a:off x="6234194" y="3834214"/>
            <a:ext cx="1950431" cy="1950431"/>
          </a:xfrm>
          <a:prstGeom prst="rect">
            <a:avLst/>
          </a:prstGeom>
        </p:spPr>
      </p:pic>
      <p:pic>
        <p:nvPicPr>
          <p:cNvPr id="7" name="Picture 6">
            <a:extLst>
              <a:ext uri="{FF2B5EF4-FFF2-40B4-BE49-F238E27FC236}">
                <a16:creationId xmlns:a16="http://schemas.microsoft.com/office/drawing/2014/main" id="{3D1062F8-B6BC-EB6B-9088-B06903B01ED5}"/>
              </a:ext>
            </a:extLst>
          </p:cNvPr>
          <p:cNvPicPr>
            <a:picLocks noChangeAspect="1"/>
          </p:cNvPicPr>
          <p:nvPr/>
        </p:nvPicPr>
        <p:blipFill>
          <a:blip r:embed="rId3"/>
          <a:stretch>
            <a:fillRect/>
          </a:stretch>
        </p:blipFill>
        <p:spPr>
          <a:xfrm>
            <a:off x="3937000" y="6296019"/>
            <a:ext cx="1625600" cy="1625600"/>
          </a:xfrm>
          <a:prstGeom prst="rect">
            <a:avLst/>
          </a:prstGeom>
        </p:spPr>
      </p:pic>
      <p:pic>
        <p:nvPicPr>
          <p:cNvPr id="8" name="Picture 7">
            <a:extLst>
              <a:ext uri="{FF2B5EF4-FFF2-40B4-BE49-F238E27FC236}">
                <a16:creationId xmlns:a16="http://schemas.microsoft.com/office/drawing/2014/main" id="{7ABE3A36-15A6-A67D-DDF8-41B3B63901AB}"/>
              </a:ext>
            </a:extLst>
          </p:cNvPr>
          <p:cNvPicPr>
            <a:picLocks noChangeAspect="1"/>
          </p:cNvPicPr>
          <p:nvPr/>
        </p:nvPicPr>
        <p:blipFill>
          <a:blip r:embed="rId4"/>
          <a:stretch>
            <a:fillRect/>
          </a:stretch>
        </p:blipFill>
        <p:spPr>
          <a:xfrm>
            <a:off x="8930894" y="6199833"/>
            <a:ext cx="1625600" cy="1625600"/>
          </a:xfrm>
          <a:prstGeom prst="rect">
            <a:avLst/>
          </a:prstGeom>
        </p:spPr>
      </p:pic>
      <p:pic>
        <p:nvPicPr>
          <p:cNvPr id="49" name="Picture 48">
            <a:extLst>
              <a:ext uri="{FF2B5EF4-FFF2-40B4-BE49-F238E27FC236}">
                <a16:creationId xmlns:a16="http://schemas.microsoft.com/office/drawing/2014/main" id="{1B2AE630-58F3-AE67-57F6-3B7D39506DBF}"/>
              </a:ext>
            </a:extLst>
          </p:cNvPr>
          <p:cNvPicPr>
            <a:picLocks noChangeAspect="1"/>
          </p:cNvPicPr>
          <p:nvPr/>
        </p:nvPicPr>
        <p:blipFill>
          <a:blip r:embed="rId5"/>
          <a:stretch>
            <a:fillRect/>
          </a:stretch>
        </p:blipFill>
        <p:spPr>
          <a:xfrm>
            <a:off x="8133439" y="10081302"/>
            <a:ext cx="1536737" cy="1536737"/>
          </a:xfrm>
          <a:prstGeom prst="rect">
            <a:avLst/>
          </a:prstGeom>
        </p:spPr>
      </p:pic>
      <p:pic>
        <p:nvPicPr>
          <p:cNvPr id="50" name="Picture 49">
            <a:extLst>
              <a:ext uri="{FF2B5EF4-FFF2-40B4-BE49-F238E27FC236}">
                <a16:creationId xmlns:a16="http://schemas.microsoft.com/office/drawing/2014/main" id="{9B5056D2-AD34-6133-4B1C-6FE00E67EAC8}"/>
              </a:ext>
            </a:extLst>
          </p:cNvPr>
          <p:cNvPicPr>
            <a:picLocks noChangeAspect="1"/>
          </p:cNvPicPr>
          <p:nvPr/>
        </p:nvPicPr>
        <p:blipFill>
          <a:blip r:embed="rId6"/>
          <a:stretch>
            <a:fillRect/>
          </a:stretch>
        </p:blipFill>
        <p:spPr>
          <a:xfrm>
            <a:off x="3965794" y="9473717"/>
            <a:ext cx="1215171" cy="1215171"/>
          </a:xfrm>
          <a:prstGeom prst="rect">
            <a:avLst/>
          </a:prstGeom>
        </p:spPr>
      </p:pic>
      <p:pic>
        <p:nvPicPr>
          <p:cNvPr id="51" name="Picture 50">
            <a:extLst>
              <a:ext uri="{FF2B5EF4-FFF2-40B4-BE49-F238E27FC236}">
                <a16:creationId xmlns:a16="http://schemas.microsoft.com/office/drawing/2014/main" id="{2EB31384-40B6-8C90-3066-B340B019A563}"/>
              </a:ext>
            </a:extLst>
          </p:cNvPr>
          <p:cNvPicPr>
            <a:picLocks noChangeAspect="1"/>
          </p:cNvPicPr>
          <p:nvPr/>
        </p:nvPicPr>
        <p:blipFill>
          <a:blip r:embed="rId5"/>
          <a:stretch>
            <a:fillRect/>
          </a:stretch>
        </p:blipFill>
        <p:spPr>
          <a:xfrm>
            <a:off x="5605102" y="8841644"/>
            <a:ext cx="1228148" cy="1228148"/>
          </a:xfrm>
          <a:prstGeom prst="rect">
            <a:avLst/>
          </a:prstGeom>
        </p:spPr>
      </p:pic>
      <p:pic>
        <p:nvPicPr>
          <p:cNvPr id="52" name="Picture 51">
            <a:extLst>
              <a:ext uri="{FF2B5EF4-FFF2-40B4-BE49-F238E27FC236}">
                <a16:creationId xmlns:a16="http://schemas.microsoft.com/office/drawing/2014/main" id="{FC2E4900-6F5A-F701-66A3-6230E42E59FA}"/>
              </a:ext>
            </a:extLst>
          </p:cNvPr>
          <p:cNvPicPr>
            <a:picLocks noChangeAspect="1"/>
          </p:cNvPicPr>
          <p:nvPr/>
        </p:nvPicPr>
        <p:blipFill>
          <a:blip r:embed="rId5"/>
          <a:stretch>
            <a:fillRect/>
          </a:stretch>
        </p:blipFill>
        <p:spPr>
          <a:xfrm>
            <a:off x="5562600" y="10436407"/>
            <a:ext cx="1216152" cy="1216152"/>
          </a:xfrm>
          <a:prstGeom prst="rect">
            <a:avLst/>
          </a:prstGeom>
        </p:spPr>
      </p:pic>
      <p:cxnSp>
        <p:nvCxnSpPr>
          <p:cNvPr id="40" name="Straight Arrow Connector 39">
            <a:extLst>
              <a:ext uri="{FF2B5EF4-FFF2-40B4-BE49-F238E27FC236}">
                <a16:creationId xmlns:a16="http://schemas.microsoft.com/office/drawing/2014/main" id="{1D9C6D68-53CA-D5EC-F4EA-69F95F7E7DE8}"/>
              </a:ext>
            </a:extLst>
          </p:cNvPr>
          <p:cNvCxnSpPr>
            <a:endCxn id="51" idx="3"/>
          </p:cNvCxnSpPr>
          <p:nvPr/>
        </p:nvCxnSpPr>
        <p:spPr>
          <a:xfrm flipH="1" flipV="1">
            <a:off x="6833250" y="9455718"/>
            <a:ext cx="1300189" cy="153445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57CCC23E-5ADB-4A9F-EC69-EEF6A8CE635A}"/>
              </a:ext>
            </a:extLst>
          </p:cNvPr>
          <p:cNvCxnSpPr>
            <a:endCxn id="50" idx="3"/>
          </p:cNvCxnSpPr>
          <p:nvPr/>
        </p:nvCxnSpPr>
        <p:spPr>
          <a:xfrm flipH="1" flipV="1">
            <a:off x="5180965" y="10081303"/>
            <a:ext cx="2952474" cy="90887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8F797E13-F64B-F467-46BE-0ACD7826BEF7}"/>
              </a:ext>
            </a:extLst>
          </p:cNvPr>
          <p:cNvCxnSpPr/>
          <p:nvPr/>
        </p:nvCxnSpPr>
        <p:spPr>
          <a:xfrm flipH="1">
            <a:off x="6578600" y="10990174"/>
            <a:ext cx="1554839" cy="10153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3" name="Rounded Rectangle 12">
                <a:extLst>
                  <a:ext uri="{FF2B5EF4-FFF2-40B4-BE49-F238E27FC236}">
                    <a16:creationId xmlns:a16="http://schemas.microsoft.com/office/drawing/2014/main" id="{11C318B4-82F7-276A-5BCB-97FDB101198A}"/>
                  </a:ext>
                </a:extLst>
              </p:cNvPr>
              <p:cNvSpPr/>
              <p:nvPr/>
            </p:nvSpPr>
            <p:spPr>
              <a:xfrm>
                <a:off x="12960369" y="3141598"/>
                <a:ext cx="10219391" cy="4649924"/>
              </a:xfrm>
              <a:prstGeom prst="roundRect">
                <a:avLst/>
              </a:prstGeom>
              <a:solidFill>
                <a:srgbClr val="48AAA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r>
                  <a:rPr lang="en-US" sz="4000" b="1" dirty="0">
                    <a:solidFill>
                      <a:srgbClr val="F7F7F7"/>
                    </a:solidFill>
                    <a:latin typeface="+mn-lt"/>
                  </a:rPr>
                  <a:t>Scenario 1</a:t>
                </a:r>
                <a:r>
                  <a:rPr lang="en-US" sz="4000" dirty="0">
                    <a:solidFill>
                      <a:srgbClr val="F7F7F7"/>
                    </a:solidFill>
                    <a:latin typeface="+mn-lt"/>
                  </a:rPr>
                  <a:t>: John has worse prognosis than his neighbors</a:t>
                </a:r>
              </a:p>
              <a:p>
                <a:pPr/>
                <a14:m>
                  <m:oMathPara xmlns:m="http://schemas.openxmlformats.org/officeDocument/2006/math">
                    <m:oMathParaPr>
                      <m:jc m:val="centerGroup"/>
                    </m:oMathParaPr>
                    <m:oMath xmlns:m="http://schemas.openxmlformats.org/officeDocument/2006/math">
                      <m:sSub>
                        <m:sSubPr>
                          <m:ctrlPr>
                            <a:rPr lang="en-US" sz="4000" i="1">
                              <a:solidFill>
                                <a:srgbClr val="F7F7F7"/>
                              </a:solidFill>
                              <a:latin typeface="Cambria Math" panose="02040503050406030204" pitchFamily="18" charset="0"/>
                            </a:rPr>
                          </m:ctrlPr>
                        </m:sSubPr>
                        <m:e>
                          <m:acc>
                            <m:accPr>
                              <m:chr m:val="̃"/>
                              <m:ctrlPr>
                                <a:rPr lang="en-US" sz="4000" i="1" smtClean="0">
                                  <a:solidFill>
                                    <a:srgbClr val="F7F7F7"/>
                                  </a:solidFill>
                                  <a:latin typeface="Cambria Math" panose="02040503050406030204" pitchFamily="18" charset="0"/>
                                </a:rPr>
                              </m:ctrlPr>
                            </m:accPr>
                            <m:e>
                              <m:r>
                                <a:rPr lang="en-US" sz="4000" b="0" i="1" smtClean="0">
                                  <a:solidFill>
                                    <a:srgbClr val="F7F7F7"/>
                                  </a:solidFill>
                                  <a:latin typeface="Cambria Math" panose="02040503050406030204" pitchFamily="18" charset="0"/>
                                </a:rPr>
                                <m:t>𝑈</m:t>
                              </m:r>
                            </m:e>
                          </m:acc>
                        </m:e>
                        <m:sub>
                          <m:r>
                            <m:rPr>
                              <m:sty m:val="p"/>
                            </m:rPr>
                            <a:rPr lang="en-US" sz="4000">
                              <a:solidFill>
                                <a:srgbClr val="F7F7F7"/>
                              </a:solidFill>
                              <a:latin typeface="Cambria Math" panose="02040503050406030204" pitchFamily="18" charset="0"/>
                            </a:rPr>
                            <m:t>John</m:t>
                          </m:r>
                        </m:sub>
                      </m:sSub>
                    </m:oMath>
                  </m:oMathPara>
                </a14:m>
                <a:endParaRPr lang="en-US" sz="4000" baseline="-25000" dirty="0">
                  <a:solidFill>
                    <a:srgbClr val="F7F7F7"/>
                  </a:solidFill>
                  <a:latin typeface="+mn-lt"/>
                </a:endParaRPr>
              </a:p>
              <a:p>
                <a:r>
                  <a:rPr lang="en-US" sz="4000" dirty="0">
                    <a:solidFill>
                      <a:srgbClr val="F7F7F7"/>
                    </a:solidFill>
                    <a:latin typeface="+mn-lt"/>
                  </a:rPr>
                  <a:t>His outcome is </a:t>
                </a:r>
                <a:r>
                  <a:rPr lang="en-US" sz="4000" b="1" dirty="0">
                    <a:solidFill>
                      <a:srgbClr val="F7F7F7"/>
                    </a:solidFill>
                    <a:latin typeface="+mn-lt"/>
                  </a:rPr>
                  <a:t>mostly</a:t>
                </a:r>
                <a:r>
                  <a:rPr lang="en-US" sz="4000" dirty="0">
                    <a:solidFill>
                      <a:srgbClr val="F7F7F7"/>
                    </a:solidFill>
                    <a:latin typeface="+mn-lt"/>
                  </a:rPr>
                  <a:t> explained by observed features</a:t>
                </a:r>
                <a:endParaRPr lang="en-US" sz="4000" baseline="-25000" dirty="0">
                  <a:solidFill>
                    <a:srgbClr val="F7F7F7"/>
                  </a:solidFill>
                  <a:latin typeface="+mn-lt"/>
                </a:endParaRPr>
              </a:p>
            </p:txBody>
          </p:sp>
        </mc:Choice>
        <mc:Fallback>
          <p:sp>
            <p:nvSpPr>
              <p:cNvPr id="13" name="Rounded Rectangle 12">
                <a:extLst>
                  <a:ext uri="{FF2B5EF4-FFF2-40B4-BE49-F238E27FC236}">
                    <a16:creationId xmlns:a16="http://schemas.microsoft.com/office/drawing/2014/main" id="{11C318B4-82F7-276A-5BCB-97FDB101198A}"/>
                  </a:ext>
                </a:extLst>
              </p:cNvPr>
              <p:cNvSpPr>
                <a:spLocks noRot="1" noChangeAspect="1" noMove="1" noResize="1" noEditPoints="1" noAdjustHandles="1" noChangeArrowheads="1" noChangeShapeType="1" noTextEdit="1"/>
              </p:cNvSpPr>
              <p:nvPr/>
            </p:nvSpPr>
            <p:spPr>
              <a:xfrm>
                <a:off x="12960369" y="3141598"/>
                <a:ext cx="10219391" cy="4649924"/>
              </a:xfrm>
              <a:prstGeom prst="roundRect">
                <a:avLst/>
              </a:prstGeom>
              <a:blipFill>
                <a:blip r:embed="rId7"/>
                <a:stretch>
                  <a:fillRect/>
                </a:stretch>
              </a:blipFill>
              <a:ln w="12700" cap="flat">
                <a:noFill/>
                <a:miter lim="400000"/>
              </a:ln>
              <a:effectLst/>
            </p:spPr>
            <p:txBody>
              <a:bodyPr/>
              <a:lstStyle/>
              <a:p>
                <a:r>
                  <a:rPr lang="en-US">
                    <a:noFill/>
                  </a:rPr>
                  <a:t> </a:t>
                </a:r>
              </a:p>
            </p:txBody>
          </p:sp>
        </mc:Fallback>
      </mc:AlternateContent>
      <p:sp>
        <p:nvSpPr>
          <p:cNvPr id="14" name="Down Arrow 13">
            <a:extLst>
              <a:ext uri="{FF2B5EF4-FFF2-40B4-BE49-F238E27FC236}">
                <a16:creationId xmlns:a16="http://schemas.microsoft.com/office/drawing/2014/main" id="{21E20933-94B8-FFAC-1BB8-321E7B2CA59B}"/>
              </a:ext>
            </a:extLst>
          </p:cNvPr>
          <p:cNvSpPr/>
          <p:nvPr/>
        </p:nvSpPr>
        <p:spPr>
          <a:xfrm>
            <a:off x="18770238" y="5271739"/>
            <a:ext cx="264160" cy="414792"/>
          </a:xfrm>
          <a:prstGeom prst="downArrow">
            <a:avLst/>
          </a:prstGeom>
          <a:solidFill>
            <a:srgbClr val="F7F7F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a:ln>
                <a:noFill/>
              </a:ln>
              <a:solidFill>
                <a:srgbClr val="FFFFFF"/>
              </a:solidFill>
              <a:effectLst/>
              <a:uFillTx/>
              <a:latin typeface="DIN Condensed Bold"/>
              <a:ea typeface="DIN Condensed Bold"/>
              <a:cs typeface="DIN Condensed Bold"/>
              <a:sym typeface="DIN Condensed Bold"/>
            </a:endParaRPr>
          </a:p>
        </p:txBody>
      </p:sp>
      <p:sp>
        <p:nvSpPr>
          <p:cNvPr id="16" name="Up Arrow 15">
            <a:extLst>
              <a:ext uri="{FF2B5EF4-FFF2-40B4-BE49-F238E27FC236}">
                <a16:creationId xmlns:a16="http://schemas.microsoft.com/office/drawing/2014/main" id="{145373BD-6586-5D85-E326-C391AE4A6715}"/>
              </a:ext>
            </a:extLst>
          </p:cNvPr>
          <p:cNvSpPr/>
          <p:nvPr/>
        </p:nvSpPr>
        <p:spPr>
          <a:xfrm>
            <a:off x="21297375" y="13129213"/>
            <a:ext cx="237744" cy="402824"/>
          </a:xfrm>
          <a:prstGeom prst="upArrow">
            <a:avLst/>
          </a:prstGeom>
          <a:solidFill>
            <a:srgbClr val="F7F7F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a:ln>
                <a:noFill/>
              </a:ln>
              <a:solidFill>
                <a:srgbClr val="FFFFFF"/>
              </a:solidFill>
              <a:effectLst/>
              <a:uFillTx/>
              <a:latin typeface="DIN Condensed Bold"/>
              <a:ea typeface="DIN Condensed Bold"/>
              <a:cs typeface="DIN Condensed Bold"/>
              <a:sym typeface="DIN Condensed Bold"/>
            </a:endParaRPr>
          </a:p>
        </p:txBody>
      </p:sp>
      <p:sp>
        <p:nvSpPr>
          <p:cNvPr id="19" name="Rectangle 18">
            <a:extLst>
              <a:ext uri="{FF2B5EF4-FFF2-40B4-BE49-F238E27FC236}">
                <a16:creationId xmlns:a16="http://schemas.microsoft.com/office/drawing/2014/main" id="{E84962B4-545C-8E79-7DA2-1373B0D01646}"/>
              </a:ext>
            </a:extLst>
          </p:cNvPr>
          <p:cNvSpPr/>
          <p:nvPr/>
        </p:nvSpPr>
        <p:spPr>
          <a:xfrm>
            <a:off x="23357840" y="12890036"/>
            <a:ext cx="822960" cy="6120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r" defTabSz="821531" rtl="0" fontAlgn="auto" latinLnBrk="0" hangingPunct="0">
              <a:lnSpc>
                <a:spcPct val="80000"/>
              </a:lnSpc>
              <a:spcBef>
                <a:spcPts val="0"/>
              </a:spcBef>
              <a:spcAft>
                <a:spcPts val="0"/>
              </a:spcAft>
              <a:buClrTx/>
              <a:buSzTx/>
              <a:buFontTx/>
              <a:buNone/>
              <a:tabLst/>
            </a:pPr>
            <a:r>
              <a:rPr lang="en-US" sz="3800" cap="all" dirty="0">
                <a:solidFill>
                  <a:srgbClr val="C52060"/>
                </a:solidFill>
                <a:latin typeface="+mj-lt"/>
                <a:ea typeface="DIN Condensed Bold"/>
                <a:cs typeface="DIN Condensed Bold"/>
                <a:sym typeface="DIN Condensed Bold"/>
              </a:rPr>
              <a:t>11</a:t>
            </a:r>
            <a:endParaRPr kumimoji="0" lang="en-US" sz="3800" b="0" i="0" u="none" strike="noStrike" cap="all" spc="0" normalizeH="0" baseline="0" dirty="0">
              <a:ln>
                <a:noFill/>
              </a:ln>
              <a:solidFill>
                <a:srgbClr val="C52060"/>
              </a:solidFill>
              <a:effectLst/>
              <a:uFillTx/>
              <a:latin typeface="+mj-lt"/>
              <a:ea typeface="DIN Condensed Bold"/>
              <a:cs typeface="DIN Condensed Bold"/>
              <a:sym typeface="DIN Condensed Bold"/>
            </a:endParaRPr>
          </a:p>
        </p:txBody>
      </p:sp>
      <p:sp>
        <p:nvSpPr>
          <p:cNvPr id="21" name="TextBox 20">
            <a:extLst>
              <a:ext uri="{FF2B5EF4-FFF2-40B4-BE49-F238E27FC236}">
                <a16:creationId xmlns:a16="http://schemas.microsoft.com/office/drawing/2014/main" id="{BEBCF47C-153A-5997-94E4-57BC40FFFC6D}"/>
              </a:ext>
            </a:extLst>
          </p:cNvPr>
          <p:cNvSpPr txBox="1"/>
          <p:nvPr/>
        </p:nvSpPr>
        <p:spPr>
          <a:xfrm>
            <a:off x="9554331" y="10819758"/>
            <a:ext cx="3406038" cy="11214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l" defTabSz="821531" rtl="0" fontAlgn="auto" latinLnBrk="0" hangingPunct="0">
              <a:lnSpc>
                <a:spcPct val="100000"/>
              </a:lnSpc>
              <a:spcBef>
                <a:spcPts val="3300"/>
              </a:spcBef>
              <a:spcAft>
                <a:spcPts val="0"/>
              </a:spcAft>
              <a:buClrTx/>
              <a:buSzTx/>
              <a:buFontTx/>
              <a:buNone/>
              <a:tabLst/>
            </a:pPr>
            <a:r>
              <a:rPr kumimoji="0" lang="en-US" sz="3600" b="0" i="0" u="none" strike="noStrike" cap="none" spc="0" normalizeH="0" baseline="0" dirty="0">
                <a:ln>
                  <a:noFill/>
                </a:ln>
                <a:solidFill>
                  <a:schemeClr val="bg1"/>
                </a:solidFill>
                <a:effectLst/>
                <a:uFillTx/>
                <a:latin typeface="+mn-lt"/>
                <a:ea typeface="Avenir Next Medium"/>
                <a:cs typeface="Avenir Next Medium"/>
                <a:sym typeface="Avenir Next Medium"/>
              </a:rPr>
              <a:t>John</a:t>
            </a:r>
          </a:p>
        </p:txBody>
      </p:sp>
      <p:sp>
        <p:nvSpPr>
          <p:cNvPr id="2" name="Down Arrow 1">
            <a:extLst>
              <a:ext uri="{FF2B5EF4-FFF2-40B4-BE49-F238E27FC236}">
                <a16:creationId xmlns:a16="http://schemas.microsoft.com/office/drawing/2014/main" id="{49C8DCCC-5F8B-06DB-D9B8-AE201766F0CF}"/>
              </a:ext>
            </a:extLst>
          </p:cNvPr>
          <p:cNvSpPr/>
          <p:nvPr/>
        </p:nvSpPr>
        <p:spPr>
          <a:xfrm>
            <a:off x="18864845" y="10021615"/>
            <a:ext cx="264160" cy="414792"/>
          </a:xfrm>
          <a:prstGeom prst="downArrow">
            <a:avLst/>
          </a:prstGeom>
          <a:solidFill>
            <a:srgbClr val="F7F7F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a:ln>
                <a:noFill/>
              </a:ln>
              <a:solidFill>
                <a:srgbClr val="FFFFFF"/>
              </a:solidFill>
              <a:effectLst/>
              <a:uFillTx/>
              <a:latin typeface="DIN Condensed Bold"/>
              <a:ea typeface="DIN Condensed Bold"/>
              <a:cs typeface="DIN Condensed Bold"/>
              <a:sym typeface="DIN Condensed Bold"/>
            </a:endParaRPr>
          </a:p>
        </p:txBody>
      </p:sp>
      <mc:AlternateContent xmlns:mc="http://schemas.openxmlformats.org/markup-compatibility/2006">
        <mc:Choice xmlns:a14="http://schemas.microsoft.com/office/drawing/2010/main" Requires="a14">
          <p:sp>
            <p:nvSpPr>
              <p:cNvPr id="4" name="Rounded Rectangle 3">
                <a:extLst>
                  <a:ext uri="{FF2B5EF4-FFF2-40B4-BE49-F238E27FC236}">
                    <a16:creationId xmlns:a16="http://schemas.microsoft.com/office/drawing/2014/main" id="{5004B277-B854-FD3D-F5FF-A6CAF7392D78}"/>
                  </a:ext>
                </a:extLst>
              </p:cNvPr>
              <p:cNvSpPr/>
              <p:nvPr/>
            </p:nvSpPr>
            <p:spPr>
              <a:xfrm>
                <a:off x="12969596" y="7877338"/>
                <a:ext cx="10210164" cy="5118138"/>
              </a:xfrm>
              <a:prstGeom prst="roundRect">
                <a:avLst/>
              </a:prstGeom>
              <a:solidFill>
                <a:srgbClr val="48AAA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r>
                  <a:rPr lang="en-US" sz="4000" b="1" dirty="0">
                    <a:solidFill>
                      <a:srgbClr val="F7F7F7"/>
                    </a:solidFill>
                    <a:latin typeface="+mn-lt"/>
                  </a:rPr>
                  <a:t>Scenario 2</a:t>
                </a:r>
                <a:r>
                  <a:rPr lang="en-US" sz="4000" dirty="0">
                    <a:solidFill>
                      <a:srgbClr val="F7F7F7"/>
                    </a:solidFill>
                    <a:latin typeface="+mn-lt"/>
                  </a:rPr>
                  <a:t>: John has better prognosis than his neighbors</a:t>
                </a:r>
              </a:p>
              <a:p>
                <a:pPr algn="ctr"/>
                <a14:m>
                  <m:oMath xmlns:m="http://schemas.openxmlformats.org/officeDocument/2006/math">
                    <m:sSub>
                      <m:sSubPr>
                        <m:ctrlPr>
                          <a:rPr lang="en-US" sz="4000" i="1">
                            <a:solidFill>
                              <a:srgbClr val="F7F7F7"/>
                            </a:solidFill>
                            <a:latin typeface="Cambria Math" panose="02040503050406030204" pitchFamily="18" charset="0"/>
                          </a:rPr>
                        </m:ctrlPr>
                      </m:sSubPr>
                      <m:e>
                        <m:acc>
                          <m:accPr>
                            <m:chr m:val="̃"/>
                            <m:ctrlPr>
                              <a:rPr lang="en-US" sz="4000" i="1" smtClean="0">
                                <a:solidFill>
                                  <a:srgbClr val="F7F7F7"/>
                                </a:solidFill>
                                <a:latin typeface="Cambria Math" panose="02040503050406030204" pitchFamily="18" charset="0"/>
                              </a:rPr>
                            </m:ctrlPr>
                          </m:accPr>
                          <m:e>
                            <m:r>
                              <a:rPr lang="en-US" sz="4000" b="0" i="1" smtClean="0">
                                <a:solidFill>
                                  <a:srgbClr val="F7F7F7"/>
                                </a:solidFill>
                                <a:latin typeface="Cambria Math" panose="02040503050406030204" pitchFamily="18" charset="0"/>
                              </a:rPr>
                              <m:t>𝑈</m:t>
                            </m:r>
                          </m:e>
                        </m:acc>
                      </m:e>
                      <m:sub>
                        <m:r>
                          <m:rPr>
                            <m:sty m:val="p"/>
                          </m:rPr>
                          <a:rPr lang="en-US" sz="4000">
                            <a:solidFill>
                              <a:srgbClr val="F7F7F7"/>
                            </a:solidFill>
                            <a:latin typeface="Cambria Math" panose="02040503050406030204" pitchFamily="18" charset="0"/>
                          </a:rPr>
                          <m:t>John</m:t>
                        </m:r>
                      </m:sub>
                    </m:sSub>
                  </m:oMath>
                </a14:m>
                <a:r>
                  <a:rPr lang="en-US" sz="4000" baseline="-25000" dirty="0">
                    <a:solidFill>
                      <a:srgbClr val="F7F7F7"/>
                    </a:solidFill>
                    <a:latin typeface="+mn-lt"/>
                  </a:rPr>
                  <a:t>        </a:t>
                </a:r>
              </a:p>
              <a:p>
                <a:r>
                  <a:rPr lang="en-US" sz="4000" dirty="0">
                    <a:solidFill>
                      <a:srgbClr val="F7F7F7"/>
                    </a:solidFill>
                    <a:latin typeface="+mn-lt"/>
                  </a:rPr>
                  <a:t>His outcome is </a:t>
                </a:r>
                <a:r>
                  <a:rPr lang="en-US" sz="4000" b="1" dirty="0">
                    <a:solidFill>
                      <a:srgbClr val="F7F7F7"/>
                    </a:solidFill>
                    <a:latin typeface="+mn-lt"/>
                  </a:rPr>
                  <a:t>not</a:t>
                </a:r>
                <a:r>
                  <a:rPr lang="en-US" sz="4000" dirty="0">
                    <a:solidFill>
                      <a:srgbClr val="F7F7F7"/>
                    </a:solidFill>
                    <a:latin typeface="+mn-lt"/>
                  </a:rPr>
                  <a:t> explained by observed features</a:t>
                </a:r>
                <a:endParaRPr lang="en-US" sz="4000" baseline="-25000" dirty="0">
                  <a:solidFill>
                    <a:srgbClr val="F7F7F7"/>
                  </a:solidFill>
                  <a:latin typeface="+mn-lt"/>
                </a:endParaRPr>
              </a:p>
            </p:txBody>
          </p:sp>
        </mc:Choice>
        <mc:Fallback>
          <p:sp>
            <p:nvSpPr>
              <p:cNvPr id="4" name="Rounded Rectangle 3">
                <a:extLst>
                  <a:ext uri="{FF2B5EF4-FFF2-40B4-BE49-F238E27FC236}">
                    <a16:creationId xmlns:a16="http://schemas.microsoft.com/office/drawing/2014/main" id="{5004B277-B854-FD3D-F5FF-A6CAF7392D78}"/>
                  </a:ext>
                </a:extLst>
              </p:cNvPr>
              <p:cNvSpPr>
                <a:spLocks noRot="1" noChangeAspect="1" noMove="1" noResize="1" noEditPoints="1" noAdjustHandles="1" noChangeArrowheads="1" noChangeShapeType="1" noTextEdit="1"/>
              </p:cNvSpPr>
              <p:nvPr/>
            </p:nvSpPr>
            <p:spPr>
              <a:xfrm>
                <a:off x="12969596" y="7877338"/>
                <a:ext cx="10210164" cy="5118138"/>
              </a:xfrm>
              <a:prstGeom prst="roundRect">
                <a:avLst/>
              </a:prstGeom>
              <a:blipFill>
                <a:blip r:embed="rId8"/>
                <a:stretch>
                  <a:fillRect r="-498"/>
                </a:stretch>
              </a:blipFill>
              <a:ln w="12700" cap="flat">
                <a:noFill/>
                <a:miter lim="400000"/>
              </a:ln>
              <a:effectLst/>
            </p:spPr>
            <p:txBody>
              <a:bodyPr/>
              <a:lstStyle/>
              <a:p>
                <a:r>
                  <a:rPr lang="en-US">
                    <a:noFill/>
                  </a:rPr>
                  <a:t> </a:t>
                </a:r>
              </a:p>
            </p:txBody>
          </p:sp>
        </mc:Fallback>
      </mc:AlternateContent>
      <p:sp>
        <p:nvSpPr>
          <p:cNvPr id="9" name="Up Arrow 8">
            <a:extLst>
              <a:ext uri="{FF2B5EF4-FFF2-40B4-BE49-F238E27FC236}">
                <a16:creationId xmlns:a16="http://schemas.microsoft.com/office/drawing/2014/main" id="{6F24316C-8FFC-153B-C5D0-B89105F0713A}"/>
              </a:ext>
            </a:extLst>
          </p:cNvPr>
          <p:cNvSpPr/>
          <p:nvPr/>
        </p:nvSpPr>
        <p:spPr>
          <a:xfrm>
            <a:off x="18731749" y="10436407"/>
            <a:ext cx="265176" cy="411480"/>
          </a:xfrm>
          <a:prstGeom prst="upArrow">
            <a:avLst/>
          </a:prstGeom>
          <a:solidFill>
            <a:srgbClr val="F7F7F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a:ln>
                <a:noFill/>
              </a:ln>
              <a:solidFill>
                <a:srgbClr val="FFFFFF"/>
              </a:solidFill>
              <a:effectLst/>
              <a:uFillTx/>
              <a:latin typeface="DIN Condensed Bold"/>
              <a:ea typeface="DIN Condensed Bold"/>
              <a:cs typeface="DIN Condensed Bold"/>
              <a:sym typeface="DIN Condensed Bold"/>
            </a:endParaRPr>
          </a:p>
        </p:txBody>
      </p:sp>
    </p:spTree>
    <p:extLst>
      <p:ext uri="{BB962C8B-B14F-4D97-AF65-F5344CB8AC3E}">
        <p14:creationId xmlns:p14="http://schemas.microsoft.com/office/powerpoint/2010/main" val="294633743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bg/>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bg/>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1" end="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allAtOnce" animBg="1"/>
      <p:bldP spid="14" grpId="0" animBg="1"/>
      <p:bldP spid="2" grpId="0" animBg="1"/>
      <p:bldP spid="4" grpId="0" uiExpand="1" build="allAtOnce"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56769-A77C-4C0B-8164-6B139D0FBA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2C4A4C-C310-D65E-72C3-EF574FA9DE44}"/>
              </a:ext>
            </a:extLst>
          </p:cNvPr>
          <p:cNvSpPr>
            <a:spLocks noGrp="1"/>
          </p:cNvSpPr>
          <p:nvPr>
            <p:ph type="title"/>
          </p:nvPr>
        </p:nvSpPr>
        <p:spPr>
          <a:xfrm>
            <a:off x="1171654" y="2121311"/>
            <a:ext cx="19006106" cy="1017985"/>
          </a:xfrm>
        </p:spPr>
        <p:txBody>
          <a:bodyPr>
            <a:normAutofit/>
          </a:bodyPr>
          <a:lstStyle/>
          <a:p>
            <a:r>
              <a:rPr lang="en-US" sz="4400" dirty="0">
                <a:solidFill>
                  <a:srgbClr val="C00000"/>
                </a:solidFill>
              </a:rPr>
              <a:t>Calculating U</a:t>
            </a:r>
          </a:p>
        </p:txBody>
      </p:sp>
      <p:graphicFrame>
        <p:nvGraphicFramePr>
          <p:cNvPr id="5" name="Table 4">
            <a:extLst>
              <a:ext uri="{FF2B5EF4-FFF2-40B4-BE49-F238E27FC236}">
                <a16:creationId xmlns:a16="http://schemas.microsoft.com/office/drawing/2014/main" id="{77120981-97E6-8EA9-54AC-568BDC9DC420}"/>
              </a:ext>
            </a:extLst>
          </p:cNvPr>
          <p:cNvGraphicFramePr>
            <a:graphicFrameLocks noGrp="1"/>
          </p:cNvGraphicFramePr>
          <p:nvPr>
            <p:extLst>
              <p:ext uri="{D42A27DB-BD31-4B8C-83A1-F6EECF244321}">
                <p14:modId xmlns:p14="http://schemas.microsoft.com/office/powerpoint/2010/main" val="648223189"/>
              </p:ext>
            </p:extLst>
          </p:nvPr>
        </p:nvGraphicFramePr>
        <p:xfrm>
          <a:off x="2159000" y="3560511"/>
          <a:ext cx="10033000" cy="8992537"/>
        </p:xfrm>
        <a:graphic>
          <a:graphicData uri="http://schemas.openxmlformats.org/drawingml/2006/table">
            <a:tbl>
              <a:tblPr firstRow="1" bandRow="1">
                <a:tableStyleId>{5940675A-B579-460E-94D1-54222C63F5DA}</a:tableStyleId>
              </a:tblPr>
              <a:tblGrid>
                <a:gridCol w="5016500">
                  <a:extLst>
                    <a:ext uri="{9D8B030D-6E8A-4147-A177-3AD203B41FA5}">
                      <a16:colId xmlns:a16="http://schemas.microsoft.com/office/drawing/2014/main" val="3399294042"/>
                    </a:ext>
                  </a:extLst>
                </a:gridCol>
                <a:gridCol w="5016500">
                  <a:extLst>
                    <a:ext uri="{9D8B030D-6E8A-4147-A177-3AD203B41FA5}">
                      <a16:colId xmlns:a16="http://schemas.microsoft.com/office/drawing/2014/main" val="1451783524"/>
                    </a:ext>
                  </a:extLst>
                </a:gridCol>
              </a:tblGrid>
              <a:tr h="2361489">
                <a:tc gridSpan="2">
                  <a:txBody>
                    <a:bodyPr/>
                    <a:lstStyle/>
                    <a:p>
                      <a:endParaRPr lang="en-US" dirty="0">
                        <a:solidFill>
                          <a:schemeClr val="bg1"/>
                        </a:solidFill>
                      </a:endParaRPr>
                    </a:p>
                  </a:txBody>
                  <a:tcPr>
                    <a:solidFill>
                      <a:schemeClr val="tx1">
                        <a:lumMod val="20000"/>
                        <a:lumOff val="80000"/>
                      </a:schemeClr>
                    </a:solidFill>
                  </a:tcPr>
                </a:tc>
                <a:tc hMerge="1">
                  <a:txBody>
                    <a:bodyPr/>
                    <a:lstStyle/>
                    <a:p>
                      <a:endParaRPr lang="en-US" dirty="0">
                        <a:solidFill>
                          <a:schemeClr val="bg1"/>
                        </a:solidFill>
                      </a:endParaRPr>
                    </a:p>
                  </a:txBody>
                  <a:tcPr>
                    <a:solidFill>
                      <a:schemeClr val="tx1">
                        <a:lumMod val="20000"/>
                        <a:lumOff val="80000"/>
                      </a:schemeClr>
                    </a:solidFill>
                  </a:tcPr>
                </a:tc>
                <a:extLst>
                  <a:ext uri="{0D108BD9-81ED-4DB2-BD59-A6C34878D82A}">
                    <a16:rowId xmlns:a16="http://schemas.microsoft.com/office/drawing/2014/main" val="2676565202"/>
                  </a:ext>
                </a:extLst>
              </a:tr>
              <a:tr h="236220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74986606"/>
                  </a:ext>
                </a:extLst>
              </a:tr>
              <a:tr h="4268848">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7544094"/>
                  </a:ext>
                </a:extLst>
              </a:tr>
            </a:tbl>
          </a:graphicData>
        </a:graphic>
      </p:graphicFrame>
      <p:pic>
        <p:nvPicPr>
          <p:cNvPr id="6" name="Picture 5">
            <a:extLst>
              <a:ext uri="{FF2B5EF4-FFF2-40B4-BE49-F238E27FC236}">
                <a16:creationId xmlns:a16="http://schemas.microsoft.com/office/drawing/2014/main" id="{0C986748-3851-8D57-A21F-33A1D46CE624}"/>
              </a:ext>
            </a:extLst>
          </p:cNvPr>
          <p:cNvPicPr>
            <a:picLocks noChangeAspect="1"/>
          </p:cNvPicPr>
          <p:nvPr/>
        </p:nvPicPr>
        <p:blipFill>
          <a:blip r:embed="rId2"/>
          <a:stretch>
            <a:fillRect/>
          </a:stretch>
        </p:blipFill>
        <p:spPr>
          <a:xfrm>
            <a:off x="6234194" y="3834214"/>
            <a:ext cx="1950431" cy="1950431"/>
          </a:xfrm>
          <a:prstGeom prst="rect">
            <a:avLst/>
          </a:prstGeom>
        </p:spPr>
      </p:pic>
      <p:pic>
        <p:nvPicPr>
          <p:cNvPr id="7" name="Picture 6">
            <a:extLst>
              <a:ext uri="{FF2B5EF4-FFF2-40B4-BE49-F238E27FC236}">
                <a16:creationId xmlns:a16="http://schemas.microsoft.com/office/drawing/2014/main" id="{CC8EFD42-C5F0-3736-CD0E-FD7F36EA9C0A}"/>
              </a:ext>
            </a:extLst>
          </p:cNvPr>
          <p:cNvPicPr>
            <a:picLocks noChangeAspect="1"/>
          </p:cNvPicPr>
          <p:nvPr/>
        </p:nvPicPr>
        <p:blipFill>
          <a:blip r:embed="rId3"/>
          <a:stretch>
            <a:fillRect/>
          </a:stretch>
        </p:blipFill>
        <p:spPr>
          <a:xfrm>
            <a:off x="3937000" y="6296019"/>
            <a:ext cx="1625600" cy="1625600"/>
          </a:xfrm>
          <a:prstGeom prst="rect">
            <a:avLst/>
          </a:prstGeom>
        </p:spPr>
      </p:pic>
      <p:pic>
        <p:nvPicPr>
          <p:cNvPr id="8" name="Picture 7">
            <a:extLst>
              <a:ext uri="{FF2B5EF4-FFF2-40B4-BE49-F238E27FC236}">
                <a16:creationId xmlns:a16="http://schemas.microsoft.com/office/drawing/2014/main" id="{F2C7D62F-6245-3BAA-6856-7560E5CD6801}"/>
              </a:ext>
            </a:extLst>
          </p:cNvPr>
          <p:cNvPicPr>
            <a:picLocks noChangeAspect="1"/>
          </p:cNvPicPr>
          <p:nvPr/>
        </p:nvPicPr>
        <p:blipFill>
          <a:blip r:embed="rId4"/>
          <a:stretch>
            <a:fillRect/>
          </a:stretch>
        </p:blipFill>
        <p:spPr>
          <a:xfrm>
            <a:off x="8930894" y="6199833"/>
            <a:ext cx="1625600" cy="1625600"/>
          </a:xfrm>
          <a:prstGeom prst="rect">
            <a:avLst/>
          </a:prstGeom>
        </p:spPr>
      </p:pic>
      <p:sp>
        <p:nvSpPr>
          <p:cNvPr id="43" name="TextBox 42">
            <a:extLst>
              <a:ext uri="{FF2B5EF4-FFF2-40B4-BE49-F238E27FC236}">
                <a16:creationId xmlns:a16="http://schemas.microsoft.com/office/drawing/2014/main" id="{EA862891-A25C-B4B4-8DAF-7095BEBCA194}"/>
              </a:ext>
            </a:extLst>
          </p:cNvPr>
          <p:cNvSpPr txBox="1"/>
          <p:nvPr/>
        </p:nvSpPr>
        <p:spPr>
          <a:xfrm>
            <a:off x="9554331" y="10819758"/>
            <a:ext cx="3406038" cy="11214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l" defTabSz="821531" rtl="0" fontAlgn="auto" latinLnBrk="0" hangingPunct="0">
              <a:lnSpc>
                <a:spcPct val="100000"/>
              </a:lnSpc>
              <a:spcBef>
                <a:spcPts val="3300"/>
              </a:spcBef>
              <a:spcAft>
                <a:spcPts val="0"/>
              </a:spcAft>
              <a:buClrTx/>
              <a:buSzTx/>
              <a:buFontTx/>
              <a:buNone/>
              <a:tabLst/>
            </a:pPr>
            <a:r>
              <a:rPr kumimoji="0" lang="en-US" sz="3600" b="0" i="0" u="none" strike="noStrike" cap="none" spc="0" normalizeH="0" baseline="0" dirty="0">
                <a:ln>
                  <a:noFill/>
                </a:ln>
                <a:solidFill>
                  <a:schemeClr val="bg1"/>
                </a:solidFill>
                <a:effectLst/>
                <a:uFillTx/>
                <a:latin typeface="+mn-lt"/>
                <a:ea typeface="Avenir Next Medium"/>
                <a:cs typeface="Avenir Next Medium"/>
                <a:sym typeface="Avenir Next Medium"/>
              </a:rPr>
              <a:t>John</a:t>
            </a:r>
          </a:p>
        </p:txBody>
      </p:sp>
      <p:pic>
        <p:nvPicPr>
          <p:cNvPr id="49" name="Picture 48">
            <a:extLst>
              <a:ext uri="{FF2B5EF4-FFF2-40B4-BE49-F238E27FC236}">
                <a16:creationId xmlns:a16="http://schemas.microsoft.com/office/drawing/2014/main" id="{9288F67B-5C17-ADFD-482F-9ED55F3C9147}"/>
              </a:ext>
            </a:extLst>
          </p:cNvPr>
          <p:cNvPicPr>
            <a:picLocks noChangeAspect="1"/>
          </p:cNvPicPr>
          <p:nvPr/>
        </p:nvPicPr>
        <p:blipFill>
          <a:blip r:embed="rId5"/>
          <a:stretch>
            <a:fillRect/>
          </a:stretch>
        </p:blipFill>
        <p:spPr>
          <a:xfrm>
            <a:off x="8133439" y="10081302"/>
            <a:ext cx="1536737" cy="1536737"/>
          </a:xfrm>
          <a:prstGeom prst="rect">
            <a:avLst/>
          </a:prstGeom>
        </p:spPr>
      </p:pic>
      <p:pic>
        <p:nvPicPr>
          <p:cNvPr id="50" name="Picture 49">
            <a:extLst>
              <a:ext uri="{FF2B5EF4-FFF2-40B4-BE49-F238E27FC236}">
                <a16:creationId xmlns:a16="http://schemas.microsoft.com/office/drawing/2014/main" id="{A4B0A92E-5175-CE48-E756-8753AE75F149}"/>
              </a:ext>
            </a:extLst>
          </p:cNvPr>
          <p:cNvPicPr>
            <a:picLocks noChangeAspect="1"/>
          </p:cNvPicPr>
          <p:nvPr/>
        </p:nvPicPr>
        <p:blipFill>
          <a:blip r:embed="rId6"/>
          <a:stretch>
            <a:fillRect/>
          </a:stretch>
        </p:blipFill>
        <p:spPr>
          <a:xfrm>
            <a:off x="3965794" y="9473717"/>
            <a:ext cx="1215171" cy="1215171"/>
          </a:xfrm>
          <a:prstGeom prst="rect">
            <a:avLst/>
          </a:prstGeom>
        </p:spPr>
      </p:pic>
      <p:pic>
        <p:nvPicPr>
          <p:cNvPr id="51" name="Picture 50">
            <a:extLst>
              <a:ext uri="{FF2B5EF4-FFF2-40B4-BE49-F238E27FC236}">
                <a16:creationId xmlns:a16="http://schemas.microsoft.com/office/drawing/2014/main" id="{8EF36372-1851-DD26-324A-3D2B28683B42}"/>
              </a:ext>
            </a:extLst>
          </p:cNvPr>
          <p:cNvPicPr>
            <a:picLocks noChangeAspect="1"/>
          </p:cNvPicPr>
          <p:nvPr/>
        </p:nvPicPr>
        <p:blipFill>
          <a:blip r:embed="rId5"/>
          <a:stretch>
            <a:fillRect/>
          </a:stretch>
        </p:blipFill>
        <p:spPr>
          <a:xfrm>
            <a:off x="5605102" y="8841644"/>
            <a:ext cx="1228148" cy="1228148"/>
          </a:xfrm>
          <a:prstGeom prst="rect">
            <a:avLst/>
          </a:prstGeom>
        </p:spPr>
      </p:pic>
      <p:pic>
        <p:nvPicPr>
          <p:cNvPr id="52" name="Picture 51">
            <a:extLst>
              <a:ext uri="{FF2B5EF4-FFF2-40B4-BE49-F238E27FC236}">
                <a16:creationId xmlns:a16="http://schemas.microsoft.com/office/drawing/2014/main" id="{1C7A2EDD-70E5-F8E9-B211-0B3CE5BB52EF}"/>
              </a:ext>
            </a:extLst>
          </p:cNvPr>
          <p:cNvPicPr>
            <a:picLocks noChangeAspect="1"/>
          </p:cNvPicPr>
          <p:nvPr/>
        </p:nvPicPr>
        <p:blipFill>
          <a:blip r:embed="rId5"/>
          <a:stretch>
            <a:fillRect/>
          </a:stretch>
        </p:blipFill>
        <p:spPr>
          <a:xfrm>
            <a:off x="5562600" y="10436407"/>
            <a:ext cx="1216152" cy="1216152"/>
          </a:xfrm>
          <a:prstGeom prst="rect">
            <a:avLst/>
          </a:prstGeom>
        </p:spPr>
      </p:pic>
      <p:cxnSp>
        <p:nvCxnSpPr>
          <p:cNvPr id="40" name="Straight Arrow Connector 39">
            <a:extLst>
              <a:ext uri="{FF2B5EF4-FFF2-40B4-BE49-F238E27FC236}">
                <a16:creationId xmlns:a16="http://schemas.microsoft.com/office/drawing/2014/main" id="{15D0CEB0-B0E1-AFBD-C96B-34A40DB559B1}"/>
              </a:ext>
            </a:extLst>
          </p:cNvPr>
          <p:cNvCxnSpPr>
            <a:endCxn id="51" idx="3"/>
          </p:cNvCxnSpPr>
          <p:nvPr/>
        </p:nvCxnSpPr>
        <p:spPr>
          <a:xfrm flipH="1" flipV="1">
            <a:off x="6833250" y="9455718"/>
            <a:ext cx="1300189" cy="153445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E1697CFF-04DC-41E1-0025-08223AD66FB0}"/>
              </a:ext>
            </a:extLst>
          </p:cNvPr>
          <p:cNvCxnSpPr>
            <a:endCxn id="50" idx="3"/>
          </p:cNvCxnSpPr>
          <p:nvPr/>
        </p:nvCxnSpPr>
        <p:spPr>
          <a:xfrm flipH="1" flipV="1">
            <a:off x="5180965" y="10081303"/>
            <a:ext cx="2952474" cy="90887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4C9A75AD-5B99-76C0-6EEB-B734FC986965}"/>
              </a:ext>
            </a:extLst>
          </p:cNvPr>
          <p:cNvCxnSpPr/>
          <p:nvPr/>
        </p:nvCxnSpPr>
        <p:spPr>
          <a:xfrm flipH="1">
            <a:off x="6578600" y="10990174"/>
            <a:ext cx="1554839" cy="10153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3" name="Rounded Rectangle 12">
                <a:extLst>
                  <a:ext uri="{FF2B5EF4-FFF2-40B4-BE49-F238E27FC236}">
                    <a16:creationId xmlns:a16="http://schemas.microsoft.com/office/drawing/2014/main" id="{A07BC19B-0F0C-409B-2051-43AD8420E551}"/>
                  </a:ext>
                </a:extLst>
              </p:cNvPr>
              <p:cNvSpPr/>
              <p:nvPr/>
            </p:nvSpPr>
            <p:spPr>
              <a:xfrm>
                <a:off x="13208000" y="6585249"/>
                <a:ext cx="10210164" cy="6320169"/>
              </a:xfrm>
              <a:prstGeom prst="roundRect">
                <a:avLst/>
              </a:prstGeom>
              <a:solidFill>
                <a:srgbClr val="48AAA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r>
                  <a:rPr lang="en-US" sz="4000" dirty="0">
                    <a:solidFill>
                      <a:srgbClr val="F7F7F7"/>
                    </a:solidFill>
                    <a:latin typeface="+mn-lt"/>
                  </a:rPr>
                  <a:t>Satisfies the design criteria:</a:t>
                </a:r>
              </a:p>
              <a:p>
                <a:pPr marL="571500" indent="-571500">
                  <a:buFont typeface="Arial" panose="020B0604020202020204" pitchFamily="34" charset="0"/>
                  <a:buChar char="•"/>
                </a:pPr>
                <a:r>
                  <a:rPr lang="en-US" sz="4000" b="1" dirty="0">
                    <a:solidFill>
                      <a:srgbClr val="F7F7F7"/>
                    </a:solidFill>
                    <a:latin typeface="+mn-lt"/>
                  </a:rPr>
                  <a:t>Scenario 1</a:t>
                </a:r>
              </a:p>
              <a:p>
                <a14:m>
                  <m:oMathPara xmlns:m="http://schemas.openxmlformats.org/officeDocument/2006/math">
                    <m:oMathParaPr>
                      <m:jc m:val="centerGroup"/>
                    </m:oMathParaPr>
                    <m:oMath xmlns:m="http://schemas.openxmlformats.org/officeDocument/2006/math">
                      <m:sSub>
                        <m:sSubPr>
                          <m:ctrlPr>
                            <a:rPr lang="en-US" sz="4000" i="1">
                              <a:solidFill>
                                <a:srgbClr val="F7F7F7"/>
                              </a:solidFill>
                              <a:latin typeface="Cambria Math" panose="02040503050406030204" pitchFamily="18" charset="0"/>
                            </a:rPr>
                          </m:ctrlPr>
                        </m:sSubPr>
                        <m:e>
                          <m:r>
                            <m:rPr>
                              <m:sty m:val="p"/>
                            </m:rPr>
                            <a:rPr lang="en-US" sz="4000">
                              <a:solidFill>
                                <a:srgbClr val="F7F7F7"/>
                              </a:solidFill>
                              <a:latin typeface="Cambria Math" panose="02040503050406030204" pitchFamily="18" charset="0"/>
                            </a:rPr>
                            <m:t>p</m:t>
                          </m:r>
                        </m:e>
                        <m:sub>
                          <m:r>
                            <m:rPr>
                              <m:sty m:val="p"/>
                            </m:rPr>
                            <a:rPr lang="en-US" sz="4000">
                              <a:solidFill>
                                <a:srgbClr val="F7F7F7"/>
                              </a:solidFill>
                              <a:latin typeface="Cambria Math" panose="02040503050406030204" pitchFamily="18" charset="0"/>
                            </a:rPr>
                            <m:t>John</m:t>
                          </m:r>
                        </m:sub>
                      </m:sSub>
                      <m:r>
                        <a:rPr lang="en-US" sz="4000" b="0" i="1" smtClean="0">
                          <a:solidFill>
                            <a:srgbClr val="F7F7F7"/>
                          </a:solidFill>
                          <a:latin typeface="Cambria Math" panose="02040503050406030204" pitchFamily="18" charset="0"/>
                        </a:rPr>
                        <m:t>&lt;</m:t>
                      </m:r>
                      <m:r>
                        <a:rPr lang="en-US" sz="4000" i="1">
                          <a:solidFill>
                            <a:srgbClr val="F7F7F7"/>
                          </a:solidFill>
                          <a:latin typeface="Cambria Math" panose="02040503050406030204" pitchFamily="18" charset="0"/>
                        </a:rPr>
                        <m:t> </m:t>
                      </m:r>
                      <m:f>
                        <m:fPr>
                          <m:ctrlPr>
                            <a:rPr lang="en-US" sz="4000" i="1">
                              <a:solidFill>
                                <a:srgbClr val="F7F7F7"/>
                              </a:solidFill>
                              <a:latin typeface="Cambria Math" panose="02040503050406030204" pitchFamily="18" charset="0"/>
                            </a:rPr>
                          </m:ctrlPr>
                        </m:fPr>
                        <m:num>
                          <m:r>
                            <a:rPr lang="en-US" sz="4000" i="1">
                              <a:solidFill>
                                <a:srgbClr val="F7F7F7"/>
                              </a:solidFill>
                              <a:latin typeface="Cambria Math" panose="02040503050406030204" pitchFamily="18" charset="0"/>
                            </a:rPr>
                            <m:t>1</m:t>
                          </m:r>
                        </m:num>
                        <m:den>
                          <m:r>
                            <a:rPr lang="en-US" sz="4000" i="1">
                              <a:solidFill>
                                <a:srgbClr val="F7F7F7"/>
                              </a:solidFill>
                              <a:latin typeface="Cambria Math" panose="02040503050406030204" pitchFamily="18" charset="0"/>
                            </a:rPr>
                            <m:t>3</m:t>
                          </m:r>
                        </m:den>
                      </m:f>
                      <m:d>
                        <m:dPr>
                          <m:ctrlPr>
                            <a:rPr lang="en-US" sz="4000" i="1">
                              <a:solidFill>
                                <a:srgbClr val="F7F7F7"/>
                              </a:solidFill>
                              <a:latin typeface="Cambria Math" panose="02040503050406030204" pitchFamily="18" charset="0"/>
                            </a:rPr>
                          </m:ctrlPr>
                        </m:dPr>
                        <m:e>
                          <m:sSub>
                            <m:sSubPr>
                              <m:ctrlPr>
                                <a:rPr lang="en-US" sz="4000" i="1">
                                  <a:solidFill>
                                    <a:srgbClr val="F7F7F7"/>
                                  </a:solidFill>
                                  <a:latin typeface="Cambria Math" panose="02040503050406030204" pitchFamily="18" charset="0"/>
                                </a:rPr>
                              </m:ctrlPr>
                            </m:sSubPr>
                            <m:e>
                              <m:r>
                                <m:rPr>
                                  <m:sty m:val="p"/>
                                </m:rPr>
                                <a:rPr lang="en-US" sz="4000">
                                  <a:solidFill>
                                    <a:srgbClr val="F7F7F7"/>
                                  </a:solidFill>
                                  <a:latin typeface="Cambria Math" panose="02040503050406030204" pitchFamily="18" charset="0"/>
                                </a:rPr>
                                <m:t>p</m:t>
                              </m:r>
                            </m:e>
                            <m:sub>
                              <m:r>
                                <m:rPr>
                                  <m:sty m:val="p"/>
                                </m:rPr>
                                <a:rPr lang="en-US" sz="4000">
                                  <a:solidFill>
                                    <a:srgbClr val="F7F7F7"/>
                                  </a:solidFill>
                                  <a:latin typeface="Cambria Math" panose="02040503050406030204" pitchFamily="18" charset="0"/>
                                </a:rPr>
                                <m:t>Mary</m:t>
                              </m:r>
                            </m:sub>
                          </m:sSub>
                          <m:r>
                            <a:rPr lang="en-US" sz="4000" i="1">
                              <a:solidFill>
                                <a:srgbClr val="F7F7F7"/>
                              </a:solidFill>
                              <a:latin typeface="Cambria Math" panose="02040503050406030204" pitchFamily="18" charset="0"/>
                            </a:rPr>
                            <m:t>+</m:t>
                          </m:r>
                          <m:sSub>
                            <m:sSubPr>
                              <m:ctrlPr>
                                <a:rPr lang="en-US" sz="4000" i="1">
                                  <a:solidFill>
                                    <a:srgbClr val="F7F7F7"/>
                                  </a:solidFill>
                                  <a:latin typeface="Cambria Math" panose="02040503050406030204" pitchFamily="18" charset="0"/>
                                </a:rPr>
                              </m:ctrlPr>
                            </m:sSubPr>
                            <m:e>
                              <m:r>
                                <m:rPr>
                                  <m:sty m:val="p"/>
                                </m:rPr>
                                <a:rPr lang="en-US" sz="4000">
                                  <a:solidFill>
                                    <a:srgbClr val="F7F7F7"/>
                                  </a:solidFill>
                                  <a:latin typeface="Cambria Math" panose="02040503050406030204" pitchFamily="18" charset="0"/>
                                </a:rPr>
                                <m:t>p</m:t>
                              </m:r>
                            </m:e>
                            <m:sub>
                              <m:r>
                                <m:rPr>
                                  <m:sty m:val="p"/>
                                </m:rPr>
                                <a:rPr lang="en-US" sz="4000">
                                  <a:solidFill>
                                    <a:srgbClr val="F7F7F7"/>
                                  </a:solidFill>
                                  <a:latin typeface="Cambria Math" panose="02040503050406030204" pitchFamily="18" charset="0"/>
                                </a:rPr>
                                <m:t>Peter</m:t>
                              </m:r>
                            </m:sub>
                          </m:sSub>
                          <m:r>
                            <a:rPr lang="en-US" sz="4000" i="1">
                              <a:solidFill>
                                <a:srgbClr val="F7F7F7"/>
                              </a:solidFill>
                              <a:latin typeface="Cambria Math" panose="02040503050406030204" pitchFamily="18" charset="0"/>
                            </a:rPr>
                            <m:t>+</m:t>
                          </m:r>
                          <m:sSub>
                            <m:sSubPr>
                              <m:ctrlPr>
                                <a:rPr lang="en-US" sz="4000" i="1">
                                  <a:solidFill>
                                    <a:srgbClr val="F7F7F7"/>
                                  </a:solidFill>
                                  <a:latin typeface="Cambria Math" panose="02040503050406030204" pitchFamily="18" charset="0"/>
                                </a:rPr>
                              </m:ctrlPr>
                            </m:sSubPr>
                            <m:e>
                              <m:r>
                                <m:rPr>
                                  <m:sty m:val="p"/>
                                </m:rPr>
                                <a:rPr lang="en-US" sz="4000">
                                  <a:solidFill>
                                    <a:srgbClr val="F7F7F7"/>
                                  </a:solidFill>
                                  <a:latin typeface="Cambria Math" panose="02040503050406030204" pitchFamily="18" charset="0"/>
                                </a:rPr>
                                <m:t>p</m:t>
                              </m:r>
                            </m:e>
                            <m:sub>
                              <m:r>
                                <m:rPr>
                                  <m:sty m:val="p"/>
                                </m:rPr>
                                <a:rPr lang="en-US" sz="4000">
                                  <a:solidFill>
                                    <a:srgbClr val="F7F7F7"/>
                                  </a:solidFill>
                                  <a:latin typeface="Cambria Math" panose="02040503050406030204" pitchFamily="18" charset="0"/>
                                </a:rPr>
                                <m:t>Tom</m:t>
                              </m:r>
                            </m:sub>
                          </m:sSub>
                        </m:e>
                      </m:d>
                      <m:r>
                        <a:rPr lang="en-US" sz="4000" i="1">
                          <a:solidFill>
                            <a:srgbClr val="F7F7F7"/>
                          </a:solidFill>
                          <a:latin typeface="Cambria Math" panose="02040503050406030204" pitchFamily="18" charset="0"/>
                        </a:rPr>
                        <m:t>,</m:t>
                      </m:r>
                      <m:sSub>
                        <m:sSubPr>
                          <m:ctrlPr>
                            <a:rPr lang="en-US" sz="4000" i="1">
                              <a:solidFill>
                                <a:srgbClr val="F7F7F7"/>
                              </a:solidFill>
                              <a:latin typeface="Cambria Math" panose="02040503050406030204" pitchFamily="18" charset="0"/>
                            </a:rPr>
                          </m:ctrlPr>
                        </m:sSubPr>
                        <m:e>
                          <m:acc>
                            <m:accPr>
                              <m:chr m:val="̃"/>
                              <m:ctrlPr>
                                <a:rPr lang="en-US" sz="4000" i="1" smtClean="0">
                                  <a:solidFill>
                                    <a:srgbClr val="F7F7F7"/>
                                  </a:solidFill>
                                  <a:latin typeface="Cambria Math" panose="02040503050406030204" pitchFamily="18" charset="0"/>
                                </a:rPr>
                              </m:ctrlPr>
                            </m:accPr>
                            <m:e>
                              <m:r>
                                <a:rPr lang="en-US" sz="4000" b="0" i="1" smtClean="0">
                                  <a:solidFill>
                                    <a:srgbClr val="F7F7F7"/>
                                  </a:solidFill>
                                  <a:latin typeface="Cambria Math" panose="02040503050406030204" pitchFamily="18" charset="0"/>
                                </a:rPr>
                                <m:t>𝑈</m:t>
                              </m:r>
                            </m:e>
                          </m:acc>
                        </m:e>
                        <m:sub>
                          <m:r>
                            <m:rPr>
                              <m:sty m:val="p"/>
                            </m:rPr>
                            <a:rPr lang="en-US" sz="4000">
                              <a:solidFill>
                                <a:srgbClr val="F7F7F7"/>
                              </a:solidFill>
                              <a:latin typeface="Cambria Math" panose="02040503050406030204" pitchFamily="18" charset="0"/>
                            </a:rPr>
                            <m:t>John</m:t>
                          </m:r>
                        </m:sub>
                      </m:sSub>
                    </m:oMath>
                  </m:oMathPara>
                </a14:m>
                <a:endParaRPr lang="en-US" sz="4000" b="1" dirty="0">
                  <a:solidFill>
                    <a:srgbClr val="F7F7F7"/>
                  </a:solidFill>
                  <a:latin typeface="+mn-lt"/>
                </a:endParaRPr>
              </a:p>
              <a:p>
                <a:pPr marL="571500" indent="-571500">
                  <a:buFont typeface="Arial" panose="020B0604020202020204" pitchFamily="34" charset="0"/>
                  <a:buChar char="•"/>
                </a:pPr>
                <a:r>
                  <a:rPr lang="en-US" sz="4000" b="1" dirty="0">
                    <a:solidFill>
                      <a:srgbClr val="F7F7F7"/>
                    </a:solidFill>
                    <a:latin typeface="+mn-lt"/>
                  </a:rPr>
                  <a:t>Scenario 2</a:t>
                </a:r>
                <a:endParaRPr lang="en-US" sz="4000" dirty="0">
                  <a:solidFill>
                    <a:srgbClr val="F7F7F7"/>
                  </a:solidFill>
                  <a:latin typeface="+mn-lt"/>
                </a:endParaRPr>
              </a:p>
              <a:p>
                <a14:m>
                  <m:oMath xmlns:m="http://schemas.openxmlformats.org/officeDocument/2006/math">
                    <m:sSub>
                      <m:sSubPr>
                        <m:ctrlPr>
                          <a:rPr lang="en-US" sz="4000" i="1">
                            <a:solidFill>
                              <a:srgbClr val="F7F7F7"/>
                            </a:solidFill>
                            <a:latin typeface="Cambria Math" panose="02040503050406030204" pitchFamily="18" charset="0"/>
                          </a:rPr>
                        </m:ctrlPr>
                      </m:sSubPr>
                      <m:e>
                        <m:r>
                          <m:rPr>
                            <m:sty m:val="p"/>
                          </m:rPr>
                          <a:rPr lang="en-US" sz="4000">
                            <a:solidFill>
                              <a:srgbClr val="F7F7F7"/>
                            </a:solidFill>
                            <a:latin typeface="Cambria Math" panose="02040503050406030204" pitchFamily="18" charset="0"/>
                          </a:rPr>
                          <m:t>p</m:t>
                        </m:r>
                      </m:e>
                      <m:sub>
                        <m:r>
                          <m:rPr>
                            <m:sty m:val="p"/>
                          </m:rPr>
                          <a:rPr lang="en-US" sz="4000">
                            <a:solidFill>
                              <a:srgbClr val="F7F7F7"/>
                            </a:solidFill>
                            <a:latin typeface="Cambria Math" panose="02040503050406030204" pitchFamily="18" charset="0"/>
                          </a:rPr>
                          <m:t>John</m:t>
                        </m:r>
                      </m:sub>
                    </m:sSub>
                    <m:r>
                      <a:rPr lang="en-US" sz="4000" b="0" i="1" smtClean="0">
                        <a:solidFill>
                          <a:srgbClr val="F7F7F7"/>
                        </a:solidFill>
                        <a:latin typeface="Cambria Math" panose="02040503050406030204" pitchFamily="18" charset="0"/>
                      </a:rPr>
                      <m:t>&gt;</m:t>
                    </m:r>
                    <m:r>
                      <a:rPr lang="en-US" sz="4000" i="1">
                        <a:solidFill>
                          <a:srgbClr val="F7F7F7"/>
                        </a:solidFill>
                        <a:latin typeface="Cambria Math" panose="02040503050406030204" pitchFamily="18" charset="0"/>
                      </a:rPr>
                      <m:t> </m:t>
                    </m:r>
                    <m:f>
                      <m:fPr>
                        <m:ctrlPr>
                          <a:rPr lang="en-US" sz="4000" i="1">
                            <a:solidFill>
                              <a:srgbClr val="F7F7F7"/>
                            </a:solidFill>
                            <a:latin typeface="Cambria Math" panose="02040503050406030204" pitchFamily="18" charset="0"/>
                          </a:rPr>
                        </m:ctrlPr>
                      </m:fPr>
                      <m:num>
                        <m:r>
                          <a:rPr lang="en-US" sz="4000" i="1">
                            <a:solidFill>
                              <a:srgbClr val="F7F7F7"/>
                            </a:solidFill>
                            <a:latin typeface="Cambria Math" panose="02040503050406030204" pitchFamily="18" charset="0"/>
                          </a:rPr>
                          <m:t>1</m:t>
                        </m:r>
                      </m:num>
                      <m:den>
                        <m:r>
                          <a:rPr lang="en-US" sz="4000" i="1">
                            <a:solidFill>
                              <a:srgbClr val="F7F7F7"/>
                            </a:solidFill>
                            <a:latin typeface="Cambria Math" panose="02040503050406030204" pitchFamily="18" charset="0"/>
                          </a:rPr>
                          <m:t>3</m:t>
                        </m:r>
                      </m:den>
                    </m:f>
                    <m:d>
                      <m:dPr>
                        <m:ctrlPr>
                          <a:rPr lang="en-US" sz="4000" i="1">
                            <a:solidFill>
                              <a:srgbClr val="F7F7F7"/>
                            </a:solidFill>
                            <a:latin typeface="Cambria Math" panose="02040503050406030204" pitchFamily="18" charset="0"/>
                          </a:rPr>
                        </m:ctrlPr>
                      </m:dPr>
                      <m:e>
                        <m:sSub>
                          <m:sSubPr>
                            <m:ctrlPr>
                              <a:rPr lang="en-US" sz="4000" i="1">
                                <a:solidFill>
                                  <a:srgbClr val="F7F7F7"/>
                                </a:solidFill>
                                <a:latin typeface="Cambria Math" panose="02040503050406030204" pitchFamily="18" charset="0"/>
                              </a:rPr>
                            </m:ctrlPr>
                          </m:sSubPr>
                          <m:e>
                            <m:r>
                              <m:rPr>
                                <m:sty m:val="p"/>
                              </m:rPr>
                              <a:rPr lang="en-US" sz="4000">
                                <a:solidFill>
                                  <a:srgbClr val="F7F7F7"/>
                                </a:solidFill>
                                <a:latin typeface="Cambria Math" panose="02040503050406030204" pitchFamily="18" charset="0"/>
                              </a:rPr>
                              <m:t>p</m:t>
                            </m:r>
                          </m:e>
                          <m:sub>
                            <m:r>
                              <m:rPr>
                                <m:sty m:val="p"/>
                              </m:rPr>
                              <a:rPr lang="en-US" sz="4000">
                                <a:solidFill>
                                  <a:srgbClr val="F7F7F7"/>
                                </a:solidFill>
                                <a:latin typeface="Cambria Math" panose="02040503050406030204" pitchFamily="18" charset="0"/>
                              </a:rPr>
                              <m:t>Mary</m:t>
                            </m:r>
                          </m:sub>
                        </m:sSub>
                        <m:r>
                          <a:rPr lang="en-US" sz="4000" i="1">
                            <a:solidFill>
                              <a:srgbClr val="F7F7F7"/>
                            </a:solidFill>
                            <a:latin typeface="Cambria Math" panose="02040503050406030204" pitchFamily="18" charset="0"/>
                          </a:rPr>
                          <m:t>+</m:t>
                        </m:r>
                        <m:sSub>
                          <m:sSubPr>
                            <m:ctrlPr>
                              <a:rPr lang="en-US" sz="4000" i="1">
                                <a:solidFill>
                                  <a:srgbClr val="F7F7F7"/>
                                </a:solidFill>
                                <a:latin typeface="Cambria Math" panose="02040503050406030204" pitchFamily="18" charset="0"/>
                              </a:rPr>
                            </m:ctrlPr>
                          </m:sSubPr>
                          <m:e>
                            <m:r>
                              <m:rPr>
                                <m:sty m:val="p"/>
                              </m:rPr>
                              <a:rPr lang="en-US" sz="4000">
                                <a:solidFill>
                                  <a:srgbClr val="F7F7F7"/>
                                </a:solidFill>
                                <a:latin typeface="Cambria Math" panose="02040503050406030204" pitchFamily="18" charset="0"/>
                              </a:rPr>
                              <m:t>p</m:t>
                            </m:r>
                          </m:e>
                          <m:sub>
                            <m:r>
                              <m:rPr>
                                <m:sty m:val="p"/>
                              </m:rPr>
                              <a:rPr lang="en-US" sz="4000">
                                <a:solidFill>
                                  <a:srgbClr val="F7F7F7"/>
                                </a:solidFill>
                                <a:latin typeface="Cambria Math" panose="02040503050406030204" pitchFamily="18" charset="0"/>
                              </a:rPr>
                              <m:t>Peter</m:t>
                            </m:r>
                          </m:sub>
                        </m:sSub>
                        <m:r>
                          <a:rPr lang="en-US" sz="4000" i="1">
                            <a:solidFill>
                              <a:srgbClr val="F7F7F7"/>
                            </a:solidFill>
                            <a:latin typeface="Cambria Math" panose="02040503050406030204" pitchFamily="18" charset="0"/>
                          </a:rPr>
                          <m:t>+</m:t>
                        </m:r>
                        <m:sSub>
                          <m:sSubPr>
                            <m:ctrlPr>
                              <a:rPr lang="en-US" sz="4000" i="1">
                                <a:solidFill>
                                  <a:srgbClr val="F7F7F7"/>
                                </a:solidFill>
                                <a:latin typeface="Cambria Math" panose="02040503050406030204" pitchFamily="18" charset="0"/>
                              </a:rPr>
                            </m:ctrlPr>
                          </m:sSubPr>
                          <m:e>
                            <m:r>
                              <m:rPr>
                                <m:sty m:val="p"/>
                              </m:rPr>
                              <a:rPr lang="en-US" sz="4000">
                                <a:solidFill>
                                  <a:srgbClr val="F7F7F7"/>
                                </a:solidFill>
                                <a:latin typeface="Cambria Math" panose="02040503050406030204" pitchFamily="18" charset="0"/>
                              </a:rPr>
                              <m:t>p</m:t>
                            </m:r>
                          </m:e>
                          <m:sub>
                            <m:r>
                              <m:rPr>
                                <m:sty m:val="p"/>
                              </m:rPr>
                              <a:rPr lang="en-US" sz="4000">
                                <a:solidFill>
                                  <a:srgbClr val="F7F7F7"/>
                                </a:solidFill>
                                <a:latin typeface="Cambria Math" panose="02040503050406030204" pitchFamily="18" charset="0"/>
                              </a:rPr>
                              <m:t>Tom</m:t>
                            </m:r>
                          </m:sub>
                        </m:sSub>
                      </m:e>
                    </m:d>
                    <m:r>
                      <a:rPr lang="en-US" sz="4000" i="1">
                        <a:solidFill>
                          <a:srgbClr val="F7F7F7"/>
                        </a:solidFill>
                        <a:latin typeface="Cambria Math" panose="02040503050406030204" pitchFamily="18" charset="0"/>
                      </a:rPr>
                      <m:t>,</m:t>
                    </m:r>
                    <m:sSub>
                      <m:sSubPr>
                        <m:ctrlPr>
                          <a:rPr lang="en-US" sz="4000" i="1">
                            <a:solidFill>
                              <a:srgbClr val="F7F7F7"/>
                            </a:solidFill>
                            <a:latin typeface="Cambria Math" panose="02040503050406030204" pitchFamily="18" charset="0"/>
                          </a:rPr>
                        </m:ctrlPr>
                      </m:sSubPr>
                      <m:e>
                        <m:acc>
                          <m:accPr>
                            <m:chr m:val="̃"/>
                            <m:ctrlPr>
                              <a:rPr lang="en-US" sz="4000" i="1" smtClean="0">
                                <a:solidFill>
                                  <a:srgbClr val="F7F7F7"/>
                                </a:solidFill>
                                <a:latin typeface="Cambria Math" panose="02040503050406030204" pitchFamily="18" charset="0"/>
                              </a:rPr>
                            </m:ctrlPr>
                          </m:accPr>
                          <m:e>
                            <m:r>
                              <a:rPr lang="en-US" sz="4000" b="0" i="1" smtClean="0">
                                <a:solidFill>
                                  <a:srgbClr val="F7F7F7"/>
                                </a:solidFill>
                                <a:latin typeface="Cambria Math" panose="02040503050406030204" pitchFamily="18" charset="0"/>
                              </a:rPr>
                              <m:t>𝑈</m:t>
                            </m:r>
                          </m:e>
                        </m:acc>
                      </m:e>
                      <m:sub>
                        <m:r>
                          <m:rPr>
                            <m:sty m:val="p"/>
                          </m:rPr>
                          <a:rPr lang="en-US" sz="4000">
                            <a:solidFill>
                              <a:srgbClr val="F7F7F7"/>
                            </a:solidFill>
                            <a:latin typeface="Cambria Math" panose="02040503050406030204" pitchFamily="18" charset="0"/>
                          </a:rPr>
                          <m:t>John</m:t>
                        </m:r>
                      </m:sub>
                    </m:sSub>
                  </m:oMath>
                </a14:m>
                <a:r>
                  <a:rPr lang="en-US" sz="4000" baseline="-25000" dirty="0">
                    <a:solidFill>
                      <a:srgbClr val="F7F7F7"/>
                    </a:solidFill>
                    <a:latin typeface="+mn-lt"/>
                  </a:rPr>
                  <a:t>        </a:t>
                </a:r>
              </a:p>
            </p:txBody>
          </p:sp>
        </mc:Choice>
        <mc:Fallback>
          <p:sp>
            <p:nvSpPr>
              <p:cNvPr id="13" name="Rounded Rectangle 12">
                <a:extLst>
                  <a:ext uri="{FF2B5EF4-FFF2-40B4-BE49-F238E27FC236}">
                    <a16:creationId xmlns:a16="http://schemas.microsoft.com/office/drawing/2014/main" id="{A07BC19B-0F0C-409B-2051-43AD8420E551}"/>
                  </a:ext>
                </a:extLst>
              </p:cNvPr>
              <p:cNvSpPr>
                <a:spLocks noRot="1" noChangeAspect="1" noMove="1" noResize="1" noEditPoints="1" noAdjustHandles="1" noChangeArrowheads="1" noChangeShapeType="1" noTextEdit="1"/>
              </p:cNvSpPr>
              <p:nvPr/>
            </p:nvSpPr>
            <p:spPr>
              <a:xfrm>
                <a:off x="13208000" y="6585249"/>
                <a:ext cx="10210164" cy="6320169"/>
              </a:xfrm>
              <a:prstGeom prst="roundRect">
                <a:avLst/>
              </a:prstGeom>
              <a:blipFill>
                <a:blip r:embed="rId7"/>
                <a:stretch>
                  <a:fillRect/>
                </a:stretch>
              </a:blipFill>
              <a:ln w="12700" cap="flat">
                <a:noFill/>
                <a:miter lim="400000"/>
              </a:ln>
              <a:effectLst/>
            </p:spPr>
            <p:txBody>
              <a:bodyPr/>
              <a:lstStyle/>
              <a:p>
                <a:r>
                  <a:rPr lang="en-US">
                    <a:noFill/>
                  </a:rPr>
                  <a:t> </a:t>
                </a:r>
              </a:p>
            </p:txBody>
          </p:sp>
        </mc:Fallback>
      </mc:AlternateContent>
      <p:sp>
        <p:nvSpPr>
          <p:cNvPr id="2" name="Rectangle 1">
            <a:extLst>
              <a:ext uri="{FF2B5EF4-FFF2-40B4-BE49-F238E27FC236}">
                <a16:creationId xmlns:a16="http://schemas.microsoft.com/office/drawing/2014/main" id="{D02D9FEB-C99E-16ED-289E-5C2317C2AA8D}"/>
              </a:ext>
            </a:extLst>
          </p:cNvPr>
          <p:cNvSpPr/>
          <p:nvPr/>
        </p:nvSpPr>
        <p:spPr>
          <a:xfrm>
            <a:off x="23357840" y="12890036"/>
            <a:ext cx="822960" cy="6120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r" defTabSz="821531" rtl="0" fontAlgn="auto" latinLnBrk="0" hangingPunct="0">
              <a:lnSpc>
                <a:spcPct val="80000"/>
              </a:lnSpc>
              <a:spcBef>
                <a:spcPts val="0"/>
              </a:spcBef>
              <a:spcAft>
                <a:spcPts val="0"/>
              </a:spcAft>
              <a:buClrTx/>
              <a:buSzTx/>
              <a:buFontTx/>
              <a:buNone/>
              <a:tabLst/>
            </a:pPr>
            <a:r>
              <a:rPr lang="en-US" sz="3800" cap="all" dirty="0">
                <a:solidFill>
                  <a:srgbClr val="C52060"/>
                </a:solidFill>
                <a:latin typeface="+mj-lt"/>
                <a:ea typeface="DIN Condensed Bold"/>
                <a:cs typeface="DIN Condensed Bold"/>
                <a:sym typeface="DIN Condensed Bold"/>
              </a:rPr>
              <a:t>12</a:t>
            </a:r>
            <a:endParaRPr kumimoji="0" lang="en-US" sz="3800" b="0" i="0" u="none" strike="noStrike" cap="all" spc="0" normalizeH="0" baseline="0" dirty="0">
              <a:ln>
                <a:noFill/>
              </a:ln>
              <a:solidFill>
                <a:srgbClr val="C52060"/>
              </a:solidFill>
              <a:effectLst/>
              <a:uFillTx/>
              <a:latin typeface="+mj-lt"/>
              <a:ea typeface="DIN Condensed Bold"/>
              <a:cs typeface="DIN Condensed Bold"/>
              <a:sym typeface="DIN Condensed Bold"/>
            </a:endParaRPr>
          </a:p>
        </p:txBody>
      </p:sp>
      <mc:AlternateContent xmlns:mc="http://schemas.openxmlformats.org/markup-compatibility/2006">
        <mc:Choice xmlns:a14="http://schemas.microsoft.com/office/drawing/2010/main" Requires="a14">
          <p:sp>
            <p:nvSpPr>
              <p:cNvPr id="4" name="Rounded Rectangle 3">
                <a:extLst>
                  <a:ext uri="{FF2B5EF4-FFF2-40B4-BE49-F238E27FC236}">
                    <a16:creationId xmlns:a16="http://schemas.microsoft.com/office/drawing/2014/main" id="{313AFDCF-AF42-1BDF-BD4D-71988989CAD5}"/>
                  </a:ext>
                </a:extLst>
              </p:cNvPr>
              <p:cNvSpPr/>
              <p:nvPr/>
            </p:nvSpPr>
            <p:spPr>
              <a:xfrm>
                <a:off x="13208000" y="1906241"/>
                <a:ext cx="10210164" cy="4504140"/>
              </a:xfrm>
              <a:prstGeom prst="roundRect">
                <a:avLst/>
              </a:prstGeom>
              <a:solidFill>
                <a:srgbClr val="48AAA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a14:m>
                  <m:oMathPara xmlns:m="http://schemas.openxmlformats.org/officeDocument/2006/math">
                    <m:oMathParaPr>
                      <m:jc m:val="centerGroup"/>
                    </m:oMathParaPr>
                    <m:oMath xmlns:m="http://schemas.openxmlformats.org/officeDocument/2006/math">
                      <m:sSub>
                        <m:sSubPr>
                          <m:ctrlPr>
                            <a:rPr lang="en-US" sz="4000" i="1" smtClean="0">
                              <a:solidFill>
                                <a:srgbClr val="F7F7F7"/>
                              </a:solidFill>
                              <a:latin typeface="Cambria Math" panose="02040503050406030204" pitchFamily="18" charset="0"/>
                            </a:rPr>
                          </m:ctrlPr>
                        </m:sSubPr>
                        <m:e>
                          <m:r>
                            <m:rPr>
                              <m:sty m:val="p"/>
                            </m:rPr>
                            <a:rPr lang="en-US" sz="4000">
                              <a:solidFill>
                                <a:srgbClr val="F7F7F7"/>
                              </a:solidFill>
                              <a:latin typeface="Cambria Math" panose="02040503050406030204" pitchFamily="18" charset="0"/>
                            </a:rPr>
                            <m:t>U</m:t>
                          </m:r>
                        </m:e>
                        <m:sub>
                          <m:r>
                            <m:rPr>
                              <m:sty m:val="p"/>
                            </m:rPr>
                            <a:rPr lang="en-US" sz="4000">
                              <a:solidFill>
                                <a:srgbClr val="F7F7F7"/>
                              </a:solidFill>
                              <a:latin typeface="Cambria Math" panose="02040503050406030204" pitchFamily="18" charset="0"/>
                            </a:rPr>
                            <m:t>John</m:t>
                          </m:r>
                        </m:sub>
                      </m:sSub>
                      <m:r>
                        <a:rPr lang="en-US" sz="4000" b="0" i="1" smtClean="0">
                          <a:solidFill>
                            <a:srgbClr val="F7F7F7"/>
                          </a:solidFill>
                          <a:latin typeface="Cambria Math" panose="02040503050406030204" pitchFamily="18" charset="0"/>
                        </a:rPr>
                        <m:t>= </m:t>
                      </m:r>
                      <m:sSub>
                        <m:sSubPr>
                          <m:ctrlPr>
                            <a:rPr lang="en-US" sz="4000" b="0" i="1" smtClean="0">
                              <a:solidFill>
                                <a:srgbClr val="F7F7F7"/>
                              </a:solidFill>
                              <a:latin typeface="Cambria Math" panose="02040503050406030204" pitchFamily="18" charset="0"/>
                            </a:rPr>
                          </m:ctrlPr>
                        </m:sSubPr>
                        <m:e>
                          <m:r>
                            <m:rPr>
                              <m:sty m:val="p"/>
                            </m:rPr>
                            <a:rPr lang="en-US" sz="4000" b="0" i="0" smtClean="0">
                              <a:solidFill>
                                <a:srgbClr val="F7F7F7"/>
                              </a:solidFill>
                              <a:latin typeface="Cambria Math" panose="02040503050406030204" pitchFamily="18" charset="0"/>
                            </a:rPr>
                            <m:t>p</m:t>
                          </m:r>
                        </m:e>
                        <m:sub>
                          <m:r>
                            <m:rPr>
                              <m:sty m:val="p"/>
                            </m:rPr>
                            <a:rPr lang="en-US" sz="4000" b="0" i="0" smtClean="0">
                              <a:solidFill>
                                <a:srgbClr val="F7F7F7"/>
                              </a:solidFill>
                              <a:latin typeface="Cambria Math" panose="02040503050406030204" pitchFamily="18" charset="0"/>
                            </a:rPr>
                            <m:t>John</m:t>
                          </m:r>
                        </m:sub>
                      </m:sSub>
                      <m:r>
                        <a:rPr lang="en-US" sz="4000" b="0" i="1" smtClean="0">
                          <a:solidFill>
                            <a:srgbClr val="F7F7F7"/>
                          </a:solidFill>
                          <a:latin typeface="Cambria Math" panose="02040503050406030204" pitchFamily="18" charset="0"/>
                        </a:rPr>
                        <m:t>− </m:t>
                      </m:r>
                      <m:f>
                        <m:fPr>
                          <m:ctrlPr>
                            <a:rPr lang="en-US" sz="4000" b="0" i="1" smtClean="0">
                              <a:solidFill>
                                <a:srgbClr val="F7F7F7"/>
                              </a:solidFill>
                              <a:latin typeface="Cambria Math" panose="02040503050406030204" pitchFamily="18" charset="0"/>
                            </a:rPr>
                          </m:ctrlPr>
                        </m:fPr>
                        <m:num>
                          <m:r>
                            <a:rPr lang="en-US" sz="4000" b="0" i="1" smtClean="0">
                              <a:solidFill>
                                <a:srgbClr val="F7F7F7"/>
                              </a:solidFill>
                              <a:latin typeface="Cambria Math" panose="02040503050406030204" pitchFamily="18" charset="0"/>
                            </a:rPr>
                            <m:t>1</m:t>
                          </m:r>
                        </m:num>
                        <m:den>
                          <m:r>
                            <a:rPr lang="en-US" sz="4000" b="0" i="1" smtClean="0">
                              <a:solidFill>
                                <a:srgbClr val="F7F7F7"/>
                              </a:solidFill>
                              <a:latin typeface="Cambria Math" panose="02040503050406030204" pitchFamily="18" charset="0"/>
                            </a:rPr>
                            <m:t>3</m:t>
                          </m:r>
                        </m:den>
                      </m:f>
                      <m:d>
                        <m:dPr>
                          <m:ctrlPr>
                            <a:rPr lang="en-US" sz="4000" b="0" i="1" smtClean="0">
                              <a:solidFill>
                                <a:srgbClr val="F7F7F7"/>
                              </a:solidFill>
                              <a:latin typeface="Cambria Math" panose="02040503050406030204" pitchFamily="18" charset="0"/>
                            </a:rPr>
                          </m:ctrlPr>
                        </m:dPr>
                        <m:e>
                          <m:sSub>
                            <m:sSubPr>
                              <m:ctrlPr>
                                <a:rPr lang="en-US" sz="4000" i="1" smtClean="0">
                                  <a:solidFill>
                                    <a:srgbClr val="F7F7F7"/>
                                  </a:solidFill>
                                  <a:latin typeface="Cambria Math" panose="02040503050406030204" pitchFamily="18" charset="0"/>
                                </a:rPr>
                              </m:ctrlPr>
                            </m:sSubPr>
                            <m:e>
                              <m:r>
                                <m:rPr>
                                  <m:sty m:val="p"/>
                                </m:rPr>
                                <a:rPr lang="en-US" sz="4000">
                                  <a:solidFill>
                                    <a:srgbClr val="F7F7F7"/>
                                  </a:solidFill>
                                  <a:latin typeface="Cambria Math" panose="02040503050406030204" pitchFamily="18" charset="0"/>
                                </a:rPr>
                                <m:t>p</m:t>
                              </m:r>
                            </m:e>
                            <m:sub>
                              <m:r>
                                <m:rPr>
                                  <m:sty m:val="p"/>
                                </m:rPr>
                                <a:rPr lang="en-US" sz="4000" b="0" i="0" smtClean="0">
                                  <a:solidFill>
                                    <a:srgbClr val="F7F7F7"/>
                                  </a:solidFill>
                                  <a:latin typeface="Cambria Math" panose="02040503050406030204" pitchFamily="18" charset="0"/>
                                </a:rPr>
                                <m:t>Mary</m:t>
                              </m:r>
                            </m:sub>
                          </m:sSub>
                          <m:r>
                            <a:rPr lang="en-US" sz="4000" b="0" i="1" smtClean="0">
                              <a:solidFill>
                                <a:srgbClr val="F7F7F7"/>
                              </a:solidFill>
                              <a:latin typeface="Cambria Math" panose="02040503050406030204" pitchFamily="18" charset="0"/>
                            </a:rPr>
                            <m:t>+</m:t>
                          </m:r>
                          <m:sSub>
                            <m:sSubPr>
                              <m:ctrlPr>
                                <a:rPr lang="en-US" sz="4000" i="1">
                                  <a:solidFill>
                                    <a:srgbClr val="F7F7F7"/>
                                  </a:solidFill>
                                  <a:latin typeface="Cambria Math" panose="02040503050406030204" pitchFamily="18" charset="0"/>
                                </a:rPr>
                              </m:ctrlPr>
                            </m:sSubPr>
                            <m:e>
                              <m:r>
                                <m:rPr>
                                  <m:sty m:val="p"/>
                                </m:rPr>
                                <a:rPr lang="en-US" sz="4000">
                                  <a:solidFill>
                                    <a:srgbClr val="F7F7F7"/>
                                  </a:solidFill>
                                  <a:latin typeface="Cambria Math" panose="02040503050406030204" pitchFamily="18" charset="0"/>
                                </a:rPr>
                                <m:t>p</m:t>
                              </m:r>
                            </m:e>
                            <m:sub>
                              <m:r>
                                <m:rPr>
                                  <m:sty m:val="p"/>
                                </m:rPr>
                                <a:rPr lang="en-US" sz="4000" b="0" i="0" smtClean="0">
                                  <a:solidFill>
                                    <a:srgbClr val="F7F7F7"/>
                                  </a:solidFill>
                                  <a:latin typeface="Cambria Math" panose="02040503050406030204" pitchFamily="18" charset="0"/>
                                </a:rPr>
                                <m:t>Peter</m:t>
                              </m:r>
                            </m:sub>
                          </m:sSub>
                          <m:r>
                            <a:rPr lang="en-US" sz="4000" b="0" i="1" smtClean="0">
                              <a:solidFill>
                                <a:srgbClr val="F7F7F7"/>
                              </a:solidFill>
                              <a:latin typeface="Cambria Math" panose="02040503050406030204" pitchFamily="18" charset="0"/>
                            </a:rPr>
                            <m:t>+</m:t>
                          </m:r>
                          <m:sSub>
                            <m:sSubPr>
                              <m:ctrlPr>
                                <a:rPr lang="en-US" sz="4000" i="1">
                                  <a:solidFill>
                                    <a:srgbClr val="F7F7F7"/>
                                  </a:solidFill>
                                  <a:latin typeface="Cambria Math" panose="02040503050406030204" pitchFamily="18" charset="0"/>
                                </a:rPr>
                              </m:ctrlPr>
                            </m:sSubPr>
                            <m:e>
                              <m:r>
                                <m:rPr>
                                  <m:sty m:val="p"/>
                                </m:rPr>
                                <a:rPr lang="en-US" sz="4000">
                                  <a:solidFill>
                                    <a:srgbClr val="F7F7F7"/>
                                  </a:solidFill>
                                  <a:latin typeface="Cambria Math" panose="02040503050406030204" pitchFamily="18" charset="0"/>
                                </a:rPr>
                                <m:t>p</m:t>
                              </m:r>
                            </m:e>
                            <m:sub>
                              <m:r>
                                <m:rPr>
                                  <m:sty m:val="p"/>
                                </m:rPr>
                                <a:rPr lang="en-US" sz="4000" b="0" i="0" smtClean="0">
                                  <a:solidFill>
                                    <a:srgbClr val="F7F7F7"/>
                                  </a:solidFill>
                                  <a:latin typeface="Cambria Math" panose="02040503050406030204" pitchFamily="18" charset="0"/>
                                </a:rPr>
                                <m:t>Tom</m:t>
                              </m:r>
                            </m:sub>
                          </m:sSub>
                        </m:e>
                      </m:d>
                      <m:r>
                        <a:rPr lang="en-US" sz="4000" i="1">
                          <a:solidFill>
                            <a:srgbClr val="F7F7F7"/>
                          </a:solidFill>
                          <a:latin typeface="Cambria Math" panose="02040503050406030204" pitchFamily="18" charset="0"/>
                        </a:rPr>
                        <m:t> </m:t>
                      </m:r>
                    </m:oMath>
                  </m:oMathPara>
                </a14:m>
                <a:endParaRPr lang="en-US" sz="4000" dirty="0">
                  <a:solidFill>
                    <a:srgbClr val="F7F7F7"/>
                  </a:solidFill>
                  <a:latin typeface="+mn-lt"/>
                </a:endParaRPr>
              </a:p>
              <a:p>
                <a:r>
                  <a:rPr lang="en-US" sz="4000" dirty="0">
                    <a:solidFill>
                      <a:srgbClr val="F7F7F7"/>
                    </a:solidFill>
                    <a:latin typeface="+mn-lt"/>
                  </a:rPr>
                  <a:t>where p</a:t>
                </a:r>
                <a:r>
                  <a:rPr lang="en-US" sz="4000" baseline="-25000" dirty="0">
                    <a:solidFill>
                      <a:srgbClr val="F7F7F7"/>
                    </a:solidFill>
                    <a:latin typeface="+mn-lt"/>
                  </a:rPr>
                  <a:t>i</a:t>
                </a:r>
                <a:r>
                  <a:rPr lang="en-US" sz="4000" dirty="0">
                    <a:solidFill>
                      <a:srgbClr val="F7F7F7"/>
                    </a:solidFill>
                    <a:latin typeface="+mn-lt"/>
                  </a:rPr>
                  <a:t> is the </a:t>
                </a:r>
                <a:r>
                  <a:rPr lang="en-US" sz="4000" b="1" dirty="0">
                    <a:solidFill>
                      <a:srgbClr val="F7F7F7"/>
                    </a:solidFill>
                    <a:latin typeface="+mn-lt"/>
                  </a:rPr>
                  <a:t>probability of positive outcome </a:t>
                </a:r>
                <a:r>
                  <a:rPr lang="en-US" sz="4000" dirty="0">
                    <a:solidFill>
                      <a:srgbClr val="F7F7F7"/>
                    </a:solidFill>
                    <a:latin typeface="+mn-lt"/>
                  </a:rPr>
                  <a:t>of patient </a:t>
                </a:r>
                <a:r>
                  <a:rPr lang="en-US" sz="4000" dirty="0" err="1">
                    <a:solidFill>
                      <a:srgbClr val="F7F7F7"/>
                    </a:solidFill>
                    <a:latin typeface="+mn-lt"/>
                  </a:rPr>
                  <a:t>i</a:t>
                </a:r>
                <a:r>
                  <a:rPr lang="en-US" sz="4000" dirty="0">
                    <a:solidFill>
                      <a:srgbClr val="F7F7F7"/>
                    </a:solidFill>
                    <a:latin typeface="+mn-lt"/>
                  </a:rPr>
                  <a:t> </a:t>
                </a:r>
              </a:p>
              <a:p>
                <a:r>
                  <a:rPr lang="en-US" sz="4000" dirty="0">
                    <a:solidFill>
                      <a:srgbClr val="F7F7F7"/>
                    </a:solidFill>
                    <a:latin typeface="+mn-lt"/>
                  </a:rPr>
                  <a:t>We normalize: </a:t>
                </a:r>
                <a14:m>
                  <m:oMath xmlns:m="http://schemas.openxmlformats.org/officeDocument/2006/math">
                    <m:sSub>
                      <m:sSubPr>
                        <m:ctrlPr>
                          <a:rPr lang="en-US" sz="4000" i="1">
                            <a:solidFill>
                              <a:srgbClr val="F7F7F7"/>
                            </a:solidFill>
                            <a:latin typeface="Cambria Math" panose="02040503050406030204" pitchFamily="18" charset="0"/>
                          </a:rPr>
                        </m:ctrlPr>
                      </m:sSubPr>
                      <m:e>
                        <m:r>
                          <a:rPr lang="en-US" sz="4000">
                            <a:solidFill>
                              <a:srgbClr val="F7F7F7"/>
                            </a:solidFill>
                            <a:latin typeface="Cambria Math" panose="02040503050406030204" pitchFamily="18" charset="0"/>
                          </a:rPr>
                          <m:t>0 </m:t>
                        </m:r>
                        <m:r>
                          <a:rPr lang="en-US" sz="4000" i="1">
                            <a:solidFill>
                              <a:srgbClr val="F7F7F7"/>
                            </a:solidFill>
                            <a:latin typeface="Cambria Math" panose="02040503050406030204" pitchFamily="18" charset="0"/>
                            <a:ea typeface="Cambria Math" panose="02040503050406030204" pitchFamily="18" charset="0"/>
                          </a:rPr>
                          <m:t>≤</m:t>
                        </m:r>
                        <m:acc>
                          <m:accPr>
                            <m:chr m:val="̃"/>
                            <m:ctrlPr>
                              <a:rPr lang="en-US" sz="4000" i="1">
                                <a:solidFill>
                                  <a:srgbClr val="F7F7F7"/>
                                </a:solidFill>
                                <a:latin typeface="Cambria Math" panose="02040503050406030204" pitchFamily="18" charset="0"/>
                                <a:ea typeface="Cambria Math" panose="02040503050406030204" pitchFamily="18" charset="0"/>
                              </a:rPr>
                            </m:ctrlPr>
                          </m:accPr>
                          <m:e>
                            <m:r>
                              <a:rPr lang="en-US" sz="4000" i="1">
                                <a:solidFill>
                                  <a:srgbClr val="F7F7F7"/>
                                </a:solidFill>
                                <a:latin typeface="Cambria Math" panose="02040503050406030204" pitchFamily="18" charset="0"/>
                                <a:ea typeface="Cambria Math" panose="02040503050406030204" pitchFamily="18" charset="0"/>
                              </a:rPr>
                              <m:t>𝑈</m:t>
                            </m:r>
                          </m:e>
                        </m:acc>
                      </m:e>
                      <m:sub>
                        <m:r>
                          <m:rPr>
                            <m:sty m:val="p"/>
                          </m:rPr>
                          <a:rPr lang="en-US" sz="4000">
                            <a:solidFill>
                              <a:srgbClr val="F7F7F7"/>
                            </a:solidFill>
                            <a:latin typeface="Cambria Math" panose="02040503050406030204" pitchFamily="18" charset="0"/>
                          </a:rPr>
                          <m:t>John</m:t>
                        </m:r>
                      </m:sub>
                    </m:sSub>
                    <m:r>
                      <a:rPr lang="en-US" sz="4000" i="1">
                        <a:solidFill>
                          <a:srgbClr val="F7F7F7"/>
                        </a:solidFill>
                        <a:latin typeface="Cambria Math" panose="02040503050406030204" pitchFamily="18" charset="0"/>
                        <a:ea typeface="Cambria Math" panose="02040503050406030204" pitchFamily="18" charset="0"/>
                      </a:rPr>
                      <m:t>≤1</m:t>
                    </m:r>
                  </m:oMath>
                </a14:m>
                <a:endParaRPr lang="en-US" sz="4000" dirty="0">
                  <a:solidFill>
                    <a:srgbClr val="F7F7F7"/>
                  </a:solidFill>
                  <a:latin typeface="+mn-lt"/>
                </a:endParaRPr>
              </a:p>
            </p:txBody>
          </p:sp>
        </mc:Choice>
        <mc:Fallback>
          <p:sp>
            <p:nvSpPr>
              <p:cNvPr id="4" name="Rounded Rectangle 3">
                <a:extLst>
                  <a:ext uri="{FF2B5EF4-FFF2-40B4-BE49-F238E27FC236}">
                    <a16:creationId xmlns:a16="http://schemas.microsoft.com/office/drawing/2014/main" id="{313AFDCF-AF42-1BDF-BD4D-71988989CAD5}"/>
                  </a:ext>
                </a:extLst>
              </p:cNvPr>
              <p:cNvSpPr>
                <a:spLocks noRot="1" noChangeAspect="1" noMove="1" noResize="1" noEditPoints="1" noAdjustHandles="1" noChangeArrowheads="1" noChangeShapeType="1" noTextEdit="1"/>
              </p:cNvSpPr>
              <p:nvPr/>
            </p:nvSpPr>
            <p:spPr>
              <a:xfrm>
                <a:off x="13208000" y="1906241"/>
                <a:ext cx="10210164" cy="4504140"/>
              </a:xfrm>
              <a:prstGeom prst="roundRect">
                <a:avLst/>
              </a:prstGeom>
              <a:blipFill>
                <a:blip r:embed="rId8"/>
                <a:stretch>
                  <a:fillRect l="-248"/>
                </a:stretch>
              </a:blipFill>
              <a:ln w="12700" cap="flat">
                <a:noFill/>
                <a:miter lim="400000"/>
              </a:ln>
              <a:effectLst/>
            </p:spPr>
            <p:txBody>
              <a:bodyPr/>
              <a:lstStyle/>
              <a:p>
                <a:r>
                  <a:rPr lang="en-US">
                    <a:noFill/>
                  </a:rPr>
                  <a:t> </a:t>
                </a:r>
              </a:p>
            </p:txBody>
          </p:sp>
        </mc:Fallback>
      </mc:AlternateContent>
      <p:sp>
        <p:nvSpPr>
          <p:cNvPr id="9" name="Up Arrow 8">
            <a:extLst>
              <a:ext uri="{FF2B5EF4-FFF2-40B4-BE49-F238E27FC236}">
                <a16:creationId xmlns:a16="http://schemas.microsoft.com/office/drawing/2014/main" id="{AE0FF253-D6F6-DFAC-BF64-0A3FD41B993D}"/>
              </a:ext>
            </a:extLst>
          </p:cNvPr>
          <p:cNvSpPr/>
          <p:nvPr/>
        </p:nvSpPr>
        <p:spPr>
          <a:xfrm>
            <a:off x="22459105" y="11832408"/>
            <a:ext cx="265176" cy="411480"/>
          </a:xfrm>
          <a:prstGeom prst="upArrow">
            <a:avLst/>
          </a:prstGeom>
          <a:solidFill>
            <a:srgbClr val="F7F7F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a:ln>
                <a:noFill/>
              </a:ln>
              <a:solidFill>
                <a:srgbClr val="FFFFFF"/>
              </a:solidFill>
              <a:effectLst/>
              <a:uFillTx/>
              <a:latin typeface="DIN Condensed Bold"/>
              <a:ea typeface="DIN Condensed Bold"/>
              <a:cs typeface="DIN Condensed Bold"/>
              <a:sym typeface="DIN Condensed Bold"/>
            </a:endParaRPr>
          </a:p>
        </p:txBody>
      </p:sp>
      <p:sp>
        <p:nvSpPr>
          <p:cNvPr id="11" name="Down Arrow 10">
            <a:extLst>
              <a:ext uri="{FF2B5EF4-FFF2-40B4-BE49-F238E27FC236}">
                <a16:creationId xmlns:a16="http://schemas.microsoft.com/office/drawing/2014/main" id="{AD1BEF08-2134-0FE5-82EA-3026C2B8C244}"/>
              </a:ext>
            </a:extLst>
          </p:cNvPr>
          <p:cNvSpPr/>
          <p:nvPr/>
        </p:nvSpPr>
        <p:spPr>
          <a:xfrm>
            <a:off x="22873137" y="9520032"/>
            <a:ext cx="264160" cy="414792"/>
          </a:xfrm>
          <a:prstGeom prst="downArrow">
            <a:avLst/>
          </a:prstGeom>
          <a:solidFill>
            <a:srgbClr val="F7F7F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a:ln>
                <a:noFill/>
              </a:ln>
              <a:solidFill>
                <a:srgbClr val="FFFFFF"/>
              </a:solidFill>
              <a:effectLst/>
              <a:uFillTx/>
              <a:latin typeface="DIN Condensed Bold"/>
              <a:ea typeface="DIN Condensed Bold"/>
              <a:cs typeface="DIN Condensed Bold"/>
              <a:sym typeface="DIN Condensed Bold"/>
            </a:endParaRPr>
          </a:p>
        </p:txBody>
      </p:sp>
    </p:spTree>
    <p:extLst>
      <p:ext uri="{BB962C8B-B14F-4D97-AF65-F5344CB8AC3E}">
        <p14:creationId xmlns:p14="http://schemas.microsoft.com/office/powerpoint/2010/main" val="336250359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allAtOnce" animBg="1"/>
      <p:bldP spid="9"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7CAFE-6F68-C9F9-AB05-C4A112BCE828}"/>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E67A2EB5-AC45-BD76-2CE8-3FEAE2E327AE}"/>
              </a:ext>
            </a:extLst>
          </p:cNvPr>
          <p:cNvGraphicFramePr>
            <a:graphicFrameLocks noGrp="1"/>
          </p:cNvGraphicFramePr>
          <p:nvPr>
            <p:extLst>
              <p:ext uri="{D42A27DB-BD31-4B8C-83A1-F6EECF244321}">
                <p14:modId xmlns:p14="http://schemas.microsoft.com/office/powerpoint/2010/main" val="2320573804"/>
              </p:ext>
            </p:extLst>
          </p:nvPr>
        </p:nvGraphicFramePr>
        <p:xfrm>
          <a:off x="2159000" y="3560511"/>
          <a:ext cx="10033000" cy="8992537"/>
        </p:xfrm>
        <a:graphic>
          <a:graphicData uri="http://schemas.openxmlformats.org/drawingml/2006/table">
            <a:tbl>
              <a:tblPr firstRow="1" bandRow="1">
                <a:tableStyleId>{5940675A-B579-460E-94D1-54222C63F5DA}</a:tableStyleId>
              </a:tblPr>
              <a:tblGrid>
                <a:gridCol w="5016500">
                  <a:extLst>
                    <a:ext uri="{9D8B030D-6E8A-4147-A177-3AD203B41FA5}">
                      <a16:colId xmlns:a16="http://schemas.microsoft.com/office/drawing/2014/main" val="3399294042"/>
                    </a:ext>
                  </a:extLst>
                </a:gridCol>
                <a:gridCol w="5016500">
                  <a:extLst>
                    <a:ext uri="{9D8B030D-6E8A-4147-A177-3AD203B41FA5}">
                      <a16:colId xmlns:a16="http://schemas.microsoft.com/office/drawing/2014/main" val="1451783524"/>
                    </a:ext>
                  </a:extLst>
                </a:gridCol>
              </a:tblGrid>
              <a:tr h="2361489">
                <a:tc gridSpan="2">
                  <a:txBody>
                    <a:bodyPr/>
                    <a:lstStyle/>
                    <a:p>
                      <a:endParaRPr lang="en-US" dirty="0">
                        <a:solidFill>
                          <a:schemeClr val="bg1"/>
                        </a:solidFill>
                      </a:endParaRPr>
                    </a:p>
                  </a:txBody>
                  <a:tcPr>
                    <a:solidFill>
                      <a:schemeClr val="tx1">
                        <a:lumMod val="20000"/>
                        <a:lumOff val="80000"/>
                      </a:schemeClr>
                    </a:solidFill>
                  </a:tcPr>
                </a:tc>
                <a:tc hMerge="1">
                  <a:txBody>
                    <a:bodyPr/>
                    <a:lstStyle/>
                    <a:p>
                      <a:endParaRPr lang="en-US" dirty="0">
                        <a:solidFill>
                          <a:schemeClr val="bg1"/>
                        </a:solidFill>
                      </a:endParaRPr>
                    </a:p>
                  </a:txBody>
                  <a:tcPr>
                    <a:solidFill>
                      <a:schemeClr val="tx1">
                        <a:lumMod val="20000"/>
                        <a:lumOff val="80000"/>
                      </a:schemeClr>
                    </a:solidFill>
                  </a:tcPr>
                </a:tc>
                <a:extLst>
                  <a:ext uri="{0D108BD9-81ED-4DB2-BD59-A6C34878D82A}">
                    <a16:rowId xmlns:a16="http://schemas.microsoft.com/office/drawing/2014/main" val="2676565202"/>
                  </a:ext>
                </a:extLst>
              </a:tr>
              <a:tr h="236220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74986606"/>
                  </a:ext>
                </a:extLst>
              </a:tr>
              <a:tr h="4268848">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7544094"/>
                  </a:ext>
                </a:extLst>
              </a:tr>
            </a:tbl>
          </a:graphicData>
        </a:graphic>
      </p:graphicFrame>
      <p:sp>
        <p:nvSpPr>
          <p:cNvPr id="3" name="Title 2">
            <a:extLst>
              <a:ext uri="{FF2B5EF4-FFF2-40B4-BE49-F238E27FC236}">
                <a16:creationId xmlns:a16="http://schemas.microsoft.com/office/drawing/2014/main" id="{C3DE931C-3C94-7A32-01C4-30C72E344E50}"/>
              </a:ext>
            </a:extLst>
          </p:cNvPr>
          <p:cNvSpPr>
            <a:spLocks noGrp="1"/>
          </p:cNvSpPr>
          <p:nvPr>
            <p:ph type="title"/>
          </p:nvPr>
        </p:nvSpPr>
        <p:spPr>
          <a:xfrm>
            <a:off x="1171654" y="2121311"/>
            <a:ext cx="19006106" cy="1017985"/>
          </a:xfrm>
        </p:spPr>
        <p:txBody>
          <a:bodyPr>
            <a:normAutofit/>
          </a:bodyPr>
          <a:lstStyle/>
          <a:p>
            <a:r>
              <a:rPr lang="en-US" sz="4400" dirty="0">
                <a:solidFill>
                  <a:srgbClr val="C00000"/>
                </a:solidFill>
              </a:rPr>
              <a:t>Calculating U</a:t>
            </a:r>
          </a:p>
        </p:txBody>
      </p:sp>
      <p:pic>
        <p:nvPicPr>
          <p:cNvPr id="7" name="Picture 6">
            <a:extLst>
              <a:ext uri="{FF2B5EF4-FFF2-40B4-BE49-F238E27FC236}">
                <a16:creationId xmlns:a16="http://schemas.microsoft.com/office/drawing/2014/main" id="{184F2E10-595F-FD68-E369-8D52EDF56D52}"/>
              </a:ext>
            </a:extLst>
          </p:cNvPr>
          <p:cNvPicPr>
            <a:picLocks noChangeAspect="1"/>
          </p:cNvPicPr>
          <p:nvPr/>
        </p:nvPicPr>
        <p:blipFill>
          <a:blip r:embed="rId2"/>
          <a:stretch>
            <a:fillRect/>
          </a:stretch>
        </p:blipFill>
        <p:spPr>
          <a:xfrm>
            <a:off x="3937000" y="6317618"/>
            <a:ext cx="1625600" cy="1625600"/>
          </a:xfrm>
          <a:prstGeom prst="rect">
            <a:avLst/>
          </a:prstGeom>
        </p:spPr>
      </p:pic>
      <p:pic>
        <p:nvPicPr>
          <p:cNvPr id="8" name="Picture 7">
            <a:extLst>
              <a:ext uri="{FF2B5EF4-FFF2-40B4-BE49-F238E27FC236}">
                <a16:creationId xmlns:a16="http://schemas.microsoft.com/office/drawing/2014/main" id="{3CBA6CA0-CE0B-46EF-1E58-42688A1D24B5}"/>
              </a:ext>
            </a:extLst>
          </p:cNvPr>
          <p:cNvPicPr>
            <a:picLocks noChangeAspect="1"/>
          </p:cNvPicPr>
          <p:nvPr/>
        </p:nvPicPr>
        <p:blipFill>
          <a:blip r:embed="rId3"/>
          <a:stretch>
            <a:fillRect/>
          </a:stretch>
        </p:blipFill>
        <p:spPr>
          <a:xfrm>
            <a:off x="8930894" y="6221432"/>
            <a:ext cx="1625600" cy="1625600"/>
          </a:xfrm>
          <a:prstGeom prst="rect">
            <a:avLst/>
          </a:prstGeom>
        </p:spPr>
      </p:pic>
      <p:pic>
        <p:nvPicPr>
          <p:cNvPr id="49" name="Picture 48">
            <a:extLst>
              <a:ext uri="{FF2B5EF4-FFF2-40B4-BE49-F238E27FC236}">
                <a16:creationId xmlns:a16="http://schemas.microsoft.com/office/drawing/2014/main" id="{10BBA775-D35E-2112-BF43-52AD096360F4}"/>
              </a:ext>
            </a:extLst>
          </p:cNvPr>
          <p:cNvPicPr>
            <a:picLocks noChangeAspect="1"/>
          </p:cNvPicPr>
          <p:nvPr/>
        </p:nvPicPr>
        <p:blipFill>
          <a:blip r:embed="rId4"/>
          <a:stretch>
            <a:fillRect/>
          </a:stretch>
        </p:blipFill>
        <p:spPr>
          <a:xfrm>
            <a:off x="8133439" y="10102901"/>
            <a:ext cx="1536737" cy="1536737"/>
          </a:xfrm>
          <a:prstGeom prst="rect">
            <a:avLst/>
          </a:prstGeom>
        </p:spPr>
      </p:pic>
      <p:pic>
        <p:nvPicPr>
          <p:cNvPr id="50" name="Picture 49">
            <a:extLst>
              <a:ext uri="{FF2B5EF4-FFF2-40B4-BE49-F238E27FC236}">
                <a16:creationId xmlns:a16="http://schemas.microsoft.com/office/drawing/2014/main" id="{482A355A-7173-23EA-8DF6-B71BC33C3F0A}"/>
              </a:ext>
            </a:extLst>
          </p:cNvPr>
          <p:cNvPicPr>
            <a:picLocks noChangeAspect="1"/>
          </p:cNvPicPr>
          <p:nvPr/>
        </p:nvPicPr>
        <p:blipFill>
          <a:blip r:embed="rId5"/>
          <a:stretch>
            <a:fillRect/>
          </a:stretch>
        </p:blipFill>
        <p:spPr>
          <a:xfrm>
            <a:off x="3965794" y="9495316"/>
            <a:ext cx="1215171" cy="1215171"/>
          </a:xfrm>
          <a:prstGeom prst="rect">
            <a:avLst/>
          </a:prstGeom>
        </p:spPr>
      </p:pic>
      <p:pic>
        <p:nvPicPr>
          <p:cNvPr id="51" name="Picture 50">
            <a:extLst>
              <a:ext uri="{FF2B5EF4-FFF2-40B4-BE49-F238E27FC236}">
                <a16:creationId xmlns:a16="http://schemas.microsoft.com/office/drawing/2014/main" id="{3F4C21D9-8471-01F3-1918-74A64B126282}"/>
              </a:ext>
            </a:extLst>
          </p:cNvPr>
          <p:cNvPicPr>
            <a:picLocks noChangeAspect="1"/>
          </p:cNvPicPr>
          <p:nvPr/>
        </p:nvPicPr>
        <p:blipFill>
          <a:blip r:embed="rId4"/>
          <a:stretch>
            <a:fillRect/>
          </a:stretch>
        </p:blipFill>
        <p:spPr>
          <a:xfrm>
            <a:off x="5605102" y="8863243"/>
            <a:ext cx="1228148" cy="1228148"/>
          </a:xfrm>
          <a:prstGeom prst="rect">
            <a:avLst/>
          </a:prstGeom>
        </p:spPr>
      </p:pic>
      <p:pic>
        <p:nvPicPr>
          <p:cNvPr id="52" name="Picture 51">
            <a:extLst>
              <a:ext uri="{FF2B5EF4-FFF2-40B4-BE49-F238E27FC236}">
                <a16:creationId xmlns:a16="http://schemas.microsoft.com/office/drawing/2014/main" id="{9244B229-5542-155C-B17C-A832568CE88D}"/>
              </a:ext>
            </a:extLst>
          </p:cNvPr>
          <p:cNvPicPr>
            <a:picLocks noChangeAspect="1"/>
          </p:cNvPicPr>
          <p:nvPr/>
        </p:nvPicPr>
        <p:blipFill>
          <a:blip r:embed="rId4"/>
          <a:stretch>
            <a:fillRect/>
          </a:stretch>
        </p:blipFill>
        <p:spPr>
          <a:xfrm>
            <a:off x="5562600" y="10458006"/>
            <a:ext cx="1216152" cy="1216152"/>
          </a:xfrm>
          <a:prstGeom prst="rect">
            <a:avLst/>
          </a:prstGeom>
        </p:spPr>
      </p:pic>
      <p:cxnSp>
        <p:nvCxnSpPr>
          <p:cNvPr id="40" name="Straight Arrow Connector 39">
            <a:extLst>
              <a:ext uri="{FF2B5EF4-FFF2-40B4-BE49-F238E27FC236}">
                <a16:creationId xmlns:a16="http://schemas.microsoft.com/office/drawing/2014/main" id="{FE7A467B-EAF4-4695-EA7D-33194039B99D}"/>
              </a:ext>
            </a:extLst>
          </p:cNvPr>
          <p:cNvCxnSpPr>
            <a:endCxn id="51" idx="3"/>
          </p:cNvCxnSpPr>
          <p:nvPr/>
        </p:nvCxnSpPr>
        <p:spPr>
          <a:xfrm flipH="1" flipV="1">
            <a:off x="6833250" y="9477317"/>
            <a:ext cx="1300189" cy="153445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B7F82531-F15A-BC57-0946-D82D3D9EA498}"/>
              </a:ext>
            </a:extLst>
          </p:cNvPr>
          <p:cNvCxnSpPr>
            <a:endCxn id="50" idx="3"/>
          </p:cNvCxnSpPr>
          <p:nvPr/>
        </p:nvCxnSpPr>
        <p:spPr>
          <a:xfrm flipH="1" flipV="1">
            <a:off x="5180965" y="10102902"/>
            <a:ext cx="2952474" cy="90887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900A7A40-548E-6FE6-8CD7-77D2C3499486}"/>
              </a:ext>
            </a:extLst>
          </p:cNvPr>
          <p:cNvCxnSpPr/>
          <p:nvPr/>
        </p:nvCxnSpPr>
        <p:spPr>
          <a:xfrm flipH="1">
            <a:off x="6578600" y="11011773"/>
            <a:ext cx="1554839" cy="10153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2" name="Rounded Rectangle 11">
                <a:extLst>
                  <a:ext uri="{FF2B5EF4-FFF2-40B4-BE49-F238E27FC236}">
                    <a16:creationId xmlns:a16="http://schemas.microsoft.com/office/drawing/2014/main" id="{D0087B34-B541-E78C-7A0E-0E9B431D4B30}"/>
                  </a:ext>
                </a:extLst>
              </p:cNvPr>
              <p:cNvSpPr/>
              <p:nvPr/>
            </p:nvSpPr>
            <p:spPr>
              <a:xfrm>
                <a:off x="13682009" y="3582110"/>
                <a:ext cx="9273958" cy="4501231"/>
              </a:xfrm>
              <a:prstGeom prst="roundRect">
                <a:avLst/>
              </a:prstGeom>
              <a:solidFill>
                <a:srgbClr val="48AAA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571500" indent="-571500">
                  <a:buFont typeface="Arial" panose="020B0604020202020204" pitchFamily="34" charset="0"/>
                  <a:buChar char="•"/>
                </a:pPr>
                <a:r>
                  <a:rPr lang="en-US" sz="4000" dirty="0">
                    <a:solidFill>
                      <a:srgbClr val="F7F7F7"/>
                    </a:solidFill>
                    <a:latin typeface="+mn-lt"/>
                  </a:rPr>
                  <a:t>We perform the same approach for all the </a:t>
                </a:r>
                <a:r>
                  <a:rPr lang="en-US" sz="4000" b="1" dirty="0">
                    <a:solidFill>
                      <a:srgbClr val="F7F7F7"/>
                    </a:solidFill>
                    <a:latin typeface="+mn-lt"/>
                  </a:rPr>
                  <a:t>untreated</a:t>
                </a:r>
                <a:r>
                  <a:rPr lang="en-US" sz="4000" dirty="0">
                    <a:solidFill>
                      <a:srgbClr val="F7F7F7"/>
                    </a:solidFill>
                    <a:latin typeface="+mn-lt"/>
                  </a:rPr>
                  <a:t> patients with bad outcome too</a:t>
                </a:r>
              </a:p>
              <a:p>
                <a:pPr marL="571500" indent="-571500">
                  <a:buFont typeface="Arial" panose="020B0604020202020204" pitchFamily="34" charset="0"/>
                  <a:buChar char="•"/>
                </a:pPr>
                <a:r>
                  <a:rPr lang="en-US" sz="4000" dirty="0">
                    <a:solidFill>
                      <a:srgbClr val="F7F7F7"/>
                    </a:solidFill>
                    <a:latin typeface="+mn-lt"/>
                  </a:rPr>
                  <a:t>We normalize</a:t>
                </a:r>
                <a:r>
                  <a:rPr lang="en-US" sz="4000" b="1" dirty="0">
                    <a:solidFill>
                      <a:srgbClr val="F7F7F7"/>
                    </a:solidFill>
                    <a:latin typeface="+mn-lt"/>
                  </a:rPr>
                  <a:t> U </a:t>
                </a:r>
                <a:r>
                  <a:rPr lang="en-US" sz="4000" dirty="0">
                    <a:solidFill>
                      <a:srgbClr val="F7F7F7"/>
                    </a:solidFill>
                    <a:latin typeface="+mn-lt"/>
                  </a:rPr>
                  <a:t>so that </a:t>
                </a:r>
                <a14:m>
                  <m:oMath xmlns:m="http://schemas.openxmlformats.org/officeDocument/2006/math">
                    <m:sSub>
                      <m:sSubPr>
                        <m:ctrlPr>
                          <a:rPr lang="en-US" sz="4000" i="1">
                            <a:solidFill>
                              <a:srgbClr val="F7F7F7"/>
                            </a:solidFill>
                            <a:latin typeface="Cambria Math" panose="02040503050406030204" pitchFamily="18" charset="0"/>
                          </a:rPr>
                        </m:ctrlPr>
                      </m:sSubPr>
                      <m:e>
                        <m:r>
                          <a:rPr lang="en-US" sz="4000">
                            <a:solidFill>
                              <a:srgbClr val="F7F7F7"/>
                            </a:solidFill>
                            <a:latin typeface="Cambria Math" panose="02040503050406030204" pitchFamily="18" charset="0"/>
                          </a:rPr>
                          <m:t>0 </m:t>
                        </m:r>
                        <m:r>
                          <a:rPr lang="en-US" sz="4000" i="1">
                            <a:solidFill>
                              <a:srgbClr val="F7F7F7"/>
                            </a:solidFill>
                            <a:latin typeface="Cambria Math" panose="02040503050406030204" pitchFamily="18" charset="0"/>
                            <a:ea typeface="Cambria Math" panose="02040503050406030204" pitchFamily="18" charset="0"/>
                          </a:rPr>
                          <m:t>≤</m:t>
                        </m:r>
                        <m:acc>
                          <m:accPr>
                            <m:chr m:val="̃"/>
                            <m:ctrlPr>
                              <a:rPr lang="en-US" sz="4000" i="1">
                                <a:solidFill>
                                  <a:srgbClr val="F7F7F7"/>
                                </a:solidFill>
                                <a:latin typeface="Cambria Math" panose="02040503050406030204" pitchFamily="18" charset="0"/>
                                <a:ea typeface="Cambria Math" panose="02040503050406030204" pitchFamily="18" charset="0"/>
                              </a:rPr>
                            </m:ctrlPr>
                          </m:accPr>
                          <m:e>
                            <m:r>
                              <a:rPr lang="en-US" sz="4000" i="1">
                                <a:solidFill>
                                  <a:srgbClr val="F7F7F7"/>
                                </a:solidFill>
                                <a:latin typeface="Cambria Math" panose="02040503050406030204" pitchFamily="18" charset="0"/>
                                <a:ea typeface="Cambria Math" panose="02040503050406030204" pitchFamily="18" charset="0"/>
                              </a:rPr>
                              <m:t>𝑈</m:t>
                            </m:r>
                          </m:e>
                        </m:acc>
                      </m:e>
                      <m:sub>
                        <m:r>
                          <m:rPr>
                            <m:sty m:val="p"/>
                          </m:rPr>
                          <a:rPr lang="en-US" sz="4000">
                            <a:solidFill>
                              <a:srgbClr val="F7F7F7"/>
                            </a:solidFill>
                            <a:latin typeface="Cambria Math" panose="02040503050406030204" pitchFamily="18" charset="0"/>
                          </a:rPr>
                          <m:t>i</m:t>
                        </m:r>
                      </m:sub>
                    </m:sSub>
                    <m:r>
                      <a:rPr lang="en-US" sz="4000" i="1">
                        <a:solidFill>
                          <a:srgbClr val="F7F7F7"/>
                        </a:solidFill>
                        <a:latin typeface="Cambria Math" panose="02040503050406030204" pitchFamily="18" charset="0"/>
                        <a:ea typeface="Cambria Math" panose="02040503050406030204" pitchFamily="18" charset="0"/>
                      </a:rPr>
                      <m:t>≤1</m:t>
                    </m:r>
                  </m:oMath>
                </a14:m>
                <a:r>
                  <a:rPr lang="en-US" sz="4000" dirty="0">
                    <a:solidFill>
                      <a:srgbClr val="F7F7F7"/>
                    </a:solidFill>
                  </a:rPr>
                  <a:t> </a:t>
                </a:r>
                <a:r>
                  <a:rPr lang="en-US" sz="4000" dirty="0">
                    <a:solidFill>
                      <a:srgbClr val="F7F7F7"/>
                    </a:solidFill>
                    <a:latin typeface="+mn-lt"/>
                  </a:rPr>
                  <a:t>∀ patient </a:t>
                </a:r>
                <a:r>
                  <a:rPr lang="en-US" sz="4000" dirty="0" err="1">
                    <a:solidFill>
                      <a:srgbClr val="F7F7F7"/>
                    </a:solidFill>
                    <a:latin typeface="+mn-lt"/>
                  </a:rPr>
                  <a:t>i</a:t>
                </a:r>
                <a:r>
                  <a:rPr lang="en-US" sz="4000" dirty="0">
                    <a:solidFill>
                      <a:srgbClr val="F7F7F7"/>
                    </a:solidFill>
                    <a:latin typeface="+mn-lt"/>
                  </a:rPr>
                  <a:t> with recurrence</a:t>
                </a:r>
              </a:p>
            </p:txBody>
          </p:sp>
        </mc:Choice>
        <mc:Fallback>
          <p:sp>
            <p:nvSpPr>
              <p:cNvPr id="12" name="Rounded Rectangle 11">
                <a:extLst>
                  <a:ext uri="{FF2B5EF4-FFF2-40B4-BE49-F238E27FC236}">
                    <a16:creationId xmlns:a16="http://schemas.microsoft.com/office/drawing/2014/main" id="{D0087B34-B541-E78C-7A0E-0E9B431D4B30}"/>
                  </a:ext>
                </a:extLst>
              </p:cNvPr>
              <p:cNvSpPr>
                <a:spLocks noRot="1" noChangeAspect="1" noMove="1" noResize="1" noEditPoints="1" noAdjustHandles="1" noChangeArrowheads="1" noChangeShapeType="1" noTextEdit="1"/>
              </p:cNvSpPr>
              <p:nvPr/>
            </p:nvSpPr>
            <p:spPr>
              <a:xfrm>
                <a:off x="13682009" y="3582110"/>
                <a:ext cx="9273958" cy="4501231"/>
              </a:xfrm>
              <a:prstGeom prst="roundRect">
                <a:avLst/>
              </a:prstGeom>
              <a:blipFill>
                <a:blip r:embed="rId6"/>
                <a:stretch>
                  <a:fillRect/>
                </a:stretch>
              </a:blipFill>
              <a:ln w="12700" cap="flat">
                <a:noFill/>
                <a:miter lim="400000"/>
              </a:ln>
              <a:effectLst/>
            </p:spPr>
            <p:txBody>
              <a:bodyPr/>
              <a:lstStyle/>
              <a:p>
                <a:r>
                  <a:rPr lang="en-US">
                    <a:noFill/>
                  </a:rPr>
                  <a:t> </a:t>
                </a:r>
              </a:p>
            </p:txBody>
          </p:sp>
        </mc:Fallback>
      </mc:AlternateContent>
      <p:pic>
        <p:nvPicPr>
          <p:cNvPr id="4" name="Picture 3">
            <a:extLst>
              <a:ext uri="{FF2B5EF4-FFF2-40B4-BE49-F238E27FC236}">
                <a16:creationId xmlns:a16="http://schemas.microsoft.com/office/drawing/2014/main" id="{617D2E87-8487-E75D-7129-596177B79106}"/>
              </a:ext>
            </a:extLst>
          </p:cNvPr>
          <p:cNvPicPr>
            <a:picLocks noChangeAspect="1"/>
          </p:cNvPicPr>
          <p:nvPr/>
        </p:nvPicPr>
        <p:blipFill>
          <a:blip r:embed="rId7"/>
          <a:stretch>
            <a:fillRect/>
          </a:stretch>
        </p:blipFill>
        <p:spPr>
          <a:xfrm>
            <a:off x="6228932" y="3764879"/>
            <a:ext cx="1904507" cy="1904507"/>
          </a:xfrm>
          <a:prstGeom prst="rect">
            <a:avLst/>
          </a:prstGeom>
        </p:spPr>
      </p:pic>
      <p:sp>
        <p:nvSpPr>
          <p:cNvPr id="9" name="Rounded Rectangle 8">
            <a:extLst>
              <a:ext uri="{FF2B5EF4-FFF2-40B4-BE49-F238E27FC236}">
                <a16:creationId xmlns:a16="http://schemas.microsoft.com/office/drawing/2014/main" id="{E6FA9E38-6E00-A9C1-532A-519E4E93AF58}"/>
              </a:ext>
            </a:extLst>
          </p:cNvPr>
          <p:cNvSpPr/>
          <p:nvPr/>
        </p:nvSpPr>
        <p:spPr>
          <a:xfrm>
            <a:off x="13682007" y="8722674"/>
            <a:ext cx="9273959" cy="3607369"/>
          </a:xfrm>
          <a:prstGeom prst="roundRect">
            <a:avLst/>
          </a:prstGeom>
          <a:solidFill>
            <a:srgbClr val="48AAA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r>
              <a:rPr lang="en-US" sz="4000" b="1" dirty="0">
                <a:solidFill>
                  <a:srgbClr val="F7F7F7"/>
                </a:solidFill>
                <a:latin typeface="+mn-lt"/>
              </a:rPr>
              <a:t>Main design choices</a:t>
            </a:r>
          </a:p>
          <a:p>
            <a:pPr marL="571500" lvl="3" indent="-571500">
              <a:buFont typeface="Arial" panose="020B0604020202020204" pitchFamily="34" charset="0"/>
              <a:buChar char="•"/>
            </a:pPr>
            <a:r>
              <a:rPr lang="en-US" sz="4000" dirty="0">
                <a:solidFill>
                  <a:srgbClr val="F7F7F7"/>
                </a:solidFill>
                <a:latin typeface="+mn-lt"/>
              </a:rPr>
              <a:t>which prognostic model to use</a:t>
            </a:r>
          </a:p>
          <a:p>
            <a:pPr marL="571500" lvl="3" indent="-571500">
              <a:buFont typeface="Arial" panose="020B0604020202020204" pitchFamily="34" charset="0"/>
              <a:buChar char="•"/>
            </a:pPr>
            <a:r>
              <a:rPr lang="en-US" sz="4000" dirty="0">
                <a:solidFill>
                  <a:srgbClr val="F7F7F7"/>
                </a:solidFill>
                <a:latin typeface="+mn-lt"/>
              </a:rPr>
              <a:t># neighbors considered</a:t>
            </a:r>
          </a:p>
        </p:txBody>
      </p:sp>
      <p:sp>
        <p:nvSpPr>
          <p:cNvPr id="10" name="Rectangle 9">
            <a:extLst>
              <a:ext uri="{FF2B5EF4-FFF2-40B4-BE49-F238E27FC236}">
                <a16:creationId xmlns:a16="http://schemas.microsoft.com/office/drawing/2014/main" id="{CA061C38-4519-E0F4-1CEF-3B41A25DD502}"/>
              </a:ext>
            </a:extLst>
          </p:cNvPr>
          <p:cNvSpPr/>
          <p:nvPr/>
        </p:nvSpPr>
        <p:spPr>
          <a:xfrm>
            <a:off x="23357840" y="12890036"/>
            <a:ext cx="822960" cy="6120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r" defTabSz="821531" rtl="0" fontAlgn="auto" latinLnBrk="0" hangingPunct="0">
              <a:lnSpc>
                <a:spcPct val="80000"/>
              </a:lnSpc>
              <a:spcBef>
                <a:spcPts val="0"/>
              </a:spcBef>
              <a:spcAft>
                <a:spcPts val="0"/>
              </a:spcAft>
              <a:buClrTx/>
              <a:buSzTx/>
              <a:buFontTx/>
              <a:buNone/>
              <a:tabLst/>
            </a:pPr>
            <a:r>
              <a:rPr lang="en-US" sz="3800" cap="all" dirty="0">
                <a:solidFill>
                  <a:srgbClr val="C52060"/>
                </a:solidFill>
                <a:latin typeface="+mj-lt"/>
                <a:ea typeface="DIN Condensed Bold"/>
                <a:cs typeface="DIN Condensed Bold"/>
                <a:sym typeface="DIN Condensed Bold"/>
              </a:rPr>
              <a:t>13</a:t>
            </a:r>
            <a:endParaRPr kumimoji="0" lang="en-US" sz="3800" b="0" i="0" u="none" strike="noStrike" cap="all" spc="0" normalizeH="0" baseline="0" dirty="0">
              <a:ln>
                <a:noFill/>
              </a:ln>
              <a:solidFill>
                <a:srgbClr val="C52060"/>
              </a:solidFill>
              <a:effectLst/>
              <a:uFillTx/>
              <a:latin typeface="+mj-lt"/>
              <a:ea typeface="DIN Condensed Bold"/>
              <a:cs typeface="DIN Condensed Bold"/>
              <a:sym typeface="DIN Condensed Bold"/>
            </a:endParaRPr>
          </a:p>
        </p:txBody>
      </p:sp>
      <p:sp>
        <p:nvSpPr>
          <p:cNvPr id="17" name="TextBox 16">
            <a:extLst>
              <a:ext uri="{FF2B5EF4-FFF2-40B4-BE49-F238E27FC236}">
                <a16:creationId xmlns:a16="http://schemas.microsoft.com/office/drawing/2014/main" id="{AC4DCB2E-B2D6-664C-FFD6-9F5B347BBBB8}"/>
              </a:ext>
            </a:extLst>
          </p:cNvPr>
          <p:cNvSpPr txBox="1"/>
          <p:nvPr/>
        </p:nvSpPr>
        <p:spPr>
          <a:xfrm>
            <a:off x="9554331" y="10819758"/>
            <a:ext cx="3406038" cy="11214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l" defTabSz="821531" rtl="0" fontAlgn="auto" latinLnBrk="0" hangingPunct="0">
              <a:lnSpc>
                <a:spcPct val="100000"/>
              </a:lnSpc>
              <a:spcBef>
                <a:spcPts val="3300"/>
              </a:spcBef>
              <a:spcAft>
                <a:spcPts val="0"/>
              </a:spcAft>
              <a:buClrTx/>
              <a:buSzTx/>
              <a:buFontTx/>
              <a:buNone/>
              <a:tabLst/>
            </a:pPr>
            <a:r>
              <a:rPr kumimoji="0" lang="en-US" sz="3600" b="0" i="0" u="none" strike="noStrike" cap="none" spc="0" normalizeH="0" baseline="0" dirty="0">
                <a:ln>
                  <a:noFill/>
                </a:ln>
                <a:solidFill>
                  <a:schemeClr val="bg1"/>
                </a:solidFill>
                <a:effectLst/>
                <a:uFillTx/>
                <a:latin typeface="+mn-lt"/>
                <a:ea typeface="Avenir Next Medium"/>
                <a:cs typeface="Avenir Next Medium"/>
                <a:sym typeface="Avenir Next Medium"/>
              </a:rPr>
              <a:t>Henry</a:t>
            </a:r>
          </a:p>
        </p:txBody>
      </p:sp>
    </p:spTree>
    <p:extLst>
      <p:ext uri="{BB962C8B-B14F-4D97-AF65-F5344CB8AC3E}">
        <p14:creationId xmlns:p14="http://schemas.microsoft.com/office/powerpoint/2010/main" val="249665247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7F91A-5A4E-A4B1-081C-86B5774C7DA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01EE9FF-41E2-A2AE-FBFE-987163191824}"/>
              </a:ext>
            </a:extLst>
          </p:cNvPr>
          <p:cNvPicPr>
            <a:picLocks noChangeAspect="1"/>
          </p:cNvPicPr>
          <p:nvPr/>
        </p:nvPicPr>
        <p:blipFill>
          <a:blip r:embed="rId2"/>
          <a:stretch>
            <a:fillRect/>
          </a:stretch>
        </p:blipFill>
        <p:spPr>
          <a:xfrm>
            <a:off x="4409209" y="2208644"/>
            <a:ext cx="15565582" cy="10809432"/>
          </a:xfrm>
          <a:prstGeom prst="rect">
            <a:avLst/>
          </a:prstGeom>
        </p:spPr>
      </p:pic>
      <p:sp>
        <p:nvSpPr>
          <p:cNvPr id="6" name="Title 2">
            <a:extLst>
              <a:ext uri="{FF2B5EF4-FFF2-40B4-BE49-F238E27FC236}">
                <a16:creationId xmlns:a16="http://schemas.microsoft.com/office/drawing/2014/main" id="{429D407C-BE13-A9B8-518C-543BD0F5E676}"/>
              </a:ext>
            </a:extLst>
          </p:cNvPr>
          <p:cNvSpPr txBox="1">
            <a:spLocks/>
          </p:cNvSpPr>
          <p:nvPr/>
        </p:nvSpPr>
        <p:spPr>
          <a:xfrm>
            <a:off x="1171654" y="1699652"/>
            <a:ext cx="17145001" cy="10179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ormAutofit/>
          </a:bodyPr>
          <a:lstStyle>
            <a:lvl1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1pPr>
            <a:lvl2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2pPr>
            <a:lvl3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3pPr>
            <a:lvl4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4pPr>
            <a:lvl5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5pPr>
            <a:lvl6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6pPr>
            <a:lvl7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7pPr>
            <a:lvl8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8pPr>
            <a:lvl9pPr marL="0" marR="0" indent="0" algn="l" defTabSz="821531" latinLnBrk="0">
              <a:lnSpc>
                <a:spcPct val="120000"/>
              </a:lnSpc>
              <a:spcBef>
                <a:spcPts val="1600"/>
              </a:spcBef>
              <a:spcAft>
                <a:spcPts val="0"/>
              </a:spcAft>
              <a:buClrTx/>
              <a:buSzTx/>
              <a:buFontTx/>
              <a:buNone/>
              <a:tabLst/>
              <a:defRPr sz="3600" b="1" i="0" u="none" strike="noStrike" cap="none" spc="0" baseline="0">
                <a:solidFill>
                  <a:srgbClr val="ED2D59"/>
                </a:solidFill>
                <a:uFillTx/>
                <a:latin typeface="+mn-lt"/>
                <a:ea typeface="+mn-ea"/>
                <a:cs typeface="+mn-cs"/>
                <a:sym typeface="Helvetica"/>
              </a:defRPr>
            </a:lvl9pPr>
          </a:lstStyle>
          <a:p>
            <a:pPr hangingPunct="1"/>
            <a:r>
              <a:rPr lang="en-US" sz="4400" dirty="0">
                <a:solidFill>
                  <a:srgbClr val="C00000"/>
                </a:solidFill>
              </a:rPr>
              <a:t>Recap</a:t>
            </a:r>
          </a:p>
        </p:txBody>
      </p:sp>
      <p:sp>
        <p:nvSpPr>
          <p:cNvPr id="2" name="Rectangle 1">
            <a:extLst>
              <a:ext uri="{FF2B5EF4-FFF2-40B4-BE49-F238E27FC236}">
                <a16:creationId xmlns:a16="http://schemas.microsoft.com/office/drawing/2014/main" id="{3C82D6CC-61F8-CAAA-6956-4FBBB9D6593A}"/>
              </a:ext>
            </a:extLst>
          </p:cNvPr>
          <p:cNvSpPr/>
          <p:nvPr/>
        </p:nvSpPr>
        <p:spPr>
          <a:xfrm>
            <a:off x="14729265" y="11795340"/>
            <a:ext cx="370609" cy="294651"/>
          </a:xfrm>
          <a:prstGeom prst="rect">
            <a:avLst/>
          </a:prstGeom>
          <a:solidFill>
            <a:srgbClr val="FFFFFF"/>
          </a:solidFill>
          <a:ln w="127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80000"/>
              </a:lnSpc>
              <a:spcBef>
                <a:spcPts val="0"/>
              </a:spcBef>
              <a:spcAft>
                <a:spcPts val="0"/>
              </a:spcAft>
              <a:buClrTx/>
              <a:buSzTx/>
              <a:buFontTx/>
              <a:buNone/>
              <a:tabLst/>
            </a:pPr>
            <a:endParaRPr kumimoji="0" lang="en-US" sz="3800" b="0" i="0" u="none" strike="noStrike" cap="all" spc="0" normalizeH="0" baseline="0">
              <a:ln>
                <a:noFill/>
              </a:ln>
              <a:solidFill>
                <a:srgbClr val="FFFFFF"/>
              </a:solidFill>
              <a:effectLst/>
              <a:uFillTx/>
              <a:latin typeface="DIN Condensed Bold"/>
              <a:ea typeface="DIN Condensed Bold"/>
              <a:cs typeface="DIN Condensed Bold"/>
              <a:sym typeface="DIN Condensed Bold"/>
            </a:endParaRPr>
          </a:p>
        </p:txBody>
      </p:sp>
      <p:sp>
        <p:nvSpPr>
          <p:cNvPr id="3" name="Rectangle 2">
            <a:extLst>
              <a:ext uri="{FF2B5EF4-FFF2-40B4-BE49-F238E27FC236}">
                <a16:creationId xmlns:a16="http://schemas.microsoft.com/office/drawing/2014/main" id="{E9B36CA7-FECA-CC3E-D67F-A281DB2A2A79}"/>
              </a:ext>
            </a:extLst>
          </p:cNvPr>
          <p:cNvSpPr/>
          <p:nvPr/>
        </p:nvSpPr>
        <p:spPr>
          <a:xfrm>
            <a:off x="23357840" y="12890036"/>
            <a:ext cx="822960" cy="6120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r" defTabSz="821531" rtl="0" fontAlgn="auto" latinLnBrk="0" hangingPunct="0">
              <a:lnSpc>
                <a:spcPct val="80000"/>
              </a:lnSpc>
              <a:spcBef>
                <a:spcPts val="0"/>
              </a:spcBef>
              <a:spcAft>
                <a:spcPts val="0"/>
              </a:spcAft>
              <a:buClrTx/>
              <a:buSzTx/>
              <a:buFontTx/>
              <a:buNone/>
              <a:tabLst/>
            </a:pPr>
            <a:r>
              <a:rPr lang="en-US" sz="3800" cap="all" dirty="0">
                <a:solidFill>
                  <a:srgbClr val="C52060"/>
                </a:solidFill>
                <a:latin typeface="+mj-lt"/>
                <a:ea typeface="DIN Condensed Bold"/>
                <a:cs typeface="DIN Condensed Bold"/>
                <a:sym typeface="DIN Condensed Bold"/>
              </a:rPr>
              <a:t>14</a:t>
            </a:r>
            <a:endParaRPr kumimoji="0" lang="en-US" sz="3800" b="0" i="0" u="none" strike="noStrike" cap="all" spc="0" normalizeH="0" baseline="0" dirty="0">
              <a:ln>
                <a:noFill/>
              </a:ln>
              <a:solidFill>
                <a:srgbClr val="C52060"/>
              </a:solidFill>
              <a:effectLst/>
              <a:uFillTx/>
              <a:latin typeface="+mj-lt"/>
              <a:ea typeface="DIN Condensed Bold"/>
              <a:cs typeface="DIN Condensed Bold"/>
              <a:sym typeface="DIN Condensed Bold"/>
            </a:endParaRPr>
          </a:p>
        </p:txBody>
      </p:sp>
    </p:spTree>
    <p:extLst>
      <p:ext uri="{BB962C8B-B14F-4D97-AF65-F5344CB8AC3E}">
        <p14:creationId xmlns:p14="http://schemas.microsoft.com/office/powerpoint/2010/main" val="335093331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2FB8D3-9406-8650-AC8D-23B77254F7FD}"/>
              </a:ext>
            </a:extLst>
          </p:cNvPr>
          <p:cNvSpPr>
            <a:spLocks noGrp="1"/>
          </p:cNvSpPr>
          <p:nvPr>
            <p:ph type="title"/>
          </p:nvPr>
        </p:nvSpPr>
        <p:spPr>
          <a:xfrm>
            <a:off x="1171654" y="1684932"/>
            <a:ext cx="17145001" cy="1017985"/>
          </a:xfrm>
        </p:spPr>
        <p:txBody>
          <a:bodyPr>
            <a:normAutofit/>
          </a:bodyPr>
          <a:lstStyle/>
          <a:p>
            <a:r>
              <a:rPr lang="en-US" sz="4400" dirty="0">
                <a:solidFill>
                  <a:srgbClr val="C00000"/>
                </a:solidFill>
              </a:rPr>
              <a:t>Results on observational data </a:t>
            </a:r>
          </a:p>
        </p:txBody>
      </p:sp>
      <p:sp>
        <p:nvSpPr>
          <p:cNvPr id="5" name="Rounded Rectangle 4">
            <a:extLst>
              <a:ext uri="{FF2B5EF4-FFF2-40B4-BE49-F238E27FC236}">
                <a16:creationId xmlns:a16="http://schemas.microsoft.com/office/drawing/2014/main" id="{0A55C51A-B14D-CA7F-5B85-3732125BCF3E}"/>
              </a:ext>
            </a:extLst>
          </p:cNvPr>
          <p:cNvSpPr/>
          <p:nvPr/>
        </p:nvSpPr>
        <p:spPr>
          <a:xfrm>
            <a:off x="1919327" y="2961495"/>
            <a:ext cx="20545346" cy="2507494"/>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r>
              <a:rPr lang="en-US" sz="4000" b="1" dirty="0">
                <a:solidFill>
                  <a:srgbClr val="F7F7F7"/>
                </a:solidFill>
                <a:latin typeface="+mn-lt"/>
              </a:rPr>
              <a:t>Goal</a:t>
            </a:r>
            <a:r>
              <a:rPr lang="en-US" sz="4000" dirty="0">
                <a:solidFill>
                  <a:srgbClr val="F7F7F7"/>
                </a:solidFill>
                <a:latin typeface="+mn-lt"/>
              </a:rPr>
              <a:t>: We want to estimate the hazard ratio and compare it to the ground truth, as calculated by clinical trials for the same treatments</a:t>
            </a:r>
          </a:p>
          <a:p>
            <a:pPr algn="ctr">
              <a:lnSpc>
                <a:spcPct val="80000"/>
              </a:lnSpc>
              <a:spcBef>
                <a:spcPts val="0"/>
              </a:spcBef>
            </a:pPr>
            <a:endParaRPr lang="en-US" sz="3800" dirty="0">
              <a:solidFill>
                <a:srgbClr val="F7F7F7"/>
              </a:solidFill>
              <a:latin typeface="+mn-lt"/>
              <a:ea typeface="DIN Condensed Bold"/>
              <a:cs typeface="DIN Condensed Bold"/>
              <a:sym typeface="DIN Condensed Bold"/>
            </a:endParaRPr>
          </a:p>
        </p:txBody>
      </p:sp>
      <p:sp>
        <p:nvSpPr>
          <p:cNvPr id="13" name="Rectangle 12">
            <a:extLst>
              <a:ext uri="{FF2B5EF4-FFF2-40B4-BE49-F238E27FC236}">
                <a16:creationId xmlns:a16="http://schemas.microsoft.com/office/drawing/2014/main" id="{B4320C02-BB83-101E-6095-4D72E094E06D}"/>
              </a:ext>
            </a:extLst>
          </p:cNvPr>
          <p:cNvSpPr/>
          <p:nvPr/>
        </p:nvSpPr>
        <p:spPr>
          <a:xfrm>
            <a:off x="23357840" y="12890036"/>
            <a:ext cx="822960" cy="6120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r" defTabSz="821531" rtl="0" fontAlgn="auto" latinLnBrk="0" hangingPunct="0">
              <a:lnSpc>
                <a:spcPct val="80000"/>
              </a:lnSpc>
              <a:spcBef>
                <a:spcPts val="0"/>
              </a:spcBef>
              <a:spcAft>
                <a:spcPts val="0"/>
              </a:spcAft>
              <a:buClrTx/>
              <a:buSzTx/>
              <a:buFontTx/>
              <a:buNone/>
              <a:tabLst/>
            </a:pPr>
            <a:r>
              <a:rPr lang="en-US" sz="3800" cap="all" dirty="0">
                <a:solidFill>
                  <a:srgbClr val="C52060"/>
                </a:solidFill>
                <a:latin typeface="+mj-lt"/>
                <a:ea typeface="DIN Condensed Bold"/>
                <a:cs typeface="DIN Condensed Bold"/>
                <a:sym typeface="DIN Condensed Bold"/>
              </a:rPr>
              <a:t>15</a:t>
            </a:r>
            <a:endParaRPr kumimoji="0" lang="en-US" sz="3800" b="0" i="0" u="none" strike="noStrike" cap="all" spc="0" normalizeH="0" baseline="0" dirty="0">
              <a:ln>
                <a:noFill/>
              </a:ln>
              <a:solidFill>
                <a:srgbClr val="C52060"/>
              </a:solidFill>
              <a:effectLst/>
              <a:uFillTx/>
              <a:latin typeface="+mj-lt"/>
              <a:ea typeface="DIN Condensed Bold"/>
              <a:cs typeface="DIN Condensed Bold"/>
              <a:sym typeface="DIN Condensed Bold"/>
            </a:endParaRPr>
          </a:p>
        </p:txBody>
      </p:sp>
      <p:pic>
        <p:nvPicPr>
          <p:cNvPr id="4" name="Picture 3">
            <a:extLst>
              <a:ext uri="{FF2B5EF4-FFF2-40B4-BE49-F238E27FC236}">
                <a16:creationId xmlns:a16="http://schemas.microsoft.com/office/drawing/2014/main" id="{E5632AFA-6B2B-FA08-9E0F-2D7FED262150}"/>
              </a:ext>
            </a:extLst>
          </p:cNvPr>
          <p:cNvPicPr>
            <a:picLocks noChangeAspect="1"/>
          </p:cNvPicPr>
          <p:nvPr/>
        </p:nvPicPr>
        <p:blipFill>
          <a:blip r:embed="rId2"/>
          <a:stretch>
            <a:fillRect/>
          </a:stretch>
        </p:blipFill>
        <p:spPr>
          <a:xfrm>
            <a:off x="695769" y="5727567"/>
            <a:ext cx="10973558" cy="7315705"/>
          </a:xfrm>
          <a:prstGeom prst="rect">
            <a:avLst/>
          </a:prstGeom>
        </p:spPr>
      </p:pic>
      <p:pic>
        <p:nvPicPr>
          <p:cNvPr id="7" name="Picture 6">
            <a:extLst>
              <a:ext uri="{FF2B5EF4-FFF2-40B4-BE49-F238E27FC236}">
                <a16:creationId xmlns:a16="http://schemas.microsoft.com/office/drawing/2014/main" id="{A9D0BC20-9699-A66D-2129-B9B2EE40109B}"/>
              </a:ext>
            </a:extLst>
          </p:cNvPr>
          <p:cNvPicPr>
            <a:picLocks noChangeAspect="1"/>
          </p:cNvPicPr>
          <p:nvPr/>
        </p:nvPicPr>
        <p:blipFill>
          <a:blip r:embed="rId3"/>
          <a:stretch>
            <a:fillRect/>
          </a:stretch>
        </p:blipFill>
        <p:spPr>
          <a:xfrm>
            <a:off x="12026804" y="5727567"/>
            <a:ext cx="10973558" cy="7315705"/>
          </a:xfrm>
          <a:prstGeom prst="rect">
            <a:avLst/>
          </a:prstGeom>
        </p:spPr>
      </p:pic>
    </p:spTree>
    <p:extLst>
      <p:ext uri="{BB962C8B-B14F-4D97-AF65-F5344CB8AC3E}">
        <p14:creationId xmlns:p14="http://schemas.microsoft.com/office/powerpoint/2010/main" val="67706427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56AA34F-9F4F-F51B-1CBC-A6194EA39B51}"/>
              </a:ext>
            </a:extLst>
          </p:cNvPr>
          <p:cNvSpPr>
            <a:spLocks noGrp="1"/>
          </p:cNvSpPr>
          <p:nvPr>
            <p:ph type="title"/>
          </p:nvPr>
        </p:nvSpPr>
        <p:spPr>
          <a:xfrm>
            <a:off x="1171654" y="1684932"/>
            <a:ext cx="17145001" cy="1017985"/>
          </a:xfrm>
        </p:spPr>
        <p:txBody>
          <a:bodyPr>
            <a:normAutofit/>
          </a:bodyPr>
          <a:lstStyle/>
          <a:p>
            <a:r>
              <a:rPr lang="en-US" sz="4400" dirty="0">
                <a:solidFill>
                  <a:srgbClr val="C00000"/>
                </a:solidFill>
              </a:rPr>
              <a:t>Results on artificially confounded RCT data</a:t>
            </a:r>
          </a:p>
        </p:txBody>
      </p:sp>
      <p:sp>
        <p:nvSpPr>
          <p:cNvPr id="7" name="Rounded Rectangle 6">
            <a:extLst>
              <a:ext uri="{FF2B5EF4-FFF2-40B4-BE49-F238E27FC236}">
                <a16:creationId xmlns:a16="http://schemas.microsoft.com/office/drawing/2014/main" id="{B186BCA4-59EC-6CD1-ADDC-70355CB3180D}"/>
              </a:ext>
            </a:extLst>
          </p:cNvPr>
          <p:cNvSpPr/>
          <p:nvPr/>
        </p:nvSpPr>
        <p:spPr>
          <a:xfrm>
            <a:off x="1919327" y="3047745"/>
            <a:ext cx="20545346" cy="2507494"/>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r>
              <a:rPr lang="en-US" sz="4000" dirty="0">
                <a:solidFill>
                  <a:srgbClr val="F7F7F7"/>
                </a:solidFill>
                <a:latin typeface="+mn-lt"/>
              </a:rPr>
              <a:t>Artificial confounding is added by randomly resampling patients with bad outcome and adding them to the dataset</a:t>
            </a:r>
          </a:p>
          <a:p>
            <a:pPr algn="ctr">
              <a:lnSpc>
                <a:spcPct val="80000"/>
              </a:lnSpc>
              <a:spcBef>
                <a:spcPts val="0"/>
              </a:spcBef>
            </a:pPr>
            <a:endParaRPr lang="en-US" sz="3800" dirty="0">
              <a:solidFill>
                <a:srgbClr val="F7F7F7"/>
              </a:solidFill>
              <a:latin typeface="+mn-lt"/>
              <a:ea typeface="DIN Condensed Bold"/>
              <a:cs typeface="DIN Condensed Bold"/>
              <a:sym typeface="DIN Condensed Bold"/>
            </a:endParaRPr>
          </a:p>
        </p:txBody>
      </p:sp>
      <p:sp>
        <p:nvSpPr>
          <p:cNvPr id="15" name="Rectangle 14">
            <a:extLst>
              <a:ext uri="{FF2B5EF4-FFF2-40B4-BE49-F238E27FC236}">
                <a16:creationId xmlns:a16="http://schemas.microsoft.com/office/drawing/2014/main" id="{6589FB99-7249-AAE6-84FE-F5DDF2DD28E6}"/>
              </a:ext>
            </a:extLst>
          </p:cNvPr>
          <p:cNvSpPr/>
          <p:nvPr/>
        </p:nvSpPr>
        <p:spPr>
          <a:xfrm>
            <a:off x="23357840" y="12890036"/>
            <a:ext cx="822960" cy="6120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r" defTabSz="821531" rtl="0" fontAlgn="auto" latinLnBrk="0" hangingPunct="0">
              <a:lnSpc>
                <a:spcPct val="80000"/>
              </a:lnSpc>
              <a:spcBef>
                <a:spcPts val="0"/>
              </a:spcBef>
              <a:spcAft>
                <a:spcPts val="0"/>
              </a:spcAft>
              <a:buClrTx/>
              <a:buSzTx/>
              <a:buFontTx/>
              <a:buNone/>
              <a:tabLst/>
            </a:pPr>
            <a:r>
              <a:rPr lang="en-US" sz="3800" cap="all" dirty="0">
                <a:solidFill>
                  <a:srgbClr val="C52060"/>
                </a:solidFill>
                <a:latin typeface="+mj-lt"/>
                <a:ea typeface="DIN Condensed Bold"/>
                <a:cs typeface="DIN Condensed Bold"/>
                <a:sym typeface="DIN Condensed Bold"/>
              </a:rPr>
              <a:t>16</a:t>
            </a:r>
            <a:endParaRPr kumimoji="0" lang="en-US" sz="3800" b="0" i="0" u="none" strike="noStrike" cap="all" spc="0" normalizeH="0" baseline="0" dirty="0">
              <a:ln>
                <a:noFill/>
              </a:ln>
              <a:solidFill>
                <a:srgbClr val="C52060"/>
              </a:solidFill>
              <a:effectLst/>
              <a:uFillTx/>
              <a:latin typeface="+mj-lt"/>
              <a:ea typeface="DIN Condensed Bold"/>
              <a:cs typeface="DIN Condensed Bold"/>
              <a:sym typeface="DIN Condensed Bold"/>
            </a:endParaRPr>
          </a:p>
        </p:txBody>
      </p:sp>
      <p:pic>
        <p:nvPicPr>
          <p:cNvPr id="4" name="Picture 3">
            <a:extLst>
              <a:ext uri="{FF2B5EF4-FFF2-40B4-BE49-F238E27FC236}">
                <a16:creationId xmlns:a16="http://schemas.microsoft.com/office/drawing/2014/main" id="{D3C686C9-5E7A-E360-BB04-BAF03586B973}"/>
              </a:ext>
            </a:extLst>
          </p:cNvPr>
          <p:cNvPicPr>
            <a:picLocks noChangeAspect="1"/>
          </p:cNvPicPr>
          <p:nvPr/>
        </p:nvPicPr>
        <p:blipFill>
          <a:blip r:embed="rId2"/>
          <a:stretch>
            <a:fillRect/>
          </a:stretch>
        </p:blipFill>
        <p:spPr>
          <a:xfrm>
            <a:off x="693088" y="5900067"/>
            <a:ext cx="10896599" cy="7264399"/>
          </a:xfrm>
          <a:prstGeom prst="rect">
            <a:avLst/>
          </a:prstGeom>
        </p:spPr>
      </p:pic>
      <p:pic>
        <p:nvPicPr>
          <p:cNvPr id="6" name="Picture 5">
            <a:extLst>
              <a:ext uri="{FF2B5EF4-FFF2-40B4-BE49-F238E27FC236}">
                <a16:creationId xmlns:a16="http://schemas.microsoft.com/office/drawing/2014/main" id="{78311ABF-AEEA-70A3-D2EE-921D071D2103}"/>
              </a:ext>
            </a:extLst>
          </p:cNvPr>
          <p:cNvPicPr>
            <a:picLocks noChangeAspect="1"/>
          </p:cNvPicPr>
          <p:nvPr/>
        </p:nvPicPr>
        <p:blipFill>
          <a:blip r:embed="rId3"/>
          <a:stretch>
            <a:fillRect/>
          </a:stretch>
        </p:blipFill>
        <p:spPr>
          <a:xfrm>
            <a:off x="11942619" y="5900067"/>
            <a:ext cx="10896599" cy="7264399"/>
          </a:xfrm>
          <a:prstGeom prst="rect">
            <a:avLst/>
          </a:prstGeom>
        </p:spPr>
      </p:pic>
    </p:spTree>
    <p:extLst>
      <p:ext uri="{BB962C8B-B14F-4D97-AF65-F5344CB8AC3E}">
        <p14:creationId xmlns:p14="http://schemas.microsoft.com/office/powerpoint/2010/main" val="55697147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799312-B607-84CC-354C-5592BCE774BB}"/>
              </a:ext>
            </a:extLst>
          </p:cNvPr>
          <p:cNvSpPr>
            <a:spLocks noGrp="1"/>
          </p:cNvSpPr>
          <p:nvPr>
            <p:ph type="title"/>
          </p:nvPr>
        </p:nvSpPr>
        <p:spPr/>
        <p:txBody>
          <a:bodyPr>
            <a:normAutofit/>
          </a:bodyPr>
          <a:lstStyle/>
          <a:p>
            <a:r>
              <a:rPr lang="en-US" sz="4400" dirty="0">
                <a:solidFill>
                  <a:srgbClr val="C00000"/>
                </a:solidFill>
              </a:rPr>
              <a:t>Main contributions</a:t>
            </a:r>
          </a:p>
        </p:txBody>
      </p:sp>
      <p:sp>
        <p:nvSpPr>
          <p:cNvPr id="5" name="Rounded Rectangle 4">
            <a:extLst>
              <a:ext uri="{FF2B5EF4-FFF2-40B4-BE49-F238E27FC236}">
                <a16:creationId xmlns:a16="http://schemas.microsoft.com/office/drawing/2014/main" id="{E8DAD7F3-B975-9133-C336-4393298D479F}"/>
              </a:ext>
            </a:extLst>
          </p:cNvPr>
          <p:cNvSpPr/>
          <p:nvPr/>
        </p:nvSpPr>
        <p:spPr>
          <a:xfrm>
            <a:off x="1919327" y="4079651"/>
            <a:ext cx="20545346" cy="2311696"/>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571500" indent="-571500">
              <a:lnSpc>
                <a:spcPct val="80000"/>
              </a:lnSpc>
              <a:spcBef>
                <a:spcPts val="0"/>
              </a:spcBef>
              <a:buFont typeface="Arial" panose="020B0604020202020204" pitchFamily="34" charset="0"/>
              <a:buChar char="•"/>
            </a:pPr>
            <a:endParaRPr lang="en-US" sz="4000" dirty="0">
              <a:solidFill>
                <a:srgbClr val="F7F7F7"/>
              </a:solidFill>
              <a:latin typeface="+mn-lt"/>
            </a:endParaRPr>
          </a:p>
          <a:p>
            <a:pPr>
              <a:lnSpc>
                <a:spcPct val="80000"/>
              </a:lnSpc>
              <a:spcBef>
                <a:spcPts val="0"/>
              </a:spcBef>
            </a:pPr>
            <a:r>
              <a:rPr lang="en-US" sz="4000" dirty="0">
                <a:solidFill>
                  <a:srgbClr val="F7F7F7"/>
                </a:solidFill>
                <a:latin typeface="+mn-lt"/>
              </a:rPr>
              <a:t>Introducing a way to </a:t>
            </a:r>
            <a:r>
              <a:rPr lang="en-US" sz="4000" b="1" dirty="0">
                <a:solidFill>
                  <a:srgbClr val="F7F7F7"/>
                </a:solidFill>
                <a:latin typeface="+mn-lt"/>
              </a:rPr>
              <a:t>quantify</a:t>
            </a:r>
            <a:r>
              <a:rPr lang="en-US" sz="4000" dirty="0">
                <a:solidFill>
                  <a:srgbClr val="F7F7F7"/>
                </a:solidFill>
                <a:latin typeface="+mn-lt"/>
              </a:rPr>
              <a:t> the </a:t>
            </a:r>
            <a:r>
              <a:rPr lang="en-US" sz="4000" b="1" dirty="0">
                <a:solidFill>
                  <a:srgbClr val="F7F7F7"/>
                </a:solidFill>
                <a:latin typeface="+mn-lt"/>
              </a:rPr>
              <a:t>unobserved prognostic factors</a:t>
            </a:r>
            <a:r>
              <a:rPr lang="en-US" sz="4000" dirty="0">
                <a:solidFill>
                  <a:srgbClr val="F7F7F7"/>
                </a:solidFill>
                <a:latin typeface="+mn-lt"/>
              </a:rPr>
              <a:t> (hidden information that affects the final outcomes)</a:t>
            </a:r>
          </a:p>
          <a:p>
            <a:pPr algn="ctr">
              <a:lnSpc>
                <a:spcPct val="80000"/>
              </a:lnSpc>
              <a:spcBef>
                <a:spcPts val="0"/>
              </a:spcBef>
            </a:pPr>
            <a:endParaRPr lang="en-US" sz="3800" dirty="0">
              <a:solidFill>
                <a:srgbClr val="FFFFFF"/>
              </a:solidFill>
              <a:latin typeface="+mn-lt"/>
              <a:ea typeface="DIN Condensed Bold"/>
              <a:cs typeface="DIN Condensed Bold"/>
              <a:sym typeface="DIN Condensed Bold"/>
            </a:endParaRPr>
          </a:p>
        </p:txBody>
      </p:sp>
      <p:sp>
        <p:nvSpPr>
          <p:cNvPr id="6" name="Rounded Rectangle 5">
            <a:extLst>
              <a:ext uri="{FF2B5EF4-FFF2-40B4-BE49-F238E27FC236}">
                <a16:creationId xmlns:a16="http://schemas.microsoft.com/office/drawing/2014/main" id="{C1C9AE88-9701-D32D-AE1A-20DA07CDF844}"/>
              </a:ext>
            </a:extLst>
          </p:cNvPr>
          <p:cNvSpPr/>
          <p:nvPr/>
        </p:nvSpPr>
        <p:spPr>
          <a:xfrm>
            <a:off x="1919327" y="7028259"/>
            <a:ext cx="20545346" cy="2507494"/>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r>
              <a:rPr lang="en-US" sz="4000" dirty="0">
                <a:solidFill>
                  <a:srgbClr val="F7F7F7"/>
                </a:solidFill>
                <a:latin typeface="+mn-lt"/>
              </a:rPr>
              <a:t>Proposing a matching + weighting approach (building on ROAD 1) that aims to </a:t>
            </a:r>
            <a:r>
              <a:rPr lang="en-US" sz="4000" b="1" dirty="0">
                <a:solidFill>
                  <a:srgbClr val="F7F7F7"/>
                </a:solidFill>
                <a:latin typeface="+mn-lt"/>
              </a:rPr>
              <a:t>create a balanced cohort </a:t>
            </a:r>
            <a:r>
              <a:rPr lang="en-US" sz="4000" dirty="0">
                <a:solidFill>
                  <a:srgbClr val="F7F7F7"/>
                </a:solidFill>
                <a:latin typeface="+mn-lt"/>
              </a:rPr>
              <a:t>for </a:t>
            </a:r>
            <a:r>
              <a:rPr lang="en-US" sz="4000" b="1" dirty="0">
                <a:solidFill>
                  <a:srgbClr val="F7F7F7"/>
                </a:solidFill>
                <a:latin typeface="+mn-lt"/>
              </a:rPr>
              <a:t>accurate treatment effect estimation </a:t>
            </a:r>
            <a:r>
              <a:rPr lang="en-US" sz="4000" dirty="0">
                <a:solidFill>
                  <a:srgbClr val="F7F7F7"/>
                </a:solidFill>
                <a:latin typeface="+mn-lt"/>
              </a:rPr>
              <a:t>and </a:t>
            </a:r>
            <a:r>
              <a:rPr lang="en-US" sz="4000" b="1" dirty="0">
                <a:solidFill>
                  <a:srgbClr val="F7F7F7"/>
                </a:solidFill>
                <a:latin typeface="+mn-lt"/>
              </a:rPr>
              <a:t>personalized medicine </a:t>
            </a:r>
          </a:p>
          <a:p>
            <a:pPr algn="ctr">
              <a:lnSpc>
                <a:spcPct val="80000"/>
              </a:lnSpc>
              <a:spcBef>
                <a:spcPts val="0"/>
              </a:spcBef>
            </a:pPr>
            <a:endParaRPr lang="en-US" sz="3800" dirty="0">
              <a:solidFill>
                <a:srgbClr val="FFFFFF"/>
              </a:solidFill>
              <a:latin typeface="+mn-lt"/>
              <a:ea typeface="DIN Condensed Bold"/>
              <a:cs typeface="DIN Condensed Bold"/>
              <a:sym typeface="DIN Condensed Bold"/>
            </a:endParaRPr>
          </a:p>
        </p:txBody>
      </p:sp>
      <p:sp>
        <p:nvSpPr>
          <p:cNvPr id="10" name="Rounded Rectangle 9">
            <a:extLst>
              <a:ext uri="{FF2B5EF4-FFF2-40B4-BE49-F238E27FC236}">
                <a16:creationId xmlns:a16="http://schemas.microsoft.com/office/drawing/2014/main" id="{42DD9895-E197-315B-2EEE-EED699C8D247}"/>
              </a:ext>
            </a:extLst>
          </p:cNvPr>
          <p:cNvSpPr/>
          <p:nvPr/>
        </p:nvSpPr>
        <p:spPr>
          <a:xfrm>
            <a:off x="1919327" y="10172666"/>
            <a:ext cx="20545346" cy="1826456"/>
          </a:xfrm>
          <a:prstGeom prst="roundRect">
            <a:avLst/>
          </a:prstGeom>
          <a:solidFill>
            <a:srgbClr val="48AAAF"/>
          </a:solidFill>
          <a:ln w="12700" cap="flat">
            <a:solidFill>
              <a:schemeClr val="accent1">
                <a:lumMod val="20000"/>
                <a:lumOff val="8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r>
              <a:rPr lang="en-US" sz="4000" dirty="0">
                <a:solidFill>
                  <a:srgbClr val="F7F7F7"/>
                </a:solidFill>
                <a:latin typeface="+mn-lt"/>
              </a:rPr>
              <a:t>Strong results compared to traditional techniques that </a:t>
            </a:r>
            <a:r>
              <a:rPr lang="en-US" sz="4000" b="1" dirty="0">
                <a:solidFill>
                  <a:srgbClr val="F7F7F7"/>
                </a:solidFill>
                <a:latin typeface="+mn-lt"/>
              </a:rPr>
              <a:t>ignore</a:t>
            </a:r>
            <a:r>
              <a:rPr lang="en-US" sz="4000" dirty="0">
                <a:solidFill>
                  <a:srgbClr val="F7F7F7"/>
                </a:solidFill>
                <a:latin typeface="+mn-lt"/>
              </a:rPr>
              <a:t> unobserved confounding </a:t>
            </a:r>
            <a:endParaRPr lang="en-US" sz="4000" b="1" dirty="0">
              <a:solidFill>
                <a:srgbClr val="F7F7F7"/>
              </a:solidFill>
              <a:latin typeface="+mn-lt"/>
            </a:endParaRPr>
          </a:p>
          <a:p>
            <a:pPr algn="ctr">
              <a:lnSpc>
                <a:spcPct val="80000"/>
              </a:lnSpc>
              <a:spcBef>
                <a:spcPts val="0"/>
              </a:spcBef>
            </a:pPr>
            <a:endParaRPr lang="en-US" sz="3800" dirty="0">
              <a:solidFill>
                <a:srgbClr val="FFFFFF"/>
              </a:solidFill>
              <a:latin typeface="+mn-lt"/>
              <a:ea typeface="DIN Condensed Bold"/>
              <a:cs typeface="DIN Condensed Bold"/>
              <a:sym typeface="DIN Condensed Bold"/>
            </a:endParaRPr>
          </a:p>
        </p:txBody>
      </p:sp>
      <p:sp>
        <p:nvSpPr>
          <p:cNvPr id="11" name="Rectangle 10">
            <a:extLst>
              <a:ext uri="{FF2B5EF4-FFF2-40B4-BE49-F238E27FC236}">
                <a16:creationId xmlns:a16="http://schemas.microsoft.com/office/drawing/2014/main" id="{7C91E252-F185-049C-2881-53D34652A786}"/>
              </a:ext>
            </a:extLst>
          </p:cNvPr>
          <p:cNvSpPr/>
          <p:nvPr/>
        </p:nvSpPr>
        <p:spPr>
          <a:xfrm>
            <a:off x="23357840" y="12890036"/>
            <a:ext cx="822960" cy="6120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r" defTabSz="821531" rtl="0" fontAlgn="auto" latinLnBrk="0" hangingPunct="0">
              <a:lnSpc>
                <a:spcPct val="80000"/>
              </a:lnSpc>
              <a:spcBef>
                <a:spcPts val="0"/>
              </a:spcBef>
              <a:spcAft>
                <a:spcPts val="0"/>
              </a:spcAft>
              <a:buClrTx/>
              <a:buSzTx/>
              <a:buFontTx/>
              <a:buNone/>
              <a:tabLst/>
            </a:pPr>
            <a:r>
              <a:rPr lang="en-US" sz="3800" cap="all" dirty="0">
                <a:solidFill>
                  <a:srgbClr val="C52060"/>
                </a:solidFill>
                <a:latin typeface="+mj-lt"/>
                <a:ea typeface="DIN Condensed Bold"/>
                <a:cs typeface="DIN Condensed Bold"/>
                <a:sym typeface="DIN Condensed Bold"/>
              </a:rPr>
              <a:t>17</a:t>
            </a:r>
            <a:endParaRPr kumimoji="0" lang="en-US" sz="3800" b="0" i="0" u="none" strike="noStrike" cap="all" spc="0" normalizeH="0" baseline="0" dirty="0">
              <a:ln>
                <a:noFill/>
              </a:ln>
              <a:solidFill>
                <a:srgbClr val="C52060"/>
              </a:solidFill>
              <a:effectLst/>
              <a:uFillTx/>
              <a:latin typeface="+mj-lt"/>
              <a:ea typeface="DIN Condensed Bold"/>
              <a:cs typeface="DIN Condensed Bold"/>
              <a:sym typeface="DIN Condensed Bold"/>
            </a:endParaRPr>
          </a:p>
        </p:txBody>
      </p:sp>
    </p:spTree>
    <p:extLst>
      <p:ext uri="{BB962C8B-B14F-4D97-AF65-F5344CB8AC3E}">
        <p14:creationId xmlns:p14="http://schemas.microsoft.com/office/powerpoint/2010/main" val="366321884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animBg="1"/>
    </p:bldLst>
  </p:timing>
</p:sld>
</file>

<file path=ppt/theme/theme1.xml><?xml version="1.0" encoding="utf-8"?>
<a:theme xmlns:a="http://schemas.openxmlformats.org/drawingml/2006/main" name="New_Template7">
  <a:themeElements>
    <a:clrScheme name="New_Template7">
      <a:dk1>
        <a:srgbClr val="222222"/>
      </a:dk1>
      <a:lt1>
        <a:srgbClr val="838787"/>
      </a:lt1>
      <a:dk2>
        <a:srgbClr val="222222"/>
      </a:dk2>
      <a:lt2>
        <a:srgbClr val="A6AAA9"/>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New_Template7">
      <a:majorFont>
        <a:latin typeface="Helvetica"/>
        <a:ea typeface="Helvetica"/>
        <a:cs typeface="Helvetica"/>
      </a:majorFont>
      <a:minorFont>
        <a:latin typeface="Helvetica"/>
        <a:ea typeface="Helvetica"/>
        <a:cs typeface="Helvetica"/>
      </a:minorFont>
    </a:fontScheme>
    <a:fmtScheme name="New_Template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80000"/>
          </a:lnSpc>
          <a:spcBef>
            <a:spcPts val="0"/>
          </a:spcBef>
          <a:spcAft>
            <a:spcPts val="0"/>
          </a:spcAft>
          <a:buClrTx/>
          <a:buSzTx/>
          <a:buFontTx/>
          <a:buNone/>
          <a:tabLst/>
          <a:defRPr kumimoji="0" sz="3800" b="0" i="0" u="none" strike="noStrike" cap="all" spc="0" normalizeH="0" baseline="0">
            <a:ln>
              <a:noFill/>
            </a:ln>
            <a:solidFill>
              <a:srgbClr val="FFFFFF"/>
            </a:solidFill>
            <a:effectLst/>
            <a:uFillTx/>
            <a:latin typeface="DIN Condensed Bold"/>
            <a:ea typeface="DIN Condensed Bold"/>
            <a:cs typeface="DIN Condensed Bold"/>
            <a:sym typeface="DIN Condensed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l" defTabSz="821531" rtl="0" fontAlgn="auto" latinLnBrk="0" hangingPunct="0">
          <a:lnSpc>
            <a:spcPct val="100000"/>
          </a:lnSpc>
          <a:spcBef>
            <a:spcPts val="3300"/>
          </a:spcBef>
          <a:spcAft>
            <a:spcPts val="0"/>
          </a:spcAft>
          <a:buClrTx/>
          <a:buSzTx/>
          <a:buFontTx/>
          <a:buNone/>
          <a:tabLst/>
          <a:defRPr kumimoji="0" sz="2800" b="0" i="0" u="none" strike="noStrike" cap="none" spc="0" normalizeH="0" baseline="0">
            <a:ln>
              <a:noFill/>
            </a:ln>
            <a:solidFill>
              <a:srgbClr val="838787"/>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New_Template7">
  <a:themeElements>
    <a:clrScheme name="New_Template7">
      <a:dk1>
        <a:srgbClr val="000000"/>
      </a:dk1>
      <a:lt1>
        <a:srgbClr val="FFFFFF"/>
      </a:lt1>
      <a:dk2>
        <a:srgbClr val="222222"/>
      </a:dk2>
      <a:lt2>
        <a:srgbClr val="A6AAA9"/>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New_Template7">
      <a:majorFont>
        <a:latin typeface="Helvetica"/>
        <a:ea typeface="Helvetica"/>
        <a:cs typeface="Helvetica"/>
      </a:majorFont>
      <a:minorFont>
        <a:latin typeface="Helvetica"/>
        <a:ea typeface="Helvetica"/>
        <a:cs typeface="Helvetica"/>
      </a:minorFont>
    </a:fontScheme>
    <a:fmtScheme name="New_Template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80000"/>
          </a:lnSpc>
          <a:spcBef>
            <a:spcPts val="0"/>
          </a:spcBef>
          <a:spcAft>
            <a:spcPts val="0"/>
          </a:spcAft>
          <a:buClrTx/>
          <a:buSzTx/>
          <a:buFontTx/>
          <a:buNone/>
          <a:tabLst/>
          <a:defRPr kumimoji="0" sz="3800" b="0" i="0" u="none" strike="noStrike" cap="all" spc="0" normalizeH="0" baseline="0">
            <a:ln>
              <a:noFill/>
            </a:ln>
            <a:solidFill>
              <a:srgbClr val="FFFFFF"/>
            </a:solidFill>
            <a:effectLst/>
            <a:uFillTx/>
            <a:latin typeface="DIN Condensed Bold"/>
            <a:ea typeface="DIN Condensed Bold"/>
            <a:cs typeface="DIN Condensed Bold"/>
            <a:sym typeface="DIN Condensed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l" defTabSz="821531" rtl="0" fontAlgn="auto" latinLnBrk="0" hangingPunct="0">
          <a:lnSpc>
            <a:spcPct val="100000"/>
          </a:lnSpc>
          <a:spcBef>
            <a:spcPts val="3300"/>
          </a:spcBef>
          <a:spcAft>
            <a:spcPts val="0"/>
          </a:spcAft>
          <a:buClrTx/>
          <a:buSzTx/>
          <a:buFontTx/>
          <a:buNone/>
          <a:tabLst/>
          <a:defRPr kumimoji="0" sz="2800" b="0" i="0" u="none" strike="noStrike" cap="none" spc="0" normalizeH="0" baseline="0">
            <a:ln>
              <a:noFill/>
            </a:ln>
            <a:solidFill>
              <a:srgbClr val="838787"/>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40963</TotalTime>
  <Words>940</Words>
  <Application>Microsoft Macintosh PowerPoint</Application>
  <PresentationFormat>Custom</PresentationFormat>
  <Paragraphs>131</Paragraphs>
  <Slides>18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Avenir Next Medium</vt:lpstr>
      <vt:lpstr>Avenir Next Regular</vt:lpstr>
      <vt:lpstr>Cambria Math</vt:lpstr>
      <vt:lpstr>DIN Condensed Bold</vt:lpstr>
      <vt:lpstr>Helvetica</vt:lpstr>
      <vt:lpstr>New_Template7</vt:lpstr>
      <vt:lpstr>PowerPoint Presentation</vt:lpstr>
      <vt:lpstr>Motivation</vt:lpstr>
      <vt:lpstr>Why? </vt:lpstr>
      <vt:lpstr>Why? </vt:lpstr>
      <vt:lpstr>Are ROAD 1 and ROAD 2 enough? </vt:lpstr>
      <vt:lpstr>PowerPoint Presentation</vt:lpstr>
      <vt:lpstr>Taking a step back: What is one way to think about unobserved confounding?</vt:lpstr>
      <vt:lpstr>Taking a step back: What is one way to think about unobserved confounding?</vt:lpstr>
      <vt:lpstr>Taking a step back: What is one way to think about unobserved confounding?</vt:lpstr>
      <vt:lpstr>Taking a step back: What is one way to think about unobserved confounding?</vt:lpstr>
      <vt:lpstr>Calculating U</vt:lpstr>
      <vt:lpstr>Calculating U</vt:lpstr>
      <vt:lpstr>Calculating U</vt:lpstr>
      <vt:lpstr>Calculating U</vt:lpstr>
      <vt:lpstr>PowerPoint Presentation</vt:lpstr>
      <vt:lpstr>Results on observational data </vt:lpstr>
      <vt:lpstr>Results on artificially confounded RCT data</vt:lpstr>
      <vt:lpstr>Main contributions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Vasiliki Stoumpou</cp:lastModifiedBy>
  <cp:revision>78</cp:revision>
  <dcterms:modified xsi:type="dcterms:W3CDTF">2025-10-22T13:39:56Z</dcterms:modified>
</cp:coreProperties>
</file>